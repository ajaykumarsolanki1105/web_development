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60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486400" cy="5486400"/>
          </a:xfrm>
          <a:prstGeom prst="ellipse">
            <a:avLst/>
          </a:prstGeom>
          <a:solidFill>
            <a:srgbClr val="F7DF1E">
              <a:alpha val="9000"/>
            </a:srgbClr>
          </a:solidFill>
          <a:ln w="12700">
            <a:solidFill>
              <a:srgbClr val="F7DF1E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FF9800">
              <a:alpha val="5000"/>
            </a:srgbClr>
          </a:solidFill>
          <a:ln w="12700">
            <a:solidFill>
              <a:srgbClr val="FF98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07008" y="402336"/>
            <a:ext cx="1280160" cy="31089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07008" y="40233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D0D00"/>
                </a:solidFill>
              </a:rPr>
              <a:t>DAY 11 OF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42416"/>
            <a:ext cx="6583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Fundamentals &amp; Basics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language of the web. Add logic, interactivity and power to your pages.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2029968" cy="365760"/>
          </a:xfrm>
          <a:prstGeom prst="rect">
            <a:avLst/>
          </a:prstGeom>
          <a:solidFill>
            <a:srgbClr val="2424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33472" y="2779776"/>
            <a:ext cx="2029968" cy="365760"/>
          </a:xfrm>
          <a:prstGeom prst="rect">
            <a:avLst/>
          </a:prstGeom>
          <a:solidFill>
            <a:srgbClr val="2424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33472" y="277977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9744" y="2779776"/>
            <a:ext cx="2029968" cy="365760"/>
          </a:xfrm>
          <a:prstGeom prst="rect">
            <a:avLst/>
          </a:prstGeom>
          <a:solidFill>
            <a:srgbClr val="24240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9744" y="277977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86016" y="277977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Objects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3101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37307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30"/>
                </a:solidFill>
              </a:rPr>
              <a:t>Core Topics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84832" y="33101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84832" y="37307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30"/>
                </a:solidFill>
              </a:rPr>
              <a:t>Concepts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12464" y="33101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DF1E"/>
                </a:solidFill>
                <a:latin typeface="Consolas" pitchFamily="34" charset="0"/>
              </a:rPr>
              <a:t>One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12464" y="37307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30"/>
                </a:solidFill>
              </a:rPr>
              <a:t>Video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0096" y="33101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40096" y="37307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30"/>
                </a:solidFill>
              </a:rPr>
              <a:t>JS App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749808"/>
            <a:ext cx="1883664" cy="4297680"/>
          </a:xfrm>
          <a:prstGeom prst="rect">
            <a:avLst/>
          </a:prstGeom>
          <a:solidFill>
            <a:srgbClr val="070700"/>
          </a:solidFill>
          <a:ln w="12700">
            <a:solidFill>
              <a:srgbClr val="2A2A1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059168" y="749808"/>
            <a:ext cx="1883664" cy="256032"/>
          </a:xfrm>
          <a:prstGeom prst="rect">
            <a:avLst/>
          </a:prstGeom>
          <a:solidFill>
            <a:srgbClr val="050500"/>
          </a:solidFill>
          <a:ln w="12700">
            <a:solidFill>
              <a:srgbClr val="050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178040" y="83210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324344" y="83210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470648" y="83210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626096" y="795528"/>
            <a:ext cx="1152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5C30"/>
                </a:solidFill>
              </a:rPr>
              <a:t>script.js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32320" y="1051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51776" y="10515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C5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JavaScript!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7132320" y="1303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51776" y="13030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'Rahul';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7132320" y="1554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51776" y="15544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= 22;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7132320" y="18059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51776" y="18059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7132320" y="20574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51776" y="20574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greet(n) {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7132320" y="23088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51776" y="23088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`Hi ${n}!`;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7132320" y="25603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51776" y="25603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7132320" y="28117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51776" y="28117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7132320" y="3063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51776" y="30632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[1,2,3];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7132320" y="33147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51776" y="33147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nums.forEach(n =&gt; {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7132320" y="35661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351776" y="35661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console.log(n);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7132320" y="38176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51776" y="38176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7132320" y="4069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51776" y="40690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7132320" y="43205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51776" y="43205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7132320" y="45720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351776" y="45720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'Rahul',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7132320" y="48234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351776" y="48234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22 </a:t>
            </a:r>
            <a:r>
              <a:rPr lang="en-US" sz="98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7351776" y="50749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30"/>
                </a:solidFill>
              </a:rPr>
              <a:t>Day 11  •  JavaScript Fundamentals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658368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" cy="65836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F7DF1E">
              <a:alpha val="18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143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JavaScript?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1453896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tag, console.log, DevTools Console, linking JS files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solidFill>
            <a:srgbClr val="F7DF1E">
              <a:alpha val="16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</a:rPr>
              <a:t>~6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847088"/>
            <a:ext cx="8375904" cy="658368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1847088"/>
            <a:ext cx="502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002536"/>
            <a:ext cx="329184" cy="329184"/>
          </a:xfrm>
          <a:prstGeom prst="ellipse">
            <a:avLst/>
          </a:prstGeom>
          <a:solidFill>
            <a:srgbClr val="FF9800">
              <a:alpha val="18000"/>
            </a:srgbClr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002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19110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&amp; Data Types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4128" y="222199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var/let/const, string, number, boolean, null, undefined, typeof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solidFill>
            <a:srgbClr val="FF9800">
              <a:alpha val="16000"/>
            </a:srgbClr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800"/>
                </a:solidFill>
              </a:rPr>
              <a:t>~9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615184"/>
            <a:ext cx="8375904" cy="658368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615184"/>
            <a:ext cx="502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00BCD4">
              <a:alpha val="18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2679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Operators &amp; Expressions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24128" y="2990088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 (===), logical, assignment, ternary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solidFill>
            <a:srgbClr val="00BCD4">
              <a:alpha val="16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CD4"/>
                </a:solidFill>
              </a:rPr>
              <a:t>~8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383280"/>
            <a:ext cx="8375904" cy="658368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383280"/>
            <a:ext cx="50292" cy="658368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3538728"/>
            <a:ext cx="329184" cy="329184"/>
          </a:xfrm>
          <a:prstGeom prst="ellipse">
            <a:avLst/>
          </a:prstGeom>
          <a:solidFill>
            <a:srgbClr val="69F0AE">
              <a:alpha val="18000"/>
            </a:srgbClr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538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4472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24128" y="3758184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declaration, expression, arrow functions, parameters, return, scope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solidFill>
            <a:srgbClr val="69F0AE">
              <a:alpha val="16000"/>
            </a:srgbClr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F0AE"/>
                </a:solidFill>
              </a:rPr>
              <a:t>~10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151376"/>
            <a:ext cx="8375904" cy="658368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84048" y="4151376"/>
            <a:ext cx="50292" cy="65836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CE93D8">
              <a:alpha val="18000"/>
            </a:srgbClr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42153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 &amp; Objects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24128" y="4526280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methods, objects, dot/bracket notation, destructuring, JSON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solidFill>
            <a:srgbClr val="CE93D8">
              <a:alpha val="16000"/>
            </a:srgbClr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E93D8"/>
                </a:solidFill>
              </a:rPr>
              <a:t>~10 min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6F5B3E-FF17-F62C-F782-87B1A9FD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7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D0D00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&amp; Data Types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store data. Use const by default, let when reassigning, never var.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70700"/>
          </a:solidFill>
          <a:ln w="12700">
            <a:solidFill>
              <a:srgbClr val="2A2A1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50500"/>
          </a:solidFill>
          <a:ln w="12700">
            <a:solidFill>
              <a:srgbClr val="050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5C30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— cannot reassign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'Rahul';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3.14159;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— can reassign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0;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100;  // ✓ OK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" y="30723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 — avoid (legacy)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8368" y="33238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old = 'dont use this';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36073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str  = 'Hello World';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  = 42;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1102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bool = true;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4361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nul  = null;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46131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  undef;  // undefined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76656" y="4864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str;   // 'string'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51206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50292" cy="51206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01184" y="1060704"/>
            <a:ext cx="804672" cy="256032"/>
          </a:xfrm>
          <a:prstGeom prst="rect">
            <a:avLst/>
          </a:prstGeom>
          <a:solidFill>
            <a:srgbClr val="F7DF1E">
              <a:alpha val="16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01184" y="106070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79008" y="1042416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'World' `Hi ${name}`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930536" y="1280160"/>
            <a:ext cx="28111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Text. Backtick strings support ${expressions} inside.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73168" y="1554480"/>
            <a:ext cx="4041648" cy="51206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73168" y="1554480"/>
            <a:ext cx="50292" cy="5120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901184" y="1645920"/>
            <a:ext cx="804672" cy="256032"/>
          </a:xfrm>
          <a:prstGeom prst="rect">
            <a:avLst/>
          </a:prstGeom>
          <a:solidFill>
            <a:srgbClr val="FF9800">
              <a:alpha val="16000"/>
            </a:srgbClr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901184" y="164592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779008" y="1627632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3.14  -7  Infinity  NaN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980828" y="1865376"/>
            <a:ext cx="2760836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numbers. NaN = Not a Number (result of bad math).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73168" y="2139696"/>
            <a:ext cx="4041648" cy="51206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73168" y="2139696"/>
            <a:ext cx="50292" cy="5120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901184" y="2231136"/>
            <a:ext cx="804672" cy="256032"/>
          </a:xfrm>
          <a:prstGeom prst="rect">
            <a:avLst/>
          </a:prstGeom>
          <a:solidFill>
            <a:srgbClr val="00BCD4">
              <a:alpha val="16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01184" y="22311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779008" y="2212848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false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930536" y="2450592"/>
            <a:ext cx="281112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values only. Used in conditions and logic gates.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73168" y="2724912"/>
            <a:ext cx="4041648" cy="51206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2724912"/>
            <a:ext cx="50292" cy="51206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901184" y="2816352"/>
            <a:ext cx="804672" cy="256032"/>
          </a:xfrm>
          <a:prstGeom prst="rect">
            <a:avLst/>
          </a:prstGeom>
          <a:solidFill>
            <a:srgbClr val="FF5252">
              <a:alpha val="16000"/>
            </a:srgbClr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01184" y="281635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779008" y="2798064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824728" y="2976372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empty value. YOU set it to nothing.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73168" y="3310128"/>
            <a:ext cx="4041648" cy="51206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773168" y="3310128"/>
            <a:ext cx="50292" cy="512064"/>
          </a:xfrm>
          <a:prstGeom prst="rect">
            <a:avLst/>
          </a:prstGeom>
          <a:solidFill>
            <a:srgbClr val="B8B890"/>
          </a:solidFill>
          <a:ln w="12700">
            <a:solidFill>
              <a:srgbClr val="B8B8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901184" y="3401568"/>
            <a:ext cx="804672" cy="256032"/>
          </a:xfrm>
          <a:prstGeom prst="rect">
            <a:avLst/>
          </a:prstGeom>
          <a:solidFill>
            <a:srgbClr val="B8B890">
              <a:alpha val="16000"/>
            </a:srgbClr>
          </a:solidFill>
          <a:ln w="12700">
            <a:solidFill>
              <a:srgbClr val="B8B8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901184" y="340156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B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779008" y="338328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779008" y="3566160"/>
            <a:ext cx="273928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but not yet assigned. JS sets automatically.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73168" y="3895344"/>
            <a:ext cx="4041648" cy="51206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773168" y="3895344"/>
            <a:ext cx="50292" cy="5120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901184" y="3986784"/>
            <a:ext cx="804672" cy="256032"/>
          </a:xfrm>
          <a:prstGeom prst="rect">
            <a:avLst/>
          </a:prstGeom>
          <a:solidFill>
            <a:srgbClr val="CE93D8">
              <a:alpha val="16000"/>
            </a:srgbClr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901184" y="39867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779008" y="3968496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'Rahul', age: 22 }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779008" y="4139619"/>
            <a:ext cx="2765407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key-value pairs. Most complex things.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773168" y="4480560"/>
            <a:ext cx="4041648" cy="51206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4773168" y="4480560"/>
            <a:ext cx="50292" cy="51206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4901184" y="4572000"/>
            <a:ext cx="804672" cy="256032"/>
          </a:xfrm>
          <a:prstGeom prst="rect">
            <a:avLst/>
          </a:prstGeom>
          <a:solidFill>
            <a:srgbClr val="69F0AE">
              <a:alpha val="16000"/>
            </a:srgbClr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901184" y="45720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779008" y="4553712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'two', true, null]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980828" y="4791456"/>
            <a:ext cx="27608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list. Type of object. Index starts at 0.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D0D00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Operators &amp; Expressions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perform actions on values. ALWAYS use === for comparison, never ==.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70700"/>
          </a:solidFill>
          <a:ln w="12700">
            <a:solidFill>
              <a:srgbClr val="2A2A1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50500"/>
          </a:solidFill>
          <a:ln w="12700">
            <a:solidFill>
              <a:srgbClr val="050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5C30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Arithmetic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+ 3    // 8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10 - 4   // 6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* 3    // 12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   // 5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10 % 3   // 1 (remainder)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** 4   // 16 (power)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300053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Comparison → boolean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25199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=== 5    // true ✓ use!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" y="350345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!== '5'  // true ✓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" y="375491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'5'   // true ✗ avoid!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393126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 3      // true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8368" y="4206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Logical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49224" y="4581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&amp;&amp; false  // false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49224" y="48326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|| false  // true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55458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" y="55458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!true          // false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2029968" cy="1956816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202996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882896" y="1060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82896" y="13716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82896" y="16459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3  // x = x+3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82896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2  // x = x-2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82896" y="2194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4  // x = x*4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82896" y="2468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x++     // x = x+1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82896" y="2743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x--     // x = x-1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12864" y="969264"/>
            <a:ext cx="2029968" cy="1956816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912864" y="969264"/>
            <a:ext cx="2029968" cy="502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022592" y="1060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Ternary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22592" y="13716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condition ? yes : no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22592" y="16459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 age &gt;= 18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22592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'Adult'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22592" y="2194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'Minor';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022592" y="2468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022592" y="2743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as if/else, 1 line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73168" y="3054096"/>
            <a:ext cx="2029968" cy="1956816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3054096"/>
            <a:ext cx="2029968" cy="50292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882896" y="3145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882896" y="34564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Concatenation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882896" y="37307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 ' + name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882896" y="4005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 literal (better)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82896" y="4279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`Hi ${name}!`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882896" y="45537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`${2+2}` // '4'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882896" y="4828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912864" y="3054096"/>
            <a:ext cx="2029968" cy="1956816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912864" y="3054096"/>
            <a:ext cx="2029968" cy="5029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022592" y="3145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Nullish ??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022592" y="34564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Returns right side if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022592" y="37307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left is null/undefined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022592" y="4005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 = x ?? 'default';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022592" y="4279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022592" y="45537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Optional chaining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022592" y="4828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obj?.prop?.nested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D0D00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of code. Define once, call many times with different inputs.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70700"/>
          </a:solidFill>
          <a:ln w="12700">
            <a:solidFill>
              <a:srgbClr val="2A2A1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50500"/>
          </a:solidFill>
          <a:ln w="12700">
            <a:solidFill>
              <a:srgbClr val="050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5C30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Function Declaration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add(3, 4);  // 7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Arrow Function (ES6)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square = n =&gt; n * n;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(name) =&gt; {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`Hello ${name}!`;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9224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3. Default Parameters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9224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hi(name='Guest') {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9224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`Hi ${name}`;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49224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48234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hi()        // 'Hi Guest'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55458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" y="55458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hi('Rahul') // 'Hi Rahul'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50292" cy="64008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01184" y="104241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 vs Arguments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01184" y="129844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= variable names in definition (a, b). Arguments = actual values passed (3, 4).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73168" y="1682496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773168" y="1682496"/>
            <a:ext cx="50292" cy="64008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01184" y="175564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statement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01184" y="201168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value back. Code after return doesn't run. Default return value is undefined.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73168" y="2395728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2395728"/>
            <a:ext cx="50292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901184" y="246888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Functions =&gt;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901184" y="272491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shorthand. Single expression = implicit return. const fn = x =&gt; x*2 — super clean.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73168" y="3108960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73168" y="3108960"/>
            <a:ext cx="50292" cy="6400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901184" y="318211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901184" y="3438144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inside a function can't be accessed outside. Outer variables are accessible inside.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73168" y="3822192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773168" y="3822192"/>
            <a:ext cx="50292" cy="6400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901184" y="3895344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Parameters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901184" y="415137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greet(name='Guest') — if no arg passed, name defaults to 'Guest'. ES6 feature.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73168" y="4535424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4535424"/>
            <a:ext cx="50292" cy="640080"/>
          </a:xfrm>
          <a:prstGeom prst="rect">
            <a:avLst/>
          </a:prstGeom>
          <a:solidFill>
            <a:srgbClr val="B9F6CA"/>
          </a:solidFill>
          <a:ln w="12700">
            <a:solidFill>
              <a:srgbClr val="B9F6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901184" y="460857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Functions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901184" y="486460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passed as an argument. Used in forEach, map, filter, event listeners.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DE7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lists. Index starts at 0. Most-used data structure in JavaScript.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70700"/>
          </a:solidFill>
          <a:ln w="12700">
            <a:solidFill>
              <a:srgbClr val="2A2A1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50500"/>
          </a:solidFill>
          <a:ln w="12700">
            <a:solidFill>
              <a:srgbClr val="050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5C30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fruits = ['apple','banana','mango'];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 (zero-indexed)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fruits[0]      // 'apple'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fruits[2]      // 'mango'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fruits.length  // 3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27523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Mutate array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0038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fruits.push('grape');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fruits.pop();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" y="35524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Iterate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" y="38039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fruits.forEach(f =&gt; {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" y="40553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console.log(f);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" y="43068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4507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Transform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76656" y="47594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upper = fruits.map(f =&gt; f.toUpperCase());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50292" cy="36576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82896" y="1033272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82896" y="10332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push(item)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52160" y="106070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END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03136" y="969264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803136" y="969264"/>
            <a:ext cx="50292" cy="3657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912864" y="1033272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912864" y="10332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882128" y="106070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END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73168" y="1408176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73168" y="1408176"/>
            <a:ext cx="50292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882896" y="1472184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82896" y="14721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unshift(x)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852160" y="149961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START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803136" y="1408176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803136" y="1408176"/>
            <a:ext cx="50292" cy="3657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912864" y="1472184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912864" y="14721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882128" y="149961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START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73168" y="1847088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1847088"/>
            <a:ext cx="50292" cy="36576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882896" y="1911096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882896" y="19110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includes(x)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852160" y="193852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if exists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803136" y="1847088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6803136" y="1847088"/>
            <a:ext cx="50292" cy="36576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912864" y="1911096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912864" y="19110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indexOf(x)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882128" y="193852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or -1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73168" y="2286000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773168" y="2286000"/>
            <a:ext cx="50292" cy="36576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882896" y="2350008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882896" y="2350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slice(s,e)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852160" y="237744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portion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803136" y="2286000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6803136" y="2286000"/>
            <a:ext cx="50292" cy="3657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6912864" y="2350008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912864" y="2350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splice(i,n)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882128" y="237744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Remove/insert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773168" y="2724912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4773168" y="2724912"/>
            <a:ext cx="50292" cy="36576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4882896" y="2788920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82896" y="27889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map(fn)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852160" y="281635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all items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803136" y="2724912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6803136" y="2724912"/>
            <a:ext cx="50292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6912864" y="2788920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6912864" y="27889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filter(fn)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882128" y="281635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matching items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773168" y="3163824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4773168" y="3163824"/>
            <a:ext cx="50292" cy="36576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4882896" y="3227832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882896" y="32278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find(fn)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5852160" y="325526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803136" y="3163824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6803136" y="3163824"/>
            <a:ext cx="50292" cy="36576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6912864" y="3227832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6912864" y="32278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join(sep)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882128" y="325526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to string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773168" y="3602736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4773168" y="3602736"/>
            <a:ext cx="50292" cy="3657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882896" y="3666744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882896" y="366674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sort()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5852160" y="36941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 place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803136" y="3602736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6803136" y="3602736"/>
            <a:ext cx="50292" cy="3657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6912864" y="3666744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6912864" y="366674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reverse()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7882128" y="36941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in place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773168" y="4041648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773168" y="4041648"/>
            <a:ext cx="50292" cy="36576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119"/>
          <p:cNvSpPr/>
          <p:nvPr/>
        </p:nvSpPr>
        <p:spPr>
          <a:xfrm>
            <a:off x="4882896" y="4105656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4882896" y="41056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flat()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5852160" y="413308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nested arrays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6803136" y="4041648"/>
            <a:ext cx="1956816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6803136" y="4041648"/>
            <a:ext cx="50292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6912864" y="4105656"/>
            <a:ext cx="914400" cy="219456"/>
          </a:xfrm>
          <a:prstGeom prst="rect">
            <a:avLst/>
          </a:prstGeom>
          <a:solidFill>
            <a:srgbClr val="07070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6912864" y="41056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reduce(fn)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7882128" y="413308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to value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D0D00"/>
                </a:solidFill>
              </a:rPr>
              <a:t>TOPIC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pairs. Group related data and behaviours together. The heart of JS.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70700"/>
          </a:solidFill>
          <a:ln w="12700">
            <a:solidFill>
              <a:srgbClr val="2A2A1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50500"/>
          </a:solidFill>
          <a:ln w="12700">
            <a:solidFill>
              <a:srgbClr val="050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5C30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person = {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'Rahul',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22,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isStudent: true,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hobbies: ['code','music'],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greet() {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`Hi, I'm ${this.name}`;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93826" y="3329069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3826" y="3580529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person.name       // 'Rahul'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3826" y="3831989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person["age"]     // 22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3826" y="4083449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person.greet()    // 'Hi...'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722376" y="4334909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Destructuring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22376" y="4586369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{name,age} = person;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722376" y="4837829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copy = {...person};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50292" cy="64008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01184" y="104241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01184" y="129844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pairs. Keys are strings (no quotes needed). Values can be any type.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73168" y="1682496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773168" y="1682496"/>
            <a:ext cx="50292" cy="64008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01184" y="175564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01184" y="201168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inside objects. this refers to the owning object inside a method.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73168" y="2395728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2395728"/>
            <a:ext cx="50292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901184" y="246888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 Notation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901184" y="272491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person.name — clean, preferred. Works with valid identifier keys.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73168" y="3108960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73168" y="3108960"/>
            <a:ext cx="50292" cy="6400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901184" y="318211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Bracket Notation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901184" y="3438144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person["key"] — works with any key, including variables.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73168" y="3822192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773168" y="3822192"/>
            <a:ext cx="50292" cy="6400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901184" y="3895344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Destructuring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901184" y="415137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{name,age} = person; — extract to variables. Clean and modern.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73168" y="4535424"/>
            <a:ext cx="4041648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4535424"/>
            <a:ext cx="50292" cy="640080"/>
          </a:xfrm>
          <a:prstGeom prst="rect">
            <a:avLst/>
          </a:prstGeom>
          <a:solidFill>
            <a:srgbClr val="B9F6CA"/>
          </a:solidFill>
          <a:ln w="12700">
            <a:solidFill>
              <a:srgbClr val="B9F6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901184" y="460857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 ...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901184" y="486460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copy={...person}; — shallow clone. {...obj1,...obj2} merges objects.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D0D00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Age &amp; BMI Calculator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operators, functions, objects — all combined in one real app.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59936"/>
          </a:xfrm>
          <a:prstGeom prst="rect">
            <a:avLst/>
          </a:prstGeom>
          <a:solidFill>
            <a:srgbClr val="070700"/>
          </a:solidFill>
          <a:ln w="12700">
            <a:solidFill>
              <a:srgbClr val="2A2A1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50500"/>
          </a:solidFill>
          <a:ln w="12700">
            <a:solidFill>
              <a:srgbClr val="050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5C30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 Calculator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birthYear = 2002;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currYear = 2025;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= currYear - birthYear;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BMI Calculator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calcBMI(kg, height) {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bmi = kg/(height**2);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Math.round(bmi*10)/10;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getBMICat(bmi) {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(bmi &lt; 18.5) return 'Underweight';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(bmi &lt; 25)   return 'Normal';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(bmi &lt; 30)   return 'Overweight';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'Obese’; </a:t>
            </a:r>
            <a:r>
              <a:rPr lang="en-US" sz="98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76656" y="55458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828032" y="969264"/>
            <a:ext cx="3931920" cy="4059936"/>
          </a:xfrm>
          <a:prstGeom prst="rect">
            <a:avLst/>
          </a:prstGeom>
          <a:solidFill>
            <a:srgbClr val="070700"/>
          </a:solidFill>
          <a:ln w="12700">
            <a:solidFill>
              <a:srgbClr val="2A2A1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50500"/>
          </a:solidFill>
          <a:ln w="12700">
            <a:solidFill>
              <a:srgbClr val="050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5C30"/>
                </a:solidFill>
              </a:rPr>
              <a:t>script.js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'Rahul',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birthYear: 2002,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weight: 70,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1.75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5283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340096" y="2286001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 calculations</a:t>
            </a: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340096" y="2537461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bmi = calcBMI(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340096" y="2788921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user.weight, user.height);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340096" y="3040381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cat = getBMICat(bmi);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37856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329967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 results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0" y="355113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console.log(`Age: ${age}`);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0" y="380259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console.log(`BMI: ${bmi}`);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120640" y="405405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console.log(`Cat: ${cat}`);</a:t>
            </a:r>
            <a:endParaRPr lang="en-US" sz="980" dirty="0"/>
          </a:p>
        </p:txBody>
      </p:sp>
      <p:sp>
        <p:nvSpPr>
          <p:cNvPr id="86" name="Text 84"/>
          <p:cNvSpPr/>
          <p:nvPr/>
        </p:nvSpPr>
        <p:spPr>
          <a:xfrm>
            <a:off x="5120640" y="50429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5157216" y="4364627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3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Results array</a:t>
            </a:r>
            <a:endParaRPr lang="en-US" sz="980" dirty="0"/>
          </a:p>
        </p:txBody>
      </p:sp>
      <p:sp>
        <p:nvSpPr>
          <p:cNvPr id="90" name="Text 88"/>
          <p:cNvSpPr/>
          <p:nvPr/>
        </p:nvSpPr>
        <p:spPr>
          <a:xfrm>
            <a:off x="5157216" y="4616087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results = [age,bmi,cat];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D0D00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Calculator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 — variables, operators, functions, arrays, objects.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2424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90"/>
                </a:solidFill>
              </a:rPr>
              <a:t>Data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2424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90"/>
                </a:solidFill>
              </a:rPr>
              <a:t>Functions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2424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90"/>
                </a:solidFill>
              </a:rPr>
              <a:t>Objects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2424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90"/>
                </a:solidFill>
              </a:rPr>
              <a:t>Results array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Declare const/let variables: name, birthYear, weight, height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7919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517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Write calcAge(birthYear) — returns current age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5351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260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Write calcBMI(weight, height) — returns rounded BMI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2783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2004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Write getBMICategory(bmi) — returns string category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50215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4747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Create a user object with all data as properties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7647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490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Add a results array and push each calc result into it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5079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233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Use template literals to format all output messages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32511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2976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Print all results with console.log()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9943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5720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Test with 3 different users by changing values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73752"/>
            <a:ext cx="201168" cy="201168"/>
          </a:xfrm>
          <a:prstGeom prst="rect">
            <a:avLst/>
          </a:prstGeom>
          <a:solidFill>
            <a:srgbClr val="0D0D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7824" y="48463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Add a getGreeting(name, age) function for a message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05856" y="2249424"/>
            <a:ext cx="3054096" cy="2706624"/>
          </a:xfrm>
          <a:prstGeom prst="rect">
            <a:avLst/>
          </a:prstGeom>
          <a:solidFill>
            <a:srgbClr val="070700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97296" y="232257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5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97296" y="25603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23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97296" y="27980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BMI: 22.9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797296" y="30358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Normal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97296" y="327355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797296" y="35112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Rahul!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797296" y="37490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23 yrs old.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797296" y="39867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BMI is healthy ✓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97296" y="422452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797296" y="44622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5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Results: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797296" y="4700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[23, 22.9, 'Normal']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12 — Control Flow &amp; Loops!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4008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solidFill>
            <a:srgbClr val="F7DF1E">
              <a:alpha val="18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 by default, let when reassigning, never var. 7 data types: string, number, boolean, null, undefined, object, symbol.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5760720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50292" cy="6400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solidFill>
            <a:srgbClr val="FF9800">
              <a:alpha val="18000"/>
            </a:srgbClr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88366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=== (strict equality), never == (loose). === checks value AND type — prevents type coercion bugs.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760720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50292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solidFill>
            <a:srgbClr val="00BCD4">
              <a:alpha val="18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functions: const add = (a,b) =&gt; a+b. Single expression = implicit return. Template literals: `Hi ${name}`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5760720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91840"/>
            <a:ext cx="50292" cy="6400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solidFill>
            <a:srgbClr val="CE93D8">
              <a:alpha val="18000"/>
            </a:srgbClr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Arrays: zero-indexed, push/pop/map/filter. Objects: key-value pairs, dot notation or bracket notation.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760720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41648"/>
            <a:ext cx="50292" cy="64008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solidFill>
            <a:srgbClr val="69F0AE">
              <a:alpha val="18000"/>
            </a:srgbClr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9F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console.log() everything while debugging. Use DevTools Console (F12) to run JS expressions live.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12: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0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Console — try 5 arithmetic expressions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68880"/>
            <a:ext cx="219456" cy="219456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688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0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3230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'profile' object with 5 properties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80944"/>
            <a:ext cx="219456" cy="219456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809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0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443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to sum all numbers in an array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93008"/>
            <a:ext cx="219456" cy="219456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930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0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56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map() and filter() on a numbers array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4005072"/>
            <a:ext cx="219456" cy="219456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4005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0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96849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one function to arrow function syntax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517136"/>
            <a:ext cx="219456" cy="219456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517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0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480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calculator output in the comments!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828800"/>
            <a:ext cx="5852160" cy="5852160"/>
          </a:xfrm>
          <a:prstGeom prst="ellipse">
            <a:avLst/>
          </a:prstGeom>
          <a:solidFill>
            <a:srgbClr val="F7DF1E">
              <a:alpha val="8000"/>
            </a:srgbClr>
          </a:solidFill>
          <a:ln w="12700">
            <a:solidFill>
              <a:srgbClr val="F7D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2194560"/>
            <a:ext cx="4754880" cy="4754880"/>
          </a:xfrm>
          <a:prstGeom prst="ellipse">
            <a:avLst/>
          </a:prstGeom>
          <a:solidFill>
            <a:srgbClr val="FF9800">
              <a:alpha val="5000"/>
            </a:srgbClr>
          </a:solidFill>
          <a:ln w="12700">
            <a:solidFill>
              <a:srgbClr val="FF98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931920" y="274320"/>
            <a:ext cx="1280160" cy="128016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931920" y="2743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D0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Unlocked!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8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operators, functions, arrays, objects — the foundation is 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328416"/>
            <a:ext cx="6400800" cy="128016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71600" y="3328416"/>
            <a:ext cx="2346960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17976" y="3291840"/>
            <a:ext cx="201168" cy="201168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0" y="349300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/ 30  •  JS Week Started!  •  36.7% complete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895344"/>
            <a:ext cx="7315200" cy="1152144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14400" y="3895344"/>
            <a:ext cx="7315200" cy="502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3986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Day 12: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426110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Flow &amp; Loops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97280" y="46451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switch, for, while, do-while — make decisions and repeat actions in JS.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5065776"/>
            <a:ext cx="2212848" cy="310896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97280" y="5065776"/>
            <a:ext cx="221284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97280" y="5084064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5230368"/>
            <a:ext cx="22128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hit the bell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93008" y="5065776"/>
            <a:ext cx="2212848" cy="310896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93008" y="5065776"/>
            <a:ext cx="221284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93008" y="5084064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5230368"/>
            <a:ext cx="22128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'Day 11 Done!'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88736" y="5065776"/>
            <a:ext cx="2212848" cy="310896"/>
          </a:xfrm>
          <a:prstGeom prst="rect">
            <a:avLst/>
          </a:prstGeom>
          <a:solidFill>
            <a:srgbClr val="1A1A00"/>
          </a:solidFill>
          <a:ln w="12700">
            <a:solidFill>
              <a:srgbClr val="2A2A1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888736" y="5065776"/>
            <a:ext cx="2212848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888736" y="5084064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88736" y="5230368"/>
            <a:ext cx="22128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friend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2211</Words>
  <Application>Microsoft Office PowerPoint</Application>
  <PresentationFormat>On-screen Show (16:9)</PresentationFormat>
  <Paragraphs>491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Ajay Solanki</cp:lastModifiedBy>
  <cp:revision>3</cp:revision>
  <dcterms:created xsi:type="dcterms:W3CDTF">2026-06-05T04:47:20Z</dcterms:created>
  <dcterms:modified xsi:type="dcterms:W3CDTF">2026-06-11T14:56:38Z</dcterms:modified>
</cp:coreProperties>
</file>