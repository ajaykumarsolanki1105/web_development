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3567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C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2011680"/>
            <a:ext cx="5486400" cy="5486400"/>
          </a:xfrm>
          <a:prstGeom prst="ellipse">
            <a:avLst/>
          </a:prstGeom>
          <a:solidFill>
            <a:srgbClr val="10B981">
              <a:alpha val="9000"/>
            </a:srgbClr>
          </a:solidFill>
          <a:ln w="12700">
            <a:solidFill>
              <a:srgbClr val="10B981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188720" y="3108960"/>
            <a:ext cx="3291840" cy="3291840"/>
          </a:xfrm>
          <a:prstGeom prst="ellipse">
            <a:avLst/>
          </a:prstGeom>
          <a:solidFill>
            <a:srgbClr val="22C55E">
              <a:alpha val="5000"/>
            </a:srgbClr>
          </a:solidFill>
          <a:ln w="12700">
            <a:solidFill>
              <a:srgbClr val="22C55E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320040"/>
            <a:ext cx="1371600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50C08"/>
                </a:solidFill>
              </a:rPr>
              <a:t>DAY 12 OF 30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86384"/>
            <a:ext cx="6583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C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Flow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Loops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6583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JavaScript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432304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decisions. Repeat actions. Write code that thinks and iterates automatically.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907792"/>
            <a:ext cx="2029968" cy="365760"/>
          </a:xfrm>
          <a:prstGeom prst="rect">
            <a:avLst/>
          </a:prstGeom>
          <a:solidFill>
            <a:srgbClr val="10201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2907792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/ else / else if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33472" y="2907792"/>
            <a:ext cx="2029968" cy="365760"/>
          </a:xfrm>
          <a:prstGeom prst="rect">
            <a:avLst/>
          </a:prstGeom>
          <a:solidFill>
            <a:srgbClr val="10201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633472" y="2907792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statement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09744" y="2907792"/>
            <a:ext cx="2029968" cy="365760"/>
          </a:xfrm>
          <a:prstGeom prst="rect">
            <a:avLst/>
          </a:prstGeom>
          <a:solidFill>
            <a:srgbClr val="102018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09744" y="2907792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/ while loops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986016" y="2907792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 / continue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3438144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57200" y="385876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</a:rPr>
              <a:t>Topics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84832" y="3438144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084832" y="385876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</a:rPr>
              <a:t>Examples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12464" y="3438144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onsolas" pitchFamily="34" charset="0"/>
              </a:rPr>
              <a:t>one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712464" y="385876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</a:rPr>
              <a:t>Video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40096" y="3438144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340096" y="385876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</a:rPr>
              <a:t>Grade Calc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59168" y="749808"/>
            <a:ext cx="1883664" cy="4297680"/>
          </a:xfrm>
          <a:prstGeom prst="rect">
            <a:avLst/>
          </a:prstGeom>
          <a:solidFill>
            <a:srgbClr val="020A04"/>
          </a:solidFill>
          <a:ln w="12700">
            <a:solidFill>
              <a:srgbClr val="0F2D1C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059168" y="749808"/>
            <a:ext cx="1883664" cy="256032"/>
          </a:xfrm>
          <a:prstGeom prst="rect">
            <a:avLst/>
          </a:prstGeom>
          <a:solidFill>
            <a:srgbClr val="020602"/>
          </a:solidFill>
          <a:ln w="12700">
            <a:solidFill>
              <a:srgbClr val="0206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178040" y="832104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324344" y="832104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470648" y="832104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626096" y="795528"/>
            <a:ext cx="11521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F46"/>
                </a:solidFill>
              </a:rPr>
              <a:t>script.js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132320" y="10515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51776" y="105156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if / else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7132320" y="130302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351776" y="130302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(score &gt;= 90) {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7132320" y="15544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351776" y="155448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grade = 'A';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7132320" y="18059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351776" y="180594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(score &gt;= 80) {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7132320" y="205740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51776" y="205740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grade = 'B';</a:t>
            </a:r>
            <a:endParaRPr lang="en-US" sz="980" dirty="0"/>
          </a:p>
        </p:txBody>
      </p:sp>
      <p:sp>
        <p:nvSpPr>
          <p:cNvPr id="42" name="Text 40"/>
          <p:cNvSpPr/>
          <p:nvPr/>
        </p:nvSpPr>
        <p:spPr>
          <a:xfrm>
            <a:off x="7132320" y="23088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351776" y="230886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7132320" y="256032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351776" y="256032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grade = 'F';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7132320" y="28117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351776" y="281178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7132320" y="30632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51776" y="306324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50" name="Text 48"/>
          <p:cNvSpPr/>
          <p:nvPr/>
        </p:nvSpPr>
        <p:spPr>
          <a:xfrm>
            <a:off x="7132320" y="331470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351776" y="331470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 loop</a:t>
            </a:r>
            <a:endParaRPr lang="en-US" sz="980" dirty="0"/>
          </a:p>
        </p:txBody>
      </p:sp>
      <p:sp>
        <p:nvSpPr>
          <p:cNvPr id="52" name="Text 50"/>
          <p:cNvSpPr/>
          <p:nvPr/>
        </p:nvSpPr>
        <p:spPr>
          <a:xfrm>
            <a:off x="7132320" y="35661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351776" y="356616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AB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i=0; i&lt;5; i++) {</a:t>
            </a:r>
            <a:endParaRPr lang="en-US" sz="980" dirty="0"/>
          </a:p>
        </p:txBody>
      </p:sp>
      <p:sp>
        <p:nvSpPr>
          <p:cNvPr id="54" name="Text 52"/>
          <p:cNvSpPr/>
          <p:nvPr/>
        </p:nvSpPr>
        <p:spPr>
          <a:xfrm>
            <a:off x="7132320" y="381762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351776" y="381762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console.log(i);</a:t>
            </a:r>
            <a:endParaRPr lang="en-US" sz="980" dirty="0"/>
          </a:p>
        </p:txBody>
      </p:sp>
      <p:sp>
        <p:nvSpPr>
          <p:cNvPr id="56" name="Text 54"/>
          <p:cNvSpPr/>
          <p:nvPr/>
        </p:nvSpPr>
        <p:spPr>
          <a:xfrm>
            <a:off x="7132320" y="40690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351776" y="406908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AB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58" name="Text 56"/>
          <p:cNvSpPr/>
          <p:nvPr/>
        </p:nvSpPr>
        <p:spPr>
          <a:xfrm>
            <a:off x="7132320" y="43205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351776" y="432054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60" name="Text 58"/>
          <p:cNvSpPr/>
          <p:nvPr/>
        </p:nvSpPr>
        <p:spPr>
          <a:xfrm>
            <a:off x="7132320" y="457200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351776" y="4277778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while loop</a:t>
            </a:r>
            <a:endParaRPr lang="en-US" sz="980" dirty="0"/>
          </a:p>
        </p:txBody>
      </p:sp>
      <p:sp>
        <p:nvSpPr>
          <p:cNvPr id="63" name="Text 61"/>
          <p:cNvSpPr/>
          <p:nvPr/>
        </p:nvSpPr>
        <p:spPr>
          <a:xfrm>
            <a:off x="7351776" y="4529238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(count &lt; 10) {</a:t>
            </a:r>
          </a:p>
          <a:p>
            <a:pPr marL="0" indent="0">
              <a:buNone/>
            </a:pPr>
            <a:endParaRPr lang="en-US" sz="980" dirty="0"/>
          </a:p>
        </p:txBody>
      </p:sp>
      <p:sp>
        <p:nvSpPr>
          <p:cNvPr id="65" name="Text 63"/>
          <p:cNvSpPr/>
          <p:nvPr/>
        </p:nvSpPr>
        <p:spPr>
          <a:xfrm>
            <a:off x="7260336" y="4623368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count++; }</a:t>
            </a:r>
            <a:endParaRPr lang="en-US" sz="980" dirty="0"/>
          </a:p>
        </p:txBody>
      </p:sp>
      <p:sp>
        <p:nvSpPr>
          <p:cNvPr id="67" name="Text 65"/>
          <p:cNvSpPr/>
          <p:nvPr/>
        </p:nvSpPr>
        <p:spPr>
          <a:xfrm>
            <a:off x="7351776" y="532638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C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C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</a:rPr>
              <a:t>Day 12  •  Control Flow &amp; Loops  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078992"/>
            <a:ext cx="8375904" cy="658368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84048" y="1078992"/>
            <a:ext cx="50292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329184" cy="329184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4128" y="1143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C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/ else / else if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24128" y="1453896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conditions, truthy/falsy, nested if, logical &amp;&amp;  ||  !, ternary operator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65008" y="1271016"/>
            <a:ext cx="621792" cy="237744"/>
          </a:xfrm>
          <a:prstGeom prst="rect">
            <a:avLst/>
          </a:prstGeom>
          <a:solidFill>
            <a:srgbClr val="10B981">
              <a:alpha val="16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065008" y="1271016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</a:rPr>
              <a:t>~8 min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847088"/>
            <a:ext cx="8375904" cy="658368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84048" y="1847088"/>
            <a:ext cx="50292" cy="65836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8640" y="2002536"/>
            <a:ext cx="329184" cy="329184"/>
          </a:xfrm>
          <a:prstGeom prst="ellipse">
            <a:avLst/>
          </a:prstGeom>
          <a:solidFill>
            <a:srgbClr val="EAB308">
              <a:alpha val="18000"/>
            </a:srgbClr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20025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B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4128" y="191109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C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Statement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24128" y="2221992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switch/case/default/break, vs if-else, when to use, fall-through behavior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65008" y="2039112"/>
            <a:ext cx="621792" cy="237744"/>
          </a:xfrm>
          <a:prstGeom prst="rect">
            <a:avLst/>
          </a:prstGeom>
          <a:solidFill>
            <a:srgbClr val="EAB308">
              <a:alpha val="16000"/>
            </a:srgbClr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065008" y="2039112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AB308"/>
                </a:solidFill>
              </a:rPr>
              <a:t>~7 min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84048" y="2615184"/>
            <a:ext cx="8375904" cy="658368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84048" y="2615184"/>
            <a:ext cx="50292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8640" y="2770632"/>
            <a:ext cx="329184" cy="329184"/>
          </a:xfrm>
          <a:prstGeom prst="ellipse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24128" y="26791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C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Loop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24128" y="2990088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anatomy (init;condition;update), for...of, for...in, nested loops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065008" y="2807208"/>
            <a:ext cx="621792" cy="237744"/>
          </a:xfrm>
          <a:prstGeom prst="rect">
            <a:avLst/>
          </a:prstGeom>
          <a:solidFill>
            <a:srgbClr val="F97316">
              <a:alpha val="16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065008" y="2807208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</a:rPr>
              <a:t>~9 min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4048" y="3383280"/>
            <a:ext cx="8375904" cy="658368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84048" y="3383280"/>
            <a:ext cx="50292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48640" y="3538728"/>
            <a:ext cx="329184" cy="329184"/>
          </a:xfrm>
          <a:prstGeom prst="ellipse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48640" y="35387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4128" y="34472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C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&amp; do...while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024128" y="3758184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condition, do...while guarantees one run, infinite loop dangers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065008" y="3575304"/>
            <a:ext cx="621792" cy="237744"/>
          </a:xfrm>
          <a:prstGeom prst="rect">
            <a:avLst/>
          </a:prstGeom>
          <a:solidFill>
            <a:srgbClr val="0EA5E9">
              <a:alpha val="16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065008" y="3575304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</a:rPr>
              <a:t>~7 min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84048" y="4151376"/>
            <a:ext cx="8375904" cy="658368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84048" y="4151376"/>
            <a:ext cx="50292" cy="6583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48640" y="4306824"/>
            <a:ext cx="329184" cy="329184"/>
          </a:xfrm>
          <a:prstGeom prst="ellipse">
            <a:avLst/>
          </a:prstGeom>
          <a:solidFill>
            <a:srgbClr val="A855F7">
              <a:alpha val="18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48640" y="43068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24128" y="421538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C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break, continue &amp; Patterns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024128" y="4526280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exits loop, continue skips iteration, common loop patterns &amp; best practices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065008" y="4343400"/>
            <a:ext cx="621792" cy="237744"/>
          </a:xfrm>
          <a:prstGeom prst="rect">
            <a:avLst/>
          </a:prstGeom>
          <a:solidFill>
            <a:srgbClr val="A855F7">
              <a:alpha val="16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065008" y="4343400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855F7"/>
                </a:solidFill>
              </a:rPr>
              <a:t>~7 min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84048" y="4919472"/>
            <a:ext cx="8375904" cy="182880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66928" y="4919472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</a:rPr>
              <a:t>PROJECT: Grade Calculator — loops student scores array, assigns grades with if/else, reports with switch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C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50C08"/>
                </a:solidFill>
              </a:rPr>
              <a:t>TOPIC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C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/ else / else if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code only when a condition is true. The most fundamental control structure.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4059936"/>
          </a:xfrm>
          <a:prstGeom prst="rect">
            <a:avLst/>
          </a:prstGeom>
          <a:solidFill>
            <a:srgbClr val="020A04"/>
          </a:solidFill>
          <a:ln w="12700">
            <a:solidFill>
              <a:srgbClr val="0F2D1C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24528" cy="256032"/>
          </a:xfrm>
          <a:prstGeom prst="rect">
            <a:avLst/>
          </a:prstGeom>
          <a:solidFill>
            <a:srgbClr val="020602"/>
          </a:solidFill>
          <a:ln w="12700">
            <a:solidFill>
              <a:srgbClr val="0206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F46"/>
                </a:solidFill>
              </a:rPr>
              <a:t>script.js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if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(age &gt;= 18) {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console.log('Adult');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04088" y="22265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if / else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04088" y="24780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(age &gt;= 18) {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4088" y="27294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console.log('Adult');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04088" y="29809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04088" y="32324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console.log('Minor');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04088" y="34838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40370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" y="377516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if / else if / else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6656" y="402662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(score &gt;= 90) {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6656" y="427808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grade = 'A';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676656" y="452954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(score &gt;= 80) {</a:t>
            </a: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= 'B’; } else {}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4773168" y="969264"/>
            <a:ext cx="4041648" cy="1664208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773168" y="969264"/>
            <a:ext cx="4041648" cy="502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956048" y="104241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DA4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Falsy Values — everything else is truthy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901184" y="1389888"/>
            <a:ext cx="1828800" cy="201168"/>
          </a:xfrm>
          <a:prstGeom prst="rect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901184" y="13898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DA4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839712" y="1389888"/>
            <a:ext cx="1828800" cy="201168"/>
          </a:xfrm>
          <a:prstGeom prst="rect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839712" y="13898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DA4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901184" y="1664208"/>
            <a:ext cx="1828800" cy="201168"/>
          </a:xfrm>
          <a:prstGeom prst="rect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901184" y="16642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DA4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 (empty string)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839712" y="1664208"/>
            <a:ext cx="1828800" cy="201168"/>
          </a:xfrm>
          <a:prstGeom prst="rect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839712" y="16642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DA4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901184" y="1938528"/>
            <a:ext cx="1828800" cy="201168"/>
          </a:xfrm>
          <a:prstGeom prst="rect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901184" y="19385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DA4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839712" y="1938528"/>
            <a:ext cx="1828800" cy="201168"/>
          </a:xfrm>
          <a:prstGeom prst="rect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6839712" y="19385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DA4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773168" y="2706624"/>
            <a:ext cx="4041648" cy="1408176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4773168" y="2706624"/>
            <a:ext cx="4041648" cy="5029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956048" y="277977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DE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Logical Operators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901184" y="3108960"/>
            <a:ext cx="493776" cy="237744"/>
          </a:xfrm>
          <a:prstGeom prst="rect">
            <a:avLst/>
          </a:prstGeom>
          <a:solidFill>
            <a:srgbClr val="EAB308">
              <a:alpha val="20000"/>
            </a:srgbClr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901184" y="3108960"/>
            <a:ext cx="493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B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376672" y="3108960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760720" y="3127248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must be true: age&gt;18 &amp;&amp; hasID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901184" y="3438144"/>
            <a:ext cx="493776" cy="237744"/>
          </a:xfrm>
          <a:prstGeom prst="rect">
            <a:avLst/>
          </a:prstGeom>
          <a:solidFill>
            <a:srgbClr val="EAB308">
              <a:alpha val="20000"/>
            </a:srgbClr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4901184" y="3438144"/>
            <a:ext cx="493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B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394960" y="3444675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760720" y="3456432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true: isAdmin || isMod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901184" y="3767328"/>
            <a:ext cx="329184" cy="237744"/>
          </a:xfrm>
          <a:prstGeom prst="rect">
            <a:avLst/>
          </a:prstGeom>
          <a:solidFill>
            <a:srgbClr val="EAB308">
              <a:alpha val="20000"/>
            </a:srgbClr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4901184" y="3767328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B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5303520" y="3767328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DE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760720" y="3785616"/>
            <a:ext cx="2980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boolean value: !isLoggedIn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773168" y="4187952"/>
            <a:ext cx="4041648" cy="896112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4773168" y="4187952"/>
            <a:ext cx="4041648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4956048" y="426110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Ternary — One-line if/else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4828032" y="4535424"/>
            <a:ext cx="3913632" cy="475488"/>
          </a:xfrm>
          <a:prstGeom prst="rect">
            <a:avLst/>
          </a:prstGeom>
          <a:solidFill>
            <a:srgbClr val="020A04"/>
          </a:solidFill>
          <a:ln w="12700">
            <a:solidFill>
              <a:srgbClr val="0F2D1C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4828032" y="4535424"/>
            <a:ext cx="3913632" cy="256032"/>
          </a:xfrm>
          <a:prstGeom prst="rect">
            <a:avLst/>
          </a:prstGeom>
          <a:solidFill>
            <a:srgbClr val="020602"/>
          </a:solidFill>
          <a:ln w="12700">
            <a:solidFill>
              <a:srgbClr val="0206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4946904" y="461772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Shape 83"/>
          <p:cNvSpPr/>
          <p:nvPr/>
        </p:nvSpPr>
        <p:spPr>
          <a:xfrm>
            <a:off x="5093208" y="461772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5239512" y="461772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5394960" y="4581144"/>
            <a:ext cx="3182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F46"/>
                </a:solidFill>
              </a:rPr>
              <a:t>script.js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4901184" y="48371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5102352" y="477316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msg = age&gt;=18 ? 'Adult' : 'Minor';</a:t>
            </a:r>
            <a:endParaRPr lang="en-US" sz="9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C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50C08"/>
                </a:solidFill>
              </a:rPr>
              <a:t>TOPIC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C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Statement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one value against many cases. Cleaner than long if/else if chains.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4059936"/>
          </a:xfrm>
          <a:prstGeom prst="rect">
            <a:avLst/>
          </a:prstGeom>
          <a:solidFill>
            <a:srgbClr val="020A04"/>
          </a:solidFill>
          <a:ln w="12700">
            <a:solidFill>
              <a:srgbClr val="0F2D1C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24528" cy="256032"/>
          </a:xfrm>
          <a:prstGeom prst="rect">
            <a:avLst/>
          </a:prstGeom>
          <a:solidFill>
            <a:srgbClr val="020602"/>
          </a:solidFill>
          <a:ln w="12700">
            <a:solidFill>
              <a:srgbClr val="0206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F46"/>
                </a:solidFill>
              </a:rPr>
              <a:t>script.js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AB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day = 'Monday';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AB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(day) {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'Monday':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'Tuesday':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'Wednesday':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'Thursday':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'Friday':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282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console.log('Weekday');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5341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  // ← MUST HAVE!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785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37719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'Saturday':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" y="40233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'Sunday':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6656" y="42748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console.log('Weekend!');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19318" y="4407735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676656" y="50429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566928" y="46040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default: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566928" y="48554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console.log('Unknown');</a:t>
            </a: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457200" y="57972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76656" y="57972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AB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51" name="Shape 49"/>
          <p:cNvSpPr/>
          <p:nvPr/>
        </p:nvSpPr>
        <p:spPr>
          <a:xfrm>
            <a:off x="4773168" y="969264"/>
            <a:ext cx="4041648" cy="2103120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4773168" y="969264"/>
            <a:ext cx="4041648" cy="5029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956048" y="104241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E0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Anatomy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901184" y="1389888"/>
            <a:ext cx="1005840" cy="219456"/>
          </a:xfrm>
          <a:prstGeom prst="rect">
            <a:avLst/>
          </a:prstGeom>
          <a:solidFill>
            <a:srgbClr val="EAB308">
              <a:alpha val="14000"/>
            </a:srgbClr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901184" y="138988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AB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switch(val)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980176" y="1408176"/>
            <a:ext cx="2761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val using === for each case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901184" y="1709928"/>
            <a:ext cx="1005840" cy="219456"/>
          </a:xfrm>
          <a:prstGeom prst="rect">
            <a:avLst/>
          </a:prstGeom>
          <a:solidFill>
            <a:srgbClr val="10B981">
              <a:alpha val="14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901184" y="170992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x: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980176" y="1728216"/>
            <a:ext cx="2761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if val === x. No break = falls through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901184" y="2029968"/>
            <a:ext cx="1005840" cy="219456"/>
          </a:xfrm>
          <a:prstGeom prst="rect">
            <a:avLst/>
          </a:prstGeom>
          <a:solidFill>
            <a:srgbClr val="F43F5E">
              <a:alpha val="14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901184" y="202996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break;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980176" y="2048256"/>
            <a:ext cx="2761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include! Exits the switch block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901184" y="2350008"/>
            <a:ext cx="1005840" cy="219456"/>
          </a:xfrm>
          <a:prstGeom prst="rect">
            <a:avLst/>
          </a:prstGeom>
          <a:solidFill>
            <a:srgbClr val="F97316">
              <a:alpha val="14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901184" y="235000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default: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980176" y="2368296"/>
            <a:ext cx="2761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when no case matches — like else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901184" y="2670048"/>
            <a:ext cx="1005840" cy="219456"/>
          </a:xfrm>
          <a:prstGeom prst="rect">
            <a:avLst/>
          </a:prstGeom>
          <a:solidFill>
            <a:srgbClr val="0EA5E9">
              <a:alpha val="14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4901184" y="267004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fall-through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980176" y="2688336"/>
            <a:ext cx="2761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break → runs next case (use for groups)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773168" y="3145536"/>
            <a:ext cx="4041648" cy="1078992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4773168" y="3145536"/>
            <a:ext cx="4041648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4956048" y="32186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vs if/else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901184" y="3511296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switch: checking one variable against exact values (day, status, role, grade)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if/else: ranges, complex conditions (score&gt;=90, multiple variables)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773168" y="4297680"/>
            <a:ext cx="4041648" cy="786384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4773168" y="4297680"/>
            <a:ext cx="4041648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4956048" y="437083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 switch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828032" y="4608576"/>
            <a:ext cx="3913632" cy="402336"/>
          </a:xfrm>
          <a:prstGeom prst="rect">
            <a:avLst/>
          </a:prstGeom>
          <a:solidFill>
            <a:srgbClr val="020A04"/>
          </a:solidFill>
          <a:ln w="12700">
            <a:solidFill>
              <a:srgbClr val="0F2D1C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4828032" y="4608576"/>
            <a:ext cx="3913632" cy="256032"/>
          </a:xfrm>
          <a:prstGeom prst="rect">
            <a:avLst/>
          </a:prstGeom>
          <a:solidFill>
            <a:srgbClr val="020602"/>
          </a:solidFill>
          <a:ln w="12700">
            <a:solidFill>
              <a:srgbClr val="0206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4946904" y="4690872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5093208" y="4690872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5239512" y="4690872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5394960" y="4654296"/>
            <a:ext cx="3182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F46"/>
                </a:solidFill>
              </a:rPr>
              <a:t>script.js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4901184" y="491032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C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50C08"/>
                </a:solidFill>
              </a:rPr>
              <a:t>TOPIC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C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Loop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code a known number of times. The most-used loop in JavaScript.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4059936"/>
          </a:xfrm>
          <a:prstGeom prst="rect">
            <a:avLst/>
          </a:prstGeom>
          <a:solidFill>
            <a:srgbClr val="020A04"/>
          </a:solidFill>
          <a:ln w="12700">
            <a:solidFill>
              <a:srgbClr val="0F2D1C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24528" cy="256032"/>
          </a:xfrm>
          <a:prstGeom prst="rect">
            <a:avLst/>
          </a:prstGeom>
          <a:solidFill>
            <a:srgbClr val="020602"/>
          </a:solidFill>
          <a:ln w="12700">
            <a:solidFill>
              <a:srgbClr val="0206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F46"/>
                </a:solidFill>
              </a:rPr>
              <a:t>script.js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Classic for loop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for(init; condition; update)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i=0; i&lt;5; i++) {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console.log(i); // 0 1 2 3 4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7106" y="2501537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Loop array by index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7106" y="2752997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AB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fruits=['🍎','🍌','🥭'];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7106" y="3004457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i=0; i&lt;fruits.length; i++) {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7106" y="3255917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console.log(i, fruits[i]);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7106" y="3507377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40370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7106" y="38176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for...of  — values (ES6)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87106" y="40690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fruit of fruits) {</a:t>
            </a:r>
            <a:endParaRPr lang="en-US" sz="980" dirty="0"/>
          </a:p>
        </p:txBody>
      </p:sp>
      <p:sp>
        <p:nvSpPr>
          <p:cNvPr id="42" name="Text 40"/>
          <p:cNvSpPr/>
          <p:nvPr/>
        </p:nvSpPr>
        <p:spPr>
          <a:xfrm>
            <a:off x="687106" y="43205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console.log(fruit);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687106" y="45720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676656" y="52943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457200" y="57972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76656" y="57972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key in user) {</a:t>
            </a:r>
            <a:endParaRPr lang="en-US" sz="980" dirty="0"/>
          </a:p>
        </p:txBody>
      </p:sp>
      <p:sp>
        <p:nvSpPr>
          <p:cNvPr id="51" name="Shape 49"/>
          <p:cNvSpPr/>
          <p:nvPr/>
        </p:nvSpPr>
        <p:spPr>
          <a:xfrm>
            <a:off x="4773168" y="969264"/>
            <a:ext cx="4041648" cy="1444752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4773168" y="969264"/>
            <a:ext cx="4041648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956048" y="104241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Loop Anatomy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901184" y="1353312"/>
            <a:ext cx="3785616" cy="274320"/>
          </a:xfrm>
          <a:prstGeom prst="rect">
            <a:avLst/>
          </a:prstGeom>
          <a:solidFill>
            <a:srgbClr val="020A04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919472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 let i = 0 ;  i &lt; 5  ;  i++ 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029200" y="1664208"/>
            <a:ext cx="694944" cy="182880"/>
          </a:xfrm>
          <a:prstGeom prst="rect">
            <a:avLst/>
          </a:prstGeom>
          <a:solidFill>
            <a:srgbClr val="EAB308">
              <a:alpha val="16000"/>
            </a:srgbClr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5029200" y="1664208"/>
            <a:ext cx="694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833872" y="1664208"/>
            <a:ext cx="694944" cy="182880"/>
          </a:xfrm>
          <a:prstGeom prst="rect">
            <a:avLst/>
          </a:prstGeom>
          <a:solidFill>
            <a:srgbClr val="10B981">
              <a:alpha val="16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5833872" y="1664208"/>
            <a:ext cx="694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876288" y="1664208"/>
            <a:ext cx="694944" cy="182880"/>
          </a:xfrm>
          <a:prstGeom prst="rect">
            <a:avLst/>
          </a:prstGeom>
          <a:solidFill>
            <a:srgbClr val="0EA5E9">
              <a:alpha val="16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6876288" y="1664208"/>
            <a:ext cx="694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901184" y="1883664"/>
            <a:ext cx="3785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 →  checked each loop  →  runs after each iteration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773168" y="2487168"/>
            <a:ext cx="4041648" cy="1298448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4773168" y="2487168"/>
            <a:ext cx="4041648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4956048" y="25603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for...of vs for...in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828032" y="2834640"/>
            <a:ext cx="3913632" cy="877824"/>
          </a:xfrm>
          <a:prstGeom prst="rect">
            <a:avLst/>
          </a:prstGeom>
          <a:solidFill>
            <a:srgbClr val="020A04"/>
          </a:solidFill>
          <a:ln w="12700">
            <a:solidFill>
              <a:srgbClr val="0F2D1C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4828032" y="2834640"/>
            <a:ext cx="3913632" cy="256032"/>
          </a:xfrm>
          <a:prstGeom prst="rect">
            <a:avLst/>
          </a:prstGeom>
          <a:solidFill>
            <a:srgbClr val="020602"/>
          </a:solidFill>
          <a:ln w="12700">
            <a:solidFill>
              <a:srgbClr val="0206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4946904" y="2916936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5093208" y="2916936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5239512" y="2916936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5394960" y="2880360"/>
            <a:ext cx="3182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F46"/>
                </a:solidFill>
              </a:rPr>
              <a:t>script.js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901184" y="313639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120640" y="313639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for...of → array values</a:t>
            </a:r>
            <a:endParaRPr lang="en-US" sz="980" dirty="0"/>
          </a:p>
        </p:txBody>
      </p:sp>
      <p:sp>
        <p:nvSpPr>
          <p:cNvPr id="74" name="Text 72"/>
          <p:cNvSpPr/>
          <p:nvPr/>
        </p:nvSpPr>
        <p:spPr>
          <a:xfrm>
            <a:off x="4901184" y="338785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120640" y="338785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x of [1,2,3]) {}</a:t>
            </a:r>
            <a:endParaRPr lang="en-US" sz="980" dirty="0"/>
          </a:p>
        </p:txBody>
      </p:sp>
      <p:sp>
        <p:nvSpPr>
          <p:cNvPr id="76" name="Text 74"/>
          <p:cNvSpPr/>
          <p:nvPr/>
        </p:nvSpPr>
        <p:spPr>
          <a:xfrm>
            <a:off x="4901184" y="363931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111496" y="360730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>
              <a:solidFill>
                <a:schemeClr val="bg1"/>
              </a:solidFill>
            </a:endParaRPr>
          </a:p>
        </p:txBody>
      </p:sp>
      <p:sp>
        <p:nvSpPr>
          <p:cNvPr id="78" name="Text 76"/>
          <p:cNvSpPr/>
          <p:nvPr/>
        </p:nvSpPr>
        <p:spPr>
          <a:xfrm>
            <a:off x="4901184" y="389077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120640" y="389077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k in user) {}</a:t>
            </a:r>
            <a:endParaRPr lang="en-US" sz="980" dirty="0"/>
          </a:p>
        </p:txBody>
      </p:sp>
      <p:sp>
        <p:nvSpPr>
          <p:cNvPr id="82" name="Text 80"/>
          <p:cNvSpPr/>
          <p:nvPr/>
        </p:nvSpPr>
        <p:spPr>
          <a:xfrm>
            <a:off x="4956048" y="393192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C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50C08"/>
                </a:solidFill>
              </a:rPr>
              <a:t>TOPIC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C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&amp; do...while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when you don't know the count. Repeat until a condition becomes false.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4059936"/>
          </a:xfrm>
          <a:prstGeom prst="rect">
            <a:avLst/>
          </a:prstGeom>
          <a:solidFill>
            <a:srgbClr val="020A04"/>
          </a:solidFill>
          <a:ln w="12700">
            <a:solidFill>
              <a:srgbClr val="0F2D1C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24528" cy="256032"/>
          </a:xfrm>
          <a:prstGeom prst="rect">
            <a:avLst/>
          </a:prstGeom>
          <a:solidFill>
            <a:srgbClr val="020602"/>
          </a:solidFill>
          <a:ln w="12700">
            <a:solidFill>
              <a:srgbClr val="0206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F46"/>
                </a:solidFill>
              </a:rPr>
              <a:t>script.js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while loop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count = 0;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(count &lt; 5) {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console.log(count);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AB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count++;  // MUST update!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do...while — runs at least once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2826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num;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5341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785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 = Number(prompt('1-10?'));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40370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(num&lt;1 || num&gt;10);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676656" y="45399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457200" y="57972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76656" y="57972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51" name="Shape 49"/>
          <p:cNvSpPr/>
          <p:nvPr/>
        </p:nvSpPr>
        <p:spPr>
          <a:xfrm>
            <a:off x="4773168" y="969264"/>
            <a:ext cx="4041648" cy="1883664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4773168" y="969264"/>
            <a:ext cx="4041648" cy="502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956048" y="104241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vs for — When to use?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901184" y="1408176"/>
            <a:ext cx="822960" cy="237744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901184" y="140817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797296" y="1426464"/>
            <a:ext cx="2944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count: for(i=0; i&lt;n; i++)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901184" y="1883664"/>
            <a:ext cx="822960" cy="237744"/>
          </a:xfrm>
          <a:prstGeom prst="rect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901184" y="188366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797296" y="1901952"/>
            <a:ext cx="2944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count: loop until event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901184" y="2359152"/>
            <a:ext cx="822960" cy="237744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901184" y="235915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do...while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797296" y="2377440"/>
            <a:ext cx="2944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run body at least once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773168" y="2926080"/>
            <a:ext cx="4041648" cy="1261872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4773168" y="2926080"/>
            <a:ext cx="4041648" cy="502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4956048" y="29992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DA4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⚠️ Infinite Loop Warning!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828032" y="3310128"/>
            <a:ext cx="3913632" cy="768096"/>
          </a:xfrm>
          <a:prstGeom prst="rect">
            <a:avLst/>
          </a:prstGeom>
          <a:solidFill>
            <a:srgbClr val="020A04"/>
          </a:solidFill>
          <a:ln w="12700">
            <a:solidFill>
              <a:srgbClr val="0F2D1C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4828032" y="3310128"/>
            <a:ext cx="3913632" cy="256032"/>
          </a:xfrm>
          <a:prstGeom prst="rect">
            <a:avLst/>
          </a:prstGeom>
          <a:solidFill>
            <a:srgbClr val="020602"/>
          </a:solidFill>
          <a:ln w="12700">
            <a:solidFill>
              <a:srgbClr val="0206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4946904" y="3392424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5093208" y="3392424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5239512" y="3392424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5394960" y="3355848"/>
            <a:ext cx="3182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F46"/>
                </a:solidFill>
              </a:rPr>
              <a:t>script.js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901184" y="36118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120640" y="3611880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A10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WRONG — never ends!</a:t>
            </a:r>
            <a:endParaRPr lang="en-US" sz="980" dirty="0"/>
          </a:p>
        </p:txBody>
      </p:sp>
      <p:sp>
        <p:nvSpPr>
          <p:cNvPr id="74" name="Text 72"/>
          <p:cNvSpPr/>
          <p:nvPr/>
        </p:nvSpPr>
        <p:spPr>
          <a:xfrm>
            <a:off x="4901184" y="38633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120640" y="3863340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8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(true) {</a:t>
            </a:r>
            <a:r>
              <a:rPr lang="en-US" sz="980" dirty="0">
                <a:solidFill>
                  <a:srgbClr val="FDA4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console.log('forever!’); }</a:t>
            </a:r>
            <a:endParaRPr lang="en-US" sz="980" dirty="0"/>
          </a:p>
        </p:txBody>
      </p:sp>
      <p:sp>
        <p:nvSpPr>
          <p:cNvPr id="76" name="Text 74"/>
          <p:cNvSpPr/>
          <p:nvPr/>
        </p:nvSpPr>
        <p:spPr>
          <a:xfrm>
            <a:off x="4901184" y="411480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120640" y="4114800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78" name="Text 76"/>
          <p:cNvSpPr/>
          <p:nvPr/>
        </p:nvSpPr>
        <p:spPr>
          <a:xfrm>
            <a:off x="4901184" y="43662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120640" y="4366260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A10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forgot to update count!</a:t>
            </a:r>
            <a:endParaRPr lang="en-US" sz="980" dirty="0"/>
          </a:p>
        </p:txBody>
      </p:sp>
      <p:sp>
        <p:nvSpPr>
          <p:cNvPr id="80" name="Text 78"/>
          <p:cNvSpPr/>
          <p:nvPr/>
        </p:nvSpPr>
        <p:spPr>
          <a:xfrm>
            <a:off x="4901184" y="461772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120640" y="4617720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← crashes the browser</a:t>
            </a:r>
            <a:endParaRPr lang="en-US" sz="980" dirty="0"/>
          </a:p>
        </p:txBody>
      </p:sp>
      <p:sp>
        <p:nvSpPr>
          <p:cNvPr id="82" name="Shape 80"/>
          <p:cNvSpPr/>
          <p:nvPr/>
        </p:nvSpPr>
        <p:spPr>
          <a:xfrm>
            <a:off x="4773168" y="4261104"/>
            <a:ext cx="4041648" cy="822960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4773168" y="4261104"/>
            <a:ext cx="4041648" cy="502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4956048" y="433425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B4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 &amp; continue preview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828032" y="4572000"/>
            <a:ext cx="3913632" cy="585216"/>
          </a:xfrm>
          <a:prstGeom prst="rect">
            <a:avLst/>
          </a:prstGeom>
          <a:solidFill>
            <a:srgbClr val="020A04"/>
          </a:solidFill>
          <a:ln w="12700">
            <a:solidFill>
              <a:srgbClr val="0F2D1C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4828032" y="4572000"/>
            <a:ext cx="3913632" cy="256032"/>
          </a:xfrm>
          <a:prstGeom prst="rect">
            <a:avLst/>
          </a:prstGeom>
          <a:solidFill>
            <a:srgbClr val="020602"/>
          </a:solidFill>
          <a:ln w="12700">
            <a:solidFill>
              <a:srgbClr val="0206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4946904" y="4654296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5093208" y="4654296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5239512" y="4654296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5394960" y="4617720"/>
            <a:ext cx="3182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F46"/>
                </a:solidFill>
              </a:rPr>
              <a:t>script.js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4901184" y="487375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5148072" y="473659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break;    // exit loop immediately</a:t>
            </a:r>
            <a:endParaRPr lang="en-US" sz="980" dirty="0"/>
          </a:p>
        </p:txBody>
      </p:sp>
      <p:sp>
        <p:nvSpPr>
          <p:cNvPr id="94" name="Text 92"/>
          <p:cNvSpPr/>
          <p:nvPr/>
        </p:nvSpPr>
        <p:spPr>
          <a:xfrm>
            <a:off x="5120640" y="491947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continue; // skip this iteration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C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ECFDF5"/>
                </a:solidFill>
              </a:rPr>
              <a:t>TOPIC 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break, continue &amp; Loop Patterns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loop execution precisely. Know when to exit early and when to skip.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4059936"/>
          </a:xfrm>
          <a:prstGeom prst="rect">
            <a:avLst/>
          </a:prstGeom>
          <a:solidFill>
            <a:srgbClr val="020A04"/>
          </a:solidFill>
          <a:ln w="12700">
            <a:solidFill>
              <a:srgbClr val="0F2D1C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224528" cy="256032"/>
          </a:xfrm>
          <a:prstGeom prst="rect">
            <a:avLst/>
          </a:prstGeom>
          <a:solidFill>
            <a:srgbClr val="020602"/>
          </a:solidFill>
          <a:ln w="12700">
            <a:solidFill>
              <a:srgbClr val="0206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4930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F46"/>
                </a:solidFill>
              </a:rPr>
              <a:t>script.js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break — exit loop early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i=0; i&lt;10; i++) {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 === 5) break;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console.log(i); // 0 1 2 3 4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42087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continue — skip iteration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267233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i=0; i&lt;6; i++) {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292379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(i%2===0) continue; // skip evens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17525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console.log(i); // 1 3 5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42671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40370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" y="3571385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Find first match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6656" y="3822845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AB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nums=[4,8,15,16,23];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6656" y="4074305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found=-1;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676656" y="4325765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n of nums) {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676656" y="4577225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if(n&gt;10){found=n;break;}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676656" y="4828685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found = 15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4773168" y="969264"/>
            <a:ext cx="2029968" cy="1956816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773168" y="969264"/>
            <a:ext cx="2029968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882896" y="10607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all numbers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82896" y="135331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sum=0;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882896" y="160934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nums=[5,8,3,12,7];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882896" y="186537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n of nums) {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882896" y="212140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 += n;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882896" y="2377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882896" y="263347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sum = 35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912864" y="969264"/>
            <a:ext cx="2029968" cy="1956816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6912864" y="969264"/>
            <a:ext cx="2029968" cy="5029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7022592" y="10607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item in array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022592" y="135331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B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users=['Ana','Ben','Carlos'];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022592" y="160934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B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found=false;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022592" y="186537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u of users) {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022592" y="212140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if(u==='Ben'){found=true;break;}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022592" y="2377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7022592" y="263347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found = true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773168" y="3054096"/>
            <a:ext cx="2029968" cy="1956816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4773168" y="3054096"/>
            <a:ext cx="2029968" cy="502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4882896" y="314553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 even numbers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4882896" y="343814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nums=[1,2,3,4,5,6];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4882896" y="369417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evens=[];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4882896" y="395020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n of nums) {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4882896" y="42062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if(n%2!==0) continue;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4882896" y="446227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evens.push(n);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4882896" y="471830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[2,4,6]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6912864" y="3054096"/>
            <a:ext cx="2029968" cy="1956816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6912864" y="3054096"/>
            <a:ext cx="2029968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7022592" y="314553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string from array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7022592" y="343814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words=['JS','is','fun'];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7022592" y="369417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sentence='';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7022592" y="395020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w of words) {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7022592" y="42062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sentence += w+' ';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7022592" y="446227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7022592" y="471830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'JS is fun '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C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50C08"/>
                </a:solidFill>
              </a:rPr>
              <a:t>LIVE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83664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C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the Grade Calculator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0350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student scores, assigns grades with if/else, reports feedback with switch.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315968" cy="4059936"/>
          </a:xfrm>
          <a:prstGeom prst="rect">
            <a:avLst/>
          </a:prstGeom>
          <a:solidFill>
            <a:srgbClr val="020A04"/>
          </a:solidFill>
          <a:ln w="12700">
            <a:solidFill>
              <a:srgbClr val="0F2D1C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969264"/>
            <a:ext cx="4315968" cy="256032"/>
          </a:xfrm>
          <a:prstGeom prst="rect">
            <a:avLst/>
          </a:prstGeom>
          <a:solidFill>
            <a:srgbClr val="020602"/>
          </a:solidFill>
          <a:ln w="12700">
            <a:solidFill>
              <a:srgbClr val="0206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0976" y="1014984"/>
            <a:ext cx="3584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F46"/>
                </a:solidFill>
              </a:rPr>
              <a:t>script.js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AB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students = [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{name:'Rahul', score:92},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{name:'Priya', score:85},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{name:'Arjun', score:73},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{name:'Meera', score:60},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{name:'Dev',   score:45},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AB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85800" y="29626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getGrade(score) {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5800" y="32141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(score&gt;=90) return 'A';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5800" y="34655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(score&gt;=80) return 'B';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5800" y="37170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(score&gt;=70) return 'C';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5800" y="39684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(score&gt;=60) return 'D';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85800" y="42199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'F';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5800" y="44714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676656" y="50429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676656" y="4666053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total=0, passCount=0;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4799294" y="1014984"/>
            <a:ext cx="3931920" cy="4027932"/>
          </a:xfrm>
          <a:prstGeom prst="rect">
            <a:avLst/>
          </a:prstGeom>
          <a:solidFill>
            <a:srgbClr val="020A04"/>
          </a:solidFill>
          <a:ln w="12700">
            <a:solidFill>
              <a:srgbClr val="0F2D1C"/>
            </a:solidFill>
            <a:prstDash val="solid"/>
          </a:ln>
          <a:effectLst>
            <a:outerShdw blurRad="2286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828032" y="969264"/>
            <a:ext cx="3931920" cy="256032"/>
          </a:xfrm>
          <a:prstGeom prst="rect">
            <a:avLst/>
          </a:prstGeom>
          <a:solidFill>
            <a:srgbClr val="020602"/>
          </a:solidFill>
          <a:ln w="12700">
            <a:solidFill>
              <a:srgbClr val="02060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946904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5093208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5239512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394960" y="101498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65F46"/>
                </a:solidFill>
              </a:rPr>
              <a:t>script.js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901184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20640" y="12710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s of students) {</a:t>
            </a:r>
            <a:endParaRPr lang="en-US" sz="980" dirty="0"/>
          </a:p>
        </p:txBody>
      </p:sp>
      <p:sp>
        <p:nvSpPr>
          <p:cNvPr id="55" name="Text 53"/>
          <p:cNvSpPr/>
          <p:nvPr/>
        </p:nvSpPr>
        <p:spPr>
          <a:xfrm>
            <a:off x="4901184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120640" y="15224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grade=getGrade(s.score);</a:t>
            </a:r>
            <a:endParaRPr lang="en-US" sz="980" dirty="0"/>
          </a:p>
        </p:txBody>
      </p:sp>
      <p:sp>
        <p:nvSpPr>
          <p:cNvPr id="57" name="Text 55"/>
          <p:cNvSpPr/>
          <p:nvPr/>
        </p:nvSpPr>
        <p:spPr>
          <a:xfrm>
            <a:off x="4901184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120640" y="177393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+= s.score;</a:t>
            </a:r>
            <a:endParaRPr lang="en-US" sz="980" dirty="0"/>
          </a:p>
        </p:txBody>
      </p:sp>
      <p:sp>
        <p:nvSpPr>
          <p:cNvPr id="59" name="Text 57"/>
          <p:cNvSpPr/>
          <p:nvPr/>
        </p:nvSpPr>
        <p:spPr>
          <a:xfrm>
            <a:off x="4901184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120640" y="20253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if(s.score&gt;=60) passCount++;</a:t>
            </a:r>
            <a:endParaRPr lang="en-US" sz="980" dirty="0"/>
          </a:p>
        </p:txBody>
      </p:sp>
      <p:sp>
        <p:nvSpPr>
          <p:cNvPr id="61" name="Text 59"/>
          <p:cNvSpPr/>
          <p:nvPr/>
        </p:nvSpPr>
        <p:spPr>
          <a:xfrm>
            <a:off x="4901184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120640" y="227685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63" name="Text 61"/>
          <p:cNvSpPr/>
          <p:nvPr/>
        </p:nvSpPr>
        <p:spPr>
          <a:xfrm>
            <a:off x="4901184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102352" y="2263140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AB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switch (grade) {</a:t>
            </a:r>
            <a:endParaRPr lang="en-US" sz="980" dirty="0"/>
          </a:p>
        </p:txBody>
      </p:sp>
      <p:sp>
        <p:nvSpPr>
          <p:cNvPr id="65" name="Text 63"/>
          <p:cNvSpPr/>
          <p:nvPr/>
        </p:nvSpPr>
        <p:spPr>
          <a:xfrm>
            <a:off x="4901184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102352" y="2514600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'A': msg='Excellent!'; break;</a:t>
            </a:r>
            <a:endParaRPr lang="en-US" sz="980" dirty="0"/>
          </a:p>
        </p:txBody>
      </p:sp>
      <p:sp>
        <p:nvSpPr>
          <p:cNvPr id="67" name="Text 65"/>
          <p:cNvSpPr/>
          <p:nvPr/>
        </p:nvSpPr>
        <p:spPr>
          <a:xfrm>
            <a:off x="4901184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102352" y="2766060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'B': msg='Great!'; break;</a:t>
            </a:r>
            <a:endParaRPr lang="en-US" sz="980" dirty="0"/>
          </a:p>
        </p:txBody>
      </p:sp>
      <p:sp>
        <p:nvSpPr>
          <p:cNvPr id="69" name="Text 67"/>
          <p:cNvSpPr/>
          <p:nvPr/>
        </p:nvSpPr>
        <p:spPr>
          <a:xfrm>
            <a:off x="4901184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102352" y="3017520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'C': msg='Good'; break;</a:t>
            </a:r>
            <a:endParaRPr lang="en-US" sz="980" dirty="0"/>
          </a:p>
        </p:txBody>
      </p:sp>
      <p:sp>
        <p:nvSpPr>
          <p:cNvPr id="71" name="Text 69"/>
          <p:cNvSpPr/>
          <p:nvPr/>
        </p:nvSpPr>
        <p:spPr>
          <a:xfrm>
            <a:off x="4901184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102352" y="3268980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  msg='Study more'; break;</a:t>
            </a:r>
            <a:endParaRPr lang="en-US" sz="980" dirty="0"/>
          </a:p>
        </p:txBody>
      </p:sp>
      <p:sp>
        <p:nvSpPr>
          <p:cNvPr id="73" name="Text 71"/>
          <p:cNvSpPr/>
          <p:nvPr/>
        </p:nvSpPr>
        <p:spPr>
          <a:xfrm>
            <a:off x="4901184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102352" y="3520440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AB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80" dirty="0"/>
          </a:p>
        </p:txBody>
      </p:sp>
      <p:sp>
        <p:nvSpPr>
          <p:cNvPr id="75" name="Text 73"/>
          <p:cNvSpPr/>
          <p:nvPr/>
        </p:nvSpPr>
        <p:spPr>
          <a:xfrm>
            <a:off x="4901184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120640" y="40370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77" name="Text 75"/>
          <p:cNvSpPr/>
          <p:nvPr/>
        </p:nvSpPr>
        <p:spPr>
          <a:xfrm>
            <a:off x="4901184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091902" y="373532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console.log(`${s.name}: ${grade} - ${msg}`);</a:t>
            </a:r>
            <a:endParaRPr lang="en-US" sz="980" dirty="0"/>
          </a:p>
        </p:txBody>
      </p:sp>
      <p:sp>
        <p:nvSpPr>
          <p:cNvPr id="79" name="Text 77"/>
          <p:cNvSpPr/>
          <p:nvPr/>
        </p:nvSpPr>
        <p:spPr>
          <a:xfrm>
            <a:off x="4901184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091902" y="398678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81" name="Text 79"/>
          <p:cNvSpPr/>
          <p:nvPr/>
        </p:nvSpPr>
        <p:spPr>
          <a:xfrm>
            <a:off x="4901184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3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120640" y="479145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80" dirty="0"/>
          </a:p>
        </p:txBody>
      </p:sp>
      <p:sp>
        <p:nvSpPr>
          <p:cNvPr id="84" name="Text 82"/>
          <p:cNvSpPr/>
          <p:nvPr/>
        </p:nvSpPr>
        <p:spPr>
          <a:xfrm>
            <a:off x="5102352" y="4240857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avg=total/students.length;</a:t>
            </a:r>
            <a:endParaRPr lang="en-US" sz="980" dirty="0"/>
          </a:p>
        </p:txBody>
      </p:sp>
      <p:sp>
        <p:nvSpPr>
          <p:cNvPr id="86" name="Text 84"/>
          <p:cNvSpPr/>
          <p:nvPr/>
        </p:nvSpPr>
        <p:spPr>
          <a:xfrm>
            <a:off x="5102352" y="4492317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AB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console.log(`Avg: ${avg.toFixed(1)}`);</a:t>
            </a:r>
            <a:endParaRPr lang="en-US" sz="980" dirty="0"/>
          </a:p>
        </p:txBody>
      </p:sp>
      <p:sp>
        <p:nvSpPr>
          <p:cNvPr id="88" name="Text 86"/>
          <p:cNvSpPr/>
          <p:nvPr/>
        </p:nvSpPr>
        <p:spPr>
          <a:xfrm>
            <a:off x="5102352" y="4743777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console.log(`Pass: ${passCount}/5`);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C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50C08"/>
                </a:solidFill>
              </a:rPr>
              <a:t>DAY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83664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C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 Calculator &amp; Report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loops, if/else, switch and arrays into a complete student report system.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896112"/>
            <a:ext cx="2029968" cy="841248"/>
          </a:xfrm>
          <a:prstGeom prst="rect">
            <a:avLst/>
          </a:prstGeom>
          <a:solidFill>
            <a:srgbClr val="102018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4048" y="896112"/>
            <a:ext cx="2029968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4048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84048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</a:rPr>
              <a:t>Students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96896" y="896112"/>
            <a:ext cx="2029968" cy="841248"/>
          </a:xfrm>
          <a:prstGeom prst="rect">
            <a:avLst/>
          </a:prstGeom>
          <a:solidFill>
            <a:srgbClr val="102018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596896" y="896112"/>
            <a:ext cx="2029968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96896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96896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</a:rPr>
              <a:t>for...of loop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9744" y="896112"/>
            <a:ext cx="2029968" cy="841248"/>
          </a:xfrm>
          <a:prstGeom prst="rect">
            <a:avLst/>
          </a:prstGeom>
          <a:solidFill>
            <a:srgbClr val="102018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809744" y="896112"/>
            <a:ext cx="2029968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09744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809744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</a:rPr>
              <a:t>switch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22592" y="896112"/>
            <a:ext cx="2029968" cy="841248"/>
          </a:xfrm>
          <a:prstGeom prst="rect">
            <a:avLst/>
          </a:prstGeom>
          <a:solidFill>
            <a:srgbClr val="102018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022592" y="896112"/>
            <a:ext cx="2029968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022592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022592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</a:rPr>
              <a:t>if/else blocks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1865376"/>
            <a:ext cx="5047488" cy="3218688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84048" y="1865376"/>
            <a:ext cx="5047488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66928" y="1938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Checklist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2404872"/>
            <a:ext cx="201168" cy="201168"/>
          </a:xfrm>
          <a:prstGeom prst="rect">
            <a:avLst/>
          </a:prstGeom>
          <a:solidFill>
            <a:srgbClr val="050C0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77824" y="237744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Create students array with 5 objects (name + score)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66928" y="2679192"/>
            <a:ext cx="201168" cy="201168"/>
          </a:xfrm>
          <a:prstGeom prst="rect">
            <a:avLst/>
          </a:prstGeom>
          <a:solidFill>
            <a:srgbClr val="050C0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77824" y="265176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Write getGrade(score) with if/else — returns A/B/C/D/F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66928" y="2953512"/>
            <a:ext cx="201168" cy="201168"/>
          </a:xfrm>
          <a:prstGeom prst="rect">
            <a:avLst/>
          </a:prstGeom>
          <a:solidFill>
            <a:srgbClr val="050C0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77824" y="292608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Write getMessage(grade) with switch — returns feedback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566928" y="3227832"/>
            <a:ext cx="201168" cy="201168"/>
          </a:xfrm>
          <a:prstGeom prst="rect">
            <a:avLst/>
          </a:prstGeom>
          <a:solidFill>
            <a:srgbClr val="050C0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77824" y="320040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Loop through students array with for...of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566928" y="3502152"/>
            <a:ext cx="201168" cy="201168"/>
          </a:xfrm>
          <a:prstGeom prst="rect">
            <a:avLst/>
          </a:prstGeom>
          <a:solidFill>
            <a:srgbClr val="050C0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77824" y="347472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Inside loop: call getGrade() and getMessage() for each student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66928" y="3776472"/>
            <a:ext cx="201168" cy="201168"/>
          </a:xfrm>
          <a:prstGeom prst="rect">
            <a:avLst/>
          </a:prstGeom>
          <a:solidFill>
            <a:srgbClr val="050C0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77824" y="374904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Accumulate total score using += inside the loop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566928" y="4050792"/>
            <a:ext cx="201168" cy="201168"/>
          </a:xfrm>
          <a:prstGeom prst="rect">
            <a:avLst/>
          </a:prstGeom>
          <a:solidFill>
            <a:srgbClr val="050C0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77824" y="402336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Count passing students (score &gt;= 60) with if + counter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566928" y="4325112"/>
            <a:ext cx="201168" cy="201168"/>
          </a:xfrm>
          <a:prstGeom prst="rect">
            <a:avLst/>
          </a:prstGeom>
          <a:solidFill>
            <a:srgbClr val="050C0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77824" y="429768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Calculate &amp; print class average after the loop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566928" y="4599432"/>
            <a:ext cx="201168" cy="201168"/>
          </a:xfrm>
          <a:prstGeom prst="rect">
            <a:avLst/>
          </a:prstGeom>
          <a:solidFill>
            <a:srgbClr val="050C0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77824" y="457200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Print pass/fail report: 'X out of 5 students passed'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566928" y="4873752"/>
            <a:ext cx="201168" cy="201168"/>
          </a:xfrm>
          <a:prstGeom prst="rect">
            <a:avLst/>
          </a:prstGeom>
          <a:solidFill>
            <a:srgbClr val="050C08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77824" y="484632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Find top scorer using if(score &gt; highest) inside the loop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5614416" y="1865376"/>
            <a:ext cx="3236976" cy="3218688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797296" y="1938528"/>
            <a:ext cx="2871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705856" y="2249424"/>
            <a:ext cx="3054096" cy="2706624"/>
          </a:xfrm>
          <a:prstGeom prst="rect">
            <a:avLst/>
          </a:prstGeom>
          <a:solidFill>
            <a:srgbClr val="020A0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797296" y="232257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Grade Report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797296" y="257860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Rahul:  92 → A Excellent!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797296" y="283464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Priya:  85 → B Great!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797296" y="309067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B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Arjun:  73 → C Good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797296" y="334670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Meera:  60 → D Study more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797296" y="3602736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Dev:    45 → F Study more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797296" y="3858768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797296" y="411480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Average: 71.0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797296" y="437083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rate: 4 / 5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797296" y="462686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AB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scorer: Rahul (92)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C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C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these 5 before Day 13 — Functions Deep Dive!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1042416"/>
            <a:ext cx="5760720" cy="640080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84048" y="1042416"/>
            <a:ext cx="50292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30352" y="1197864"/>
            <a:ext cx="438912" cy="310896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30352" y="1197864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" y="1133856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 runs code based on conditions. Truthy/falsy: empty string, 0, null, undefined, NaN, false are all falsy.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1792224"/>
            <a:ext cx="5760720" cy="640080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84048" y="1792224"/>
            <a:ext cx="50292" cy="64008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30352" y="1947672"/>
            <a:ext cx="438912" cy="310896"/>
          </a:xfrm>
          <a:prstGeom prst="rect">
            <a:avLst/>
          </a:prstGeom>
          <a:solidFill>
            <a:srgbClr val="EAB308">
              <a:alpha val="18000"/>
            </a:srgbClr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30352" y="1947672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B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" y="1883664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compares ONE value === against multiple cases. Always add break! default is the fallback case.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2542032"/>
            <a:ext cx="5760720" cy="640080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84048" y="2542032"/>
            <a:ext cx="50292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30352" y="2697480"/>
            <a:ext cx="438912" cy="310896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30352" y="2697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" y="2633472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for(init;condition;update) for known count. for...of = array values. for...in = object keys. Nested loops = rows×cols.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" y="3291840"/>
            <a:ext cx="5760720" cy="640080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84048" y="3291840"/>
            <a:ext cx="50292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30352" y="3447288"/>
            <a:ext cx="438912" cy="310896"/>
          </a:xfrm>
          <a:prstGeom prst="rect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30352" y="3447288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" y="3383280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loops until false. do...while runs at least once. ALWAYS update the variable to avoid infinite loops!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4048" y="4041648"/>
            <a:ext cx="5760720" cy="640080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" y="4041648"/>
            <a:ext cx="50292" cy="6400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30352" y="4197096"/>
            <a:ext cx="438912" cy="310896"/>
          </a:xfrm>
          <a:prstGeom prst="rect">
            <a:avLst/>
          </a:prstGeom>
          <a:solidFill>
            <a:srgbClr val="A855F7">
              <a:alpha val="18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30352" y="4197096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" y="4133088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exits the loop immediately. continue skips to the next iteration. Both work in all loop types.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27648" y="1042416"/>
            <a:ext cx="2542032" cy="3913632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327648" y="1042416"/>
            <a:ext cx="2542032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510528" y="1115568"/>
            <a:ext cx="21762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Homework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510528" y="1444752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before Day 13: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510528" y="1956816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510528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0C08"/>
                </a:solidFill>
              </a:rPr>
              <a:t>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12280" y="19202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1–20, replace 3s='Fizz', 5s='Buzz' (FizzBuzz!)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10528" y="2468880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510528" y="246888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0C08"/>
                </a:solidFill>
              </a:rPr>
              <a:t>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12280" y="2432304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array and find the maximum value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10528" y="2980944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510528" y="298094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0C08"/>
                </a:solidFill>
              </a:rPr>
              <a:t>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12280" y="2944368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that counts vowels in a string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510528" y="3493008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510528" y="349300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0C08"/>
                </a:solidFill>
              </a:rPr>
              <a:t>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12280" y="345643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number guessing game with while loop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510528" y="400507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510528" y="400507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0C08"/>
                </a:solidFill>
              </a:rPr>
              <a:t>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12280" y="3968496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your grade calculator using a switch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510528" y="4517136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510528" y="45171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0C08"/>
                </a:solidFill>
              </a:rPr>
              <a:t>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812280" y="448056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grade report in the comments!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C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828800"/>
            <a:ext cx="5852160" cy="5852160"/>
          </a:xfrm>
          <a:prstGeom prst="ellipse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035040" y="2194560"/>
            <a:ext cx="4754880" cy="4754880"/>
          </a:xfrm>
          <a:prstGeom prst="ellipse">
            <a:avLst/>
          </a:prstGeom>
          <a:solidFill>
            <a:srgbClr val="22C55E">
              <a:alpha val="5000"/>
            </a:srgbClr>
          </a:solidFill>
          <a:ln w="12700">
            <a:solidFill>
              <a:srgbClr val="22C55E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274320"/>
            <a:ext cx="3657600" cy="438912"/>
          </a:xfrm>
          <a:prstGeom prst="rect">
            <a:avLst/>
          </a:prstGeom>
          <a:solidFill>
            <a:srgbClr val="10B981">
              <a:alpha val="14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0" y="2743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12 COMPLETE!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932688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Code Now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1444752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Thinks &amp; Repeats!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31520" y="2157984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if/else, switch, for, while, break, continue — your programs can now make decisions.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2724912"/>
            <a:ext cx="6400800" cy="128016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371600" y="2724912"/>
            <a:ext cx="2773680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044696" y="268833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71600" y="2889504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 / 30  •  40% complete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401568"/>
            <a:ext cx="7315200" cy="1389888"/>
          </a:xfrm>
          <a:prstGeom prst="rect">
            <a:avLst/>
          </a:prstGeom>
          <a:solidFill>
            <a:srgbClr val="0A1810"/>
          </a:solidFill>
          <a:ln w="12700">
            <a:solidFill>
              <a:srgbClr val="0F2D1C"/>
            </a:solidFill>
            <a:prstDash val="solid"/>
          </a:ln>
          <a:effectLst>
            <a:outerShdw blurRad="889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914400" y="3401568"/>
            <a:ext cx="7315200" cy="5029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97280" y="34930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Day 13: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3785616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CFDF5"/>
                </a:solidFill>
                <a:latin typeface="Consolas" pitchFamily="34" charset="0"/>
              </a:rPr>
              <a:t>Dom-Manipulation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097280" y="4224528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Html Elements, Events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2333</Words>
  <Application>Microsoft Office PowerPoint</Application>
  <PresentationFormat>On-screen Show (16:9)</PresentationFormat>
  <Paragraphs>485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Ajay Solanki</cp:lastModifiedBy>
  <cp:revision>4</cp:revision>
  <dcterms:created xsi:type="dcterms:W3CDTF">2026-06-15T17:39:15Z</dcterms:created>
  <dcterms:modified xsi:type="dcterms:W3CDTF">2026-06-17T05:15:06Z</dcterms:modified>
</cp:coreProperties>
</file>