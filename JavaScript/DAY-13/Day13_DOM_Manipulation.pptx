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8B5CF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1828800"/>
          </a:xfrm>
          <a:prstGeom prst="ellipse">
            <a:avLst/>
          </a:prstGeom>
          <a:solidFill>
            <a:srgbClr val="22D3EE">
              <a:alpha val="3000"/>
            </a:srgbClr>
          </a:solidFill>
          <a:ln w="12700">
            <a:solidFill>
              <a:srgbClr val="22D3EE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EF2FF"/>
                </a:solidFill>
              </a:rPr>
              <a:t>DAY 13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6583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Manipulation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JavaScript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HTML elements, change content, update styles, respond to events — all with JS.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2029968" cy="365760"/>
          </a:xfrm>
          <a:prstGeom prst="rect">
            <a:avLst/>
          </a:prstGeom>
          <a:solidFill>
            <a:srgbClr val="121230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2999232"/>
            <a:ext cx="2029968" cy="365760"/>
          </a:xfrm>
          <a:prstGeom prst="rect">
            <a:avLst/>
          </a:prstGeom>
          <a:solidFill>
            <a:srgbClr val="12123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33472" y="29992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Content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2999232"/>
            <a:ext cx="2029968" cy="365760"/>
          </a:xfrm>
          <a:prstGeom prst="rect">
            <a:avLst/>
          </a:prstGeom>
          <a:solidFill>
            <a:srgbClr val="121230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29992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Styles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86016" y="29992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39502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Core Topics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84832" y="35295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84832" y="39502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DOM Methods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35295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6F1"/>
                </a:solidFill>
                <a:latin typeface="Consolas" pitchFamily="34" charset="0"/>
              </a:rPr>
              <a:t>One Shot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12464" y="39502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Video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0096" y="35295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0096" y="39502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Todo App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059168" y="749808"/>
            <a:ext cx="1883664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78040" y="83210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24344" y="83210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470648" y="83210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626096" y="79552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1051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51776" y="10515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element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7132320" y="1303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51776" y="13030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713232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51776" y="15544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.getElementById('btn');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7132320" y="1805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51776" y="18059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7132320" y="20574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51776" y="20574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content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7132320" y="23088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51776" y="23088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btn.textContent =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7132320" y="25603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51776" y="25603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'Click Me!';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7132320" y="28117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51776" y="28117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7132320" y="3063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51776" y="30632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CSS class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7132320" y="33147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51776" y="33147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btn.classList.add(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7132320" y="35661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51776" y="35661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'active');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7132320" y="38176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51776" y="38176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7132320" y="4069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51776" y="40690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 listener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7132320" y="43205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51776" y="43205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7132320" y="45720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351776" y="45720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'click', () =&gt; {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7132320" y="48234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351776" y="48234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alert('Clicked!');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Day 13 •  DOM Manipulation in JavaScript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the DOM?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Model, tree structure, nodes, DevTools Elements tab, document object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6366F1">
              <a:alpha val="16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</a:rPr>
              <a:t>~6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Selecting Elements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querySelector, querySelectorAll, getElementsByClassName, NodeList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</a:rPr>
              <a:t>~8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84CC16">
              <a:alpha val="18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Modifying Content &amp; Attributes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textContent, innerHTML, setAttribute, getAttribute, dataset, value, classList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84CC16">
              <a:alpha val="16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</a:rPr>
              <a:t>~9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Modifying Styles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element.style, classList.add/remove/toggle/contains, creating &amp; inserting elements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F59E0B">
              <a:alpha val="16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~8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Listeners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addEventListener, event object, click/input/submit/keydown, event delegation, removeEventListener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F43F5E">
              <a:alpha val="16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</a:rPr>
              <a:t>~9 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6928" y="491947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PROJECT: Interactive Todo App — add, complete and delete tasks using DOM manipulation + event listeners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EF2FF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the DOM?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is the browser's live representation of your HTML as a tree of objects JavaScript can read and modify.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→ DOM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609344"/>
            <a:ext cx="9144" cy="29260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51760" y="2084832"/>
            <a:ext cx="822960" cy="29260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51760" y="2084832"/>
            <a:ext cx="859536" cy="29260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 flipH="1">
            <a:off x="1014984" y="2761814"/>
            <a:ext cx="73152" cy="87749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H="1">
            <a:off x="3177540" y="2560320"/>
            <a:ext cx="516636" cy="341104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94176" y="2560320"/>
            <a:ext cx="91440" cy="29260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flipH="1">
            <a:off x="2552483" y="2596733"/>
            <a:ext cx="719763" cy="345186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361765" y="3108960"/>
            <a:ext cx="9144" cy="292608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163824" y="3149781"/>
            <a:ext cx="36576" cy="205414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944983" y="3127248"/>
            <a:ext cx="91440" cy="234152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180190" y="1328166"/>
            <a:ext cx="914400" cy="256032"/>
          </a:xfrm>
          <a:prstGeom prst="round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73660" y="137029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67128" y="1901952"/>
            <a:ext cx="822960" cy="256032"/>
          </a:xfrm>
          <a:prstGeom prst="round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167128" y="1901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4944" y="2508069"/>
            <a:ext cx="804672" cy="256032"/>
          </a:xfrm>
          <a:prstGeom prst="round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" y="2548563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73552" y="2377440"/>
            <a:ext cx="804672" cy="256032"/>
          </a:xfrm>
          <a:prstGeom prst="round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73552" y="237744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5260" y="3662825"/>
            <a:ext cx="804672" cy="256032"/>
          </a:xfrm>
          <a:prstGeom prst="roundRect">
            <a:avLst/>
          </a:prstGeom>
          <a:solidFill>
            <a:srgbClr val="84CC16">
              <a:alpha val="2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9134" y="365760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92808" y="2889504"/>
            <a:ext cx="658368" cy="256032"/>
          </a:xfrm>
          <a:prstGeom prst="roundRect">
            <a:avLst/>
          </a:prstGeom>
          <a:solidFill>
            <a:srgbClr val="84CC16">
              <a:alpha val="2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938528" y="2873829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37253" y="2893749"/>
            <a:ext cx="621792" cy="256032"/>
          </a:xfrm>
          <a:prstGeom prst="roundRect">
            <a:avLst/>
          </a:prstGeom>
          <a:solidFill>
            <a:srgbClr val="84CC16">
              <a:alpha val="2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78470" y="285701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04042" y="2871216"/>
            <a:ext cx="621792" cy="256032"/>
          </a:xfrm>
          <a:prstGeom prst="roundRect">
            <a:avLst/>
          </a:prstGeom>
          <a:solidFill>
            <a:srgbClr val="84CC16">
              <a:alpha val="2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73602" y="2832191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69295" y="3390138"/>
            <a:ext cx="822960" cy="256032"/>
          </a:xfrm>
          <a:prstGeom prst="round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869295" y="3424917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88920" y="3380994"/>
            <a:ext cx="731520" cy="256032"/>
          </a:xfrm>
          <a:prstGeom prst="round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88920" y="3406793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9233" y="3380994"/>
            <a:ext cx="621792" cy="256032"/>
          </a:xfrm>
          <a:prstGeom prst="roundRect">
            <a:avLst/>
          </a:prstGeom>
          <a:solidFill>
            <a:srgbClr val="84CC16">
              <a:alpha val="2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666091" y="339242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" y="4224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Element • Text • Attribute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44256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tag = Element Node. Text inside = Text Node.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73168" y="969264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73168" y="969264"/>
            <a:ext cx="50292" cy="5120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901184" y="1060704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19472" y="106070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19088" y="1042416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of the DOM. All DOM methods start here. document = the entire HTML page.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773168" y="1554480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1554480"/>
            <a:ext cx="50292" cy="5120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645920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19472" y="164592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document.body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19088" y="1627632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&lt;body&gt;. You can change styles, add children, etc.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773168" y="2139696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73168" y="2139696"/>
            <a:ext cx="50292" cy="5120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01184" y="2231136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19472" y="2231136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document.head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19088" y="2212848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&lt;head&gt;. Add meta tags, stylesheets dynamically.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4773168" y="2724912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724912"/>
            <a:ext cx="50292" cy="5120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901184" y="2816352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19472" y="28163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document.title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19088" y="2798064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Get/set the page title shown in browser tab.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773168" y="3310128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3310128"/>
            <a:ext cx="50292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901184" y="3401568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19472" y="3401568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document.URL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419088" y="3383280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current page URL as a string.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4773168" y="3895344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895344"/>
            <a:ext cx="50292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901184" y="3986784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19472" y="3986784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document.createElement()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19088" y="3968496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HTML element in memory — not in the page yet.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4773168" y="4480560"/>
            <a:ext cx="4041648" cy="512064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773168" y="4480560"/>
            <a:ext cx="50292" cy="5120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901184" y="4572000"/>
            <a:ext cx="1444752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19472" y="4572000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419088" y="4553712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selector — CSS syntax, returns first match.</a:t>
            </a:r>
            <a:endParaRPr lang="en-US" sz="880" dirty="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AD4FD20B-A721-CFE4-3488-7A3909158B11}"/>
              </a:ext>
            </a:extLst>
          </p:cNvPr>
          <p:cNvSpPr/>
          <p:nvPr/>
        </p:nvSpPr>
        <p:spPr>
          <a:xfrm flipH="1">
            <a:off x="1357230" y="2066543"/>
            <a:ext cx="822960" cy="457037"/>
          </a:xfrm>
          <a:prstGeom prst="line">
            <a:avLst/>
          </a:prstGeom>
          <a:noFill/>
          <a:ln w="12700">
            <a:solidFill>
              <a:srgbClr val="1E1B4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60F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Selecting Elements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change an element until you select it. These are your selection tools.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ID (returns 1 element)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.getElementById('myBtn');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selector (1 element)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document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.querySelector('h1');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document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.querySelector('.card');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first = document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.querySelector('#nav a');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selector (ALL matches)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.querySelectorAll('.item');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042416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19472" y="1042416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getElementById(id)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528816" y="102412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Returns single element by id. Use when you have id="name".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1490472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73168" y="1490472"/>
            <a:ext cx="50292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01184" y="1563624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19472" y="156362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querySelector(css)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528816" y="15453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FIRST match using any CSS selector. Most versatile — use this most.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2011680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011680"/>
            <a:ext cx="50292" cy="43891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901184" y="2084832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19472" y="208483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querySelectorAll(css)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28816" y="20665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NodeList of ALL matches. Use .forEach() or Array.from() to loop.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73168" y="2532888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2532888"/>
            <a:ext cx="5029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901184" y="2606040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19472" y="260604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getElementsByClassName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528816" y="258775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live HTMLCollection by class name. Less used — prefer querySelectorAll.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73168" y="3054096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054096"/>
            <a:ext cx="50292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901184" y="3127248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19472" y="312724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getElementsByTagName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528816" y="310896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live HTMLCollection by tag. e.g. document.getElementsByTagName('p')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73168" y="3575304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773168" y="3575304"/>
            <a:ext cx="50292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901184" y="3648456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19472" y="3648456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closest(css)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528816" y="363016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up the DOM from element to find nearest matching ancestor.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4096512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4096512"/>
            <a:ext cx="50292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901184" y="4169664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919472" y="416966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528816" y="415137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el.children — all direct child elements. el.firstElementChild, lastElementChild.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73168" y="4617720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4773168" y="4617720"/>
            <a:ext cx="50292" cy="43891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4901184" y="4690872"/>
            <a:ext cx="15544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919472" y="469087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parentElement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528816" y="467258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el.parentElement — the parent element. Use to traverse up the DOM tree.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60F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Modifying Content &amp; Attributes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selected, you can read and write any property of an element.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 document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.querySelector('h1');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Read/write TEXT content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el.textContent;    // get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'New Title';  // set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Read/write HTML content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el.innerHTML;      // get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"&lt;b&gt;Bold&lt;/b&gt;";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Attributes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el.getAttribute('href');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el.setAttribute('href','#');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el.removeAttribute('disabled');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2953512" y="4007685"/>
            <a:ext cx="13506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 value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2953512" y="4227140"/>
            <a:ext cx="2634778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input.value;  </a:t>
            </a:r>
          </a:p>
          <a:p>
            <a:pPr marL="0" indent="0">
              <a:buNone/>
            </a:pPr>
            <a:r>
              <a:rPr lang="en-US" sz="98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typed text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042416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19472" y="1042416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71616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Get/set plain text. Safe — strips all HTML tags. Use for user-facing text.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1490472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73168" y="1490472"/>
            <a:ext cx="5029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01184" y="1563624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19472" y="1563624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71616" y="154533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Get/set HTML string. Parses HTML tags. NEVER use with user input (XSS risk).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2011680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011680"/>
            <a:ext cx="50292" cy="43891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901184" y="2084832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19472" y="208483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innerText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071616" y="2066544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textContent but respects CSS visibility. Slower — use textContent instead.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73168" y="2532888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2532888"/>
            <a:ext cx="50292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901184" y="2606040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19472" y="260604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071616" y="2587752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Get/set value of input, textarea, select. What the user typed.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73168" y="3054096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054096"/>
            <a:ext cx="50292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901184" y="3127248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19472" y="312724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getAttribute()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071616" y="310896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HTML attribute: getAttribute("src"), getAttribute("data-id").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73168" y="3575304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773168" y="3575304"/>
            <a:ext cx="50292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901184" y="3648456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19472" y="3648456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setAttribute()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071616" y="363016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any attribute: setAttribute("src", "new.jpg"). Creates if doesn't exist.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4096512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4096512"/>
            <a:ext cx="50292" cy="43891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901184" y="4169664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919472" y="4169664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071616" y="4151376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data-* attributes: &lt;div data-id="5"&gt; → el.dataset.id === "5"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73168" y="4617720"/>
            <a:ext cx="4041648" cy="43891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4773168" y="4617720"/>
            <a:ext cx="50292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4901184" y="4690872"/>
            <a:ext cx="1097280" cy="256032"/>
          </a:xfrm>
          <a:prstGeom prst="rect">
            <a:avLst/>
          </a:prstGeom>
          <a:solidFill>
            <a:srgbClr val="03030A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919472" y="469087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071616" y="4672584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classList.add(), .remove(), .toggle(), .contains() — manage CSS classes cleanly.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6060F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Modifying Styles &amp; Creating Elements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appearance with classList or inline style, and build new elements from scratch.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classList — preferred way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el.classList.add('active');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el.classList.remove('hidden');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el.classList.toggle('open');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el.classList.contains('bold');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Inline style (camelCase)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= 'red';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el.style.fontSize = '2rem';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el.style.display = 'none';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el.style.backgroundColor =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'#6366F1';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75856" y="3732058"/>
            <a:ext cx="174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&amp; insert elements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23744" y="398351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2523744" y="423497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.createElement('li');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2523744" y="448643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li.textContent = 'New item';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2523744" y="473789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ul.appendChild(li);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7498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82896" y="104241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82896" y="104241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classList.add(cls)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82896" y="131673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CSS class. Best way to change styles — keeps CSS separate from JS.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73168" y="179222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73168" y="1792224"/>
            <a:ext cx="50292" cy="7498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882896" y="186537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82896" y="186537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classList.remove(cls)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82896" y="213969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CSS class. Element keeps other classes.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73168" y="261518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73168" y="2615184"/>
            <a:ext cx="50292" cy="7498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82896" y="268833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82896" y="268833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classList.toggle(cls)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82896" y="296265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not present, remove if present. Perfect for dark mode, menus.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73168" y="343814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3438144"/>
            <a:ext cx="50292" cy="749808"/>
          </a:xfrm>
          <a:prstGeom prst="rect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882896" y="351129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BEF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882896" y="351129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classList.contains(c)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882896" y="37856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true/false. Use to check state before acting.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73168" y="426110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4261104"/>
            <a:ext cx="502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882896" y="433425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882896" y="433425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element.style.prop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882896" y="460857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inline style directly. camelCase: fontSize not font-size. Use sparingly.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03136" y="96926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03136" y="969264"/>
            <a:ext cx="50292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912864" y="104241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912864" y="104241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createElement(tag)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912864" y="131673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element in memory: document.createElement('div'). Not in DOM yet.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803136" y="179222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6803136" y="1792224"/>
            <a:ext cx="50292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912864" y="186537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912864" y="186537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appendChild(el)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912864" y="213969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as LAST child. parent.appendChild(newEl)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803136" y="261518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803136" y="2615184"/>
            <a:ext cx="5029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912864" y="268833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912864" y="268833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prepend(el)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912864" y="296265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as FIRST child. parent.prepend(newEl)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803136" y="343814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803136" y="3438144"/>
            <a:ext cx="50292" cy="7498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6912864" y="351129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912864" y="351129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insertBefore(n,ref)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912864" y="37856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before a reference element. parent.insertBefore(newEl, refEl)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803136" y="4261104"/>
            <a:ext cx="1956816" cy="74980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6803136" y="4261104"/>
            <a:ext cx="50292" cy="7498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6912864" y="4334256"/>
            <a:ext cx="1719072" cy="219456"/>
          </a:xfrm>
          <a:prstGeom prst="rect">
            <a:avLst/>
          </a:prstGeom>
          <a:solidFill>
            <a:srgbClr val="03030A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912864" y="4334256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912864" y="460857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element from DOM. el.remove() — clean and simple.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EF2FF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Listeners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user actions: clicks, typing, form submissions, key presses and more.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Basic click event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.querySelector('#myBtn');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function(event) {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console.log(event.target);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event.preventDefault();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76272" y="330784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version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176272" y="355930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176272" y="381076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(e) =&gt;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176272" y="406222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e.target.classList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2176272" y="431368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.toggle('active');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2176272" y="456514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2176272" y="481660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228600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Event Types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901184" y="1389888"/>
            <a:ext cx="1737360" cy="219456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01184" y="138988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'click'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815584" y="1408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mouse click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29984" y="1389888"/>
            <a:ext cx="1737360" cy="219456"/>
          </a:xfrm>
          <a:prstGeom prst="rect">
            <a:avLst/>
          </a:prstGeom>
          <a:solidFill>
            <a:srgbClr val="FDA4AF">
              <a:alpha val="12000"/>
            </a:srgbClr>
          </a:solidFill>
          <a:ln w="12700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729984" y="138988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'dblclick'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644384" y="14081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click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01184" y="1719072"/>
            <a:ext cx="1737360" cy="21945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901184" y="171907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'mouseover'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815584" y="173736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enters element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729984" y="1719072"/>
            <a:ext cx="1737360" cy="219456"/>
          </a:xfrm>
          <a:prstGeom prst="rect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729984" y="171907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'input'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44384" y="173736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changes (typing)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901184" y="2048256"/>
            <a:ext cx="1737360" cy="363474"/>
          </a:xfrm>
          <a:prstGeom prst="rect">
            <a:avLst/>
          </a:prstGeom>
          <a:solidFill>
            <a:srgbClr val="A5F3FC">
              <a:alpha val="12000"/>
            </a:srgbClr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01184" y="204825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'change'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742432" y="2066544"/>
            <a:ext cx="87782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loses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focus+changed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9984" y="2048256"/>
            <a:ext cx="1737360" cy="219456"/>
          </a:xfrm>
          <a:prstGeom prst="rect">
            <a:avLst/>
          </a:prstGeom>
          <a:solidFill>
            <a:srgbClr val="84CC16">
              <a:alpha val="12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729984" y="204825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'submit'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644384" y="206654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submitted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901184" y="2553462"/>
            <a:ext cx="1737360" cy="219456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01184" y="255346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'keydown'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815584" y="257175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pressed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29984" y="2377440"/>
            <a:ext cx="1737360" cy="219456"/>
          </a:xfrm>
          <a:prstGeom prst="rect">
            <a:avLst/>
          </a:prstGeom>
          <a:solidFill>
            <a:srgbClr val="C4B5FD">
              <a:alpha val="12000"/>
            </a:srgbClr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729984" y="237744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'keyup'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644384" y="2395728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released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910328" y="2868930"/>
            <a:ext cx="1737360" cy="324612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937760" y="287121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'DOMContentLoaded'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829300" y="2868930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fully loaded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29984" y="2706624"/>
            <a:ext cx="1737360" cy="219456"/>
          </a:xfrm>
          <a:prstGeom prst="rect">
            <a:avLst/>
          </a:prstGeom>
          <a:solidFill>
            <a:srgbClr val="A5B4FC">
              <a:alpha val="12000"/>
            </a:srgbClr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729984" y="2706624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'load'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644384" y="2724912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Page+resources loaded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773168" y="3328416"/>
            <a:ext cx="4041648" cy="175564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3328416"/>
            <a:ext cx="40416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956048" y="3401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Event Object (e)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901184" y="3767328"/>
            <a:ext cx="1188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901184" y="37673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e.target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144768" y="378561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that was clicked/typed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901184" y="4041648"/>
            <a:ext cx="1188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901184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e.type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144768" y="405993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type: 'click', 'input', etc.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901184" y="4315968"/>
            <a:ext cx="1188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901184" y="43159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e.preventDefault()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144768" y="433425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default (form submit, link)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901184" y="4590288"/>
            <a:ext cx="1188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01184" y="4590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e.stopPropagation()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144768" y="460857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event bubbling up DOM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901184" y="4864608"/>
            <a:ext cx="11887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901184" y="4864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e.key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144768" y="488289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was pressed: 'Enter' etc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EF2FF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Interactive Todo App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complete and delete todos — pure DOM manipulation, no libraries.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 structure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&lt;input id='todoInput'&gt;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&lt;button id='addBtn'&gt;Add&lt;/button&gt;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&lt;ul id='todoList'&gt;&lt;/ul&gt;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input = document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.getElementById('todoInput');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addBtn = document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.getElementById('addBtn');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.getElementById('todoList');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addTodo() {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text = input.value.trim();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(!text) return; </a:t>
            </a:r>
            <a:r>
              <a:rPr lang="en-US" sz="9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 </a:t>
            </a: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r>
              <a:rPr lang="en-US" sz="980" dirty="0" err="1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r>
              <a:rPr lang="en-US" sz="9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('li');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3030A"/>
          </a:solidFill>
          <a:ln w="12700">
            <a:solidFill>
              <a:srgbClr val="1E1B4B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20209"/>
          </a:solidFill>
          <a:ln w="12700">
            <a:solidFill>
              <a:srgbClr val="0202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script.js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li.textContent = text;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Complete on click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li.addEventListener('click',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li.classList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.toggle('done'));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Delete button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del = document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.createElement('button');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del.textContent = '✕';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del.addEventListener('click’, </a:t>
            </a:r>
            <a:r>
              <a:rPr lang="en-US" sz="98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</a:t>
            </a:r>
            <a:r>
              <a:rPr lang="en-US" sz="980" dirty="0" err="1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li.remove</a:t>
            </a:r>
            <a:r>
              <a:rPr lang="en-US" sz="98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047488" y="43662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li.appendChild(del);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2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84648" y="4530525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r>
              <a:rPr lang="en-US" sz="980" dirty="0" err="1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list.appendChild</a:t>
            </a:r>
            <a:r>
              <a:rPr lang="en-US" sz="98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(li); </a:t>
            </a:r>
            <a:r>
              <a:rPr lang="en-US" sz="98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input.value</a:t>
            </a:r>
            <a:r>
              <a:rPr lang="en-US" sz="9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‘’; </a:t>
            </a:r>
            <a:r>
              <a:rPr lang="en-US" sz="9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5120640" y="50429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90" name="Text 88"/>
          <p:cNvSpPr/>
          <p:nvPr/>
        </p:nvSpPr>
        <p:spPr>
          <a:xfrm>
            <a:off x="5120640" y="4749981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addBtn.addEventListener('click', addTodo);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EF2FF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Todo App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functional todo list using pure DOM manipulation.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Selectors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DOM methods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Event types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Full todo 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Select input, button and ul elements with querySelector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Write addTodo() — create &lt;li&gt; from input.value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Clear input.value after adding todo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Prevent adding empty todos (trim + check)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Click todo to toggle 'done' class (strikethrough)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Add delete ✕ button to each todo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Remove todo on delete button click with li.remove()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Press Enter key to add (keydown + e.key === 'Enter')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Show todo count using querySelectorAll + .length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6060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Add CSS: .done { text-decoration: line-through; opacity: 0.5 }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2706624"/>
          </a:xfrm>
          <a:prstGeom prst="rect">
            <a:avLst/>
          </a:prstGeom>
          <a:solidFill>
            <a:srgbClr val="03030A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797296" y="2322576"/>
            <a:ext cx="2871216" cy="2560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797296" y="232257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Todo App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97296" y="2633472"/>
            <a:ext cx="2779776" cy="256032"/>
          </a:xfrm>
          <a:prstGeom prst="rect">
            <a:avLst/>
          </a:prstGeom>
          <a:solidFill>
            <a:srgbClr val="12123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833872" y="265176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task...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010144" y="2624328"/>
            <a:ext cx="658368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IN" dirty="0"/>
          </a:p>
        </p:txBody>
      </p:sp>
      <p:sp>
        <p:nvSpPr>
          <p:cNvPr id="54" name="Text 52"/>
          <p:cNvSpPr/>
          <p:nvPr/>
        </p:nvSpPr>
        <p:spPr>
          <a:xfrm>
            <a:off x="6108192" y="26334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97296" y="2962656"/>
            <a:ext cx="2871216" cy="292608"/>
          </a:xfrm>
          <a:prstGeom prst="rect">
            <a:avLst/>
          </a:prstGeom>
          <a:solidFill>
            <a:srgbClr val="121230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33872" y="2999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71616" y="299923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HTML 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30768" y="3017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97296" y="3328416"/>
            <a:ext cx="2871216" cy="292608"/>
          </a:xfrm>
          <a:prstGeom prst="rect">
            <a:avLst/>
          </a:prstGeom>
          <a:solidFill>
            <a:srgbClr val="121230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833872" y="3364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71616" y="336499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CSS 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30768" y="3383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97296" y="3694176"/>
            <a:ext cx="2871216" cy="29260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833872" y="3730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071616" y="373075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30768" y="3749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797296" y="4059936"/>
            <a:ext cx="2871216" cy="292608"/>
          </a:xfrm>
          <a:prstGeom prst="rect">
            <a:avLst/>
          </a:prstGeom>
          <a:solidFill>
            <a:srgbClr val="121230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833872" y="40965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71616" y="409651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30768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97296" y="4828032"/>
            <a:ext cx="287121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 tasks done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14 — Events &amp; Forms Deep Dive!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is the live JS representation of your HTML. document is the entry point for all DOM methods.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querySelector(css) selects the first match. querySelectorAll(css) returns a NodeList of ALL matches.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84CC16">
              <a:alpha val="18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= safe text. innerHTML = HTML markup. value = input fields. classList for adding/removing classes.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createElement(tag) + appendChild(el) = create and insert new elements. el.remove() = delete from DOM.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addEventListener('event', callback) — event object gives you e.target, e.preventDefault(), e.key.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14: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local storage to todo app (save/load todos)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68880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323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'Clear All' button to remove every todo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80944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80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443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counter showing total todos left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93008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56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page background color with a button click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4005072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96849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character counter for a textarea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517136"/>
            <a:ext cx="219456" cy="21945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517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2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480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Todo App screenshot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828800"/>
            <a:ext cx="5852160" cy="585216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8B5CF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6366F1">
              <a:alpha val="14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13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JS Now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 the Page!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modify, create and react — you can build interactive apps with pure JS.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24912"/>
            <a:ext cx="6400800" cy="128016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24912"/>
            <a:ext cx="2560320" cy="1280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31336" y="2688336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/ 30  •  43.3%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0C0C1E"/>
          </a:solidFill>
          <a:ln w="12700">
            <a:solidFill>
              <a:srgbClr val="1E1B4B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</a:t>
            </a:r>
            <a:r>
              <a:rPr lang="en-US" sz="11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Events, Forms &amp; Validation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events, real-time validation, preventing submission, showing error messages with DOM.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88736" y="4882896"/>
            <a:ext cx="2212848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2281</Words>
  <Application>Microsoft Office PowerPoint</Application>
  <PresentationFormat>On-screen Show (16:9)</PresentationFormat>
  <Paragraphs>467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– DOM Manipulation in JavaScript</dc:title>
  <dc:subject>PptxGenJS Presentation</dc:subject>
  <dc:creator>PptxGenJS</dc:creator>
  <cp:lastModifiedBy>Ajay Solanki</cp:lastModifiedBy>
  <cp:revision>4</cp:revision>
  <dcterms:created xsi:type="dcterms:W3CDTF">2026-06-06T05:33:54Z</dcterms:created>
  <dcterms:modified xsi:type="dcterms:W3CDTF">2026-06-17T05:10:24Z</dcterms:modified>
</cp:coreProperties>
</file>