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28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E91E8C">
              <a:alpha val="9000"/>
            </a:srgbClr>
          </a:solidFill>
          <a:ln w="12700">
            <a:solidFill>
              <a:srgbClr val="E91E8C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7B2FFF">
              <a:alpha val="5000"/>
            </a:srgbClr>
          </a:solidFill>
          <a:ln w="12700">
            <a:solidFill>
              <a:srgbClr val="7B2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2103120"/>
            <a:ext cx="2194560" cy="2194560"/>
          </a:xfrm>
          <a:prstGeom prst="ellipse">
            <a:avLst/>
          </a:prstGeom>
          <a:solidFill>
            <a:srgbClr val="00F5D4">
              <a:alpha val="3000"/>
            </a:srgbClr>
          </a:solidFill>
          <a:ln w="12700">
            <a:solidFill>
              <a:srgbClr val="00F5D4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0FA"/>
                </a:solidFill>
              </a:rPr>
              <a:t>DAY 9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6583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Animations,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6583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Transitions &amp;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6583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B08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pages to life. Smooth, professional motion — pure CSS, zero JavaScript.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2029968" cy="365760"/>
          </a:xfrm>
          <a:prstGeom prst="rect">
            <a:avLst/>
          </a:prstGeom>
          <a:solidFill>
            <a:srgbClr val="1A1035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3127248"/>
            <a:ext cx="2029968" cy="365760"/>
          </a:xfrm>
          <a:prstGeom prst="rect">
            <a:avLst/>
          </a:prstGeom>
          <a:solidFill>
            <a:srgbClr val="1A1035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33472" y="312724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3127248"/>
            <a:ext cx="2029968" cy="365760"/>
          </a:xfrm>
          <a:prstGeom prst="rect">
            <a:avLst/>
          </a:prstGeom>
          <a:solidFill>
            <a:srgbClr val="1A1035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9744" y="3127248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40965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72"/>
                </a:solidFill>
              </a:rPr>
              <a:t>CSS Topics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84832" y="36758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84832" y="40965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72"/>
                </a:solidFill>
              </a:rPr>
              <a:t>Properties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36758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1E8C"/>
                </a:solidFill>
                <a:latin typeface="Georgia" pitchFamily="34" charset="0"/>
              </a:rPr>
              <a:t>One 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12464" y="40965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72"/>
                </a:solidFill>
              </a:rPr>
              <a:t>Video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0096" y="36758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40096" y="40965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72"/>
                </a:solidFill>
              </a:rPr>
              <a:t>Animated Card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110A22"/>
          </a:solidFill>
          <a:ln w="12700">
            <a:solidFill>
              <a:srgbClr val="9C0F5F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50608" y="822960"/>
            <a:ext cx="1700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Motion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0608" y="113385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50608" y="1353312"/>
            <a:ext cx="640080" cy="329184"/>
          </a:xfrm>
          <a:prstGeom prst="rect">
            <a:avLst/>
          </a:prstGeom>
          <a:solidFill>
            <a:srgbClr val="00F5D4">
              <a:alpha val="4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028432" y="1353312"/>
            <a:ext cx="914400" cy="329184"/>
          </a:xfrm>
          <a:prstGeom prst="rect">
            <a:avLst/>
          </a:prstGeom>
          <a:solidFill>
            <a:srgbClr val="E91E8C">
              <a:alpha val="40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424928" y="1371600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50608" y="1847088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50608" y="2084832"/>
            <a:ext cx="786384" cy="384048"/>
          </a:xfrm>
          <a:prstGeom prst="rect">
            <a:avLst/>
          </a:prstGeom>
          <a:solidFill>
            <a:srgbClr val="00F5D4">
              <a:alpha val="35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50608" y="2084832"/>
            <a:ext cx="786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scale(1.2)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010144" y="2121408"/>
            <a:ext cx="658368" cy="329184"/>
          </a:xfrm>
          <a:prstGeom prst="rect">
            <a:avLst/>
          </a:prstGeom>
          <a:solidFill>
            <a:srgbClr val="FFD700">
              <a:alpha val="35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10144" y="212140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rotate(45°)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50608" y="259689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@keyframes: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150608" y="2834640"/>
            <a:ext cx="256032" cy="45720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498080" y="2834640"/>
            <a:ext cx="256032" cy="274320"/>
          </a:xfrm>
          <a:prstGeom prst="rect">
            <a:avLst/>
          </a:prstGeom>
          <a:solidFill>
            <a:srgbClr val="E91E8C">
              <a:alpha val="35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845552" y="2834640"/>
            <a:ext cx="256032" cy="457200"/>
          </a:xfrm>
          <a:prstGeom prst="rect">
            <a:avLst/>
          </a:prstGeom>
          <a:solidFill>
            <a:srgbClr val="00F5D4">
              <a:alpha val="35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193024" y="2834640"/>
            <a:ext cx="256032" cy="274320"/>
          </a:xfrm>
          <a:prstGeom prst="rect">
            <a:avLst/>
          </a:prstGeom>
          <a:solidFill>
            <a:srgbClr val="FFD700">
              <a:alpha val="35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540496" y="2834640"/>
            <a:ext cx="256032" cy="457200"/>
          </a:xfrm>
          <a:prstGeom prst="rect">
            <a:avLst/>
          </a:prstGeom>
          <a:solidFill>
            <a:srgbClr val="7B2FFF">
              <a:alpha val="35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150608" y="3438144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50608" y="3657600"/>
            <a:ext cx="1700784" cy="329184"/>
          </a:xfrm>
          <a:prstGeom prst="rect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150608" y="3657600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pulse  2s  infinite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50608" y="40233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8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fadeIn  0.8s  ease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4A72"/>
                </a:solidFill>
              </a:rPr>
              <a:t>Day 9  •  Animations, Transitions &amp; Transformations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76809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768096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329184" cy="329184"/>
          </a:xfrm>
          <a:prstGeom prst="ellipse">
            <a:avLst/>
          </a:prstGeom>
          <a:solidFill>
            <a:srgbClr val="00F5D4">
              <a:alpha val="18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521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Transform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706624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65008" y="1316736"/>
            <a:ext cx="621792" cy="237744"/>
          </a:xfrm>
          <a:prstGeom prst="rect">
            <a:avLst/>
          </a:prstGeom>
          <a:solidFill>
            <a:srgbClr val="00F5D4">
              <a:alpha val="16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31673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5D4"/>
                </a:solidFill>
              </a:rPr>
              <a:t>~8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2011680"/>
            <a:ext cx="8375904" cy="76809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384048" y="2011680"/>
            <a:ext cx="50292" cy="76809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231136"/>
            <a:ext cx="329184" cy="329184"/>
          </a:xfrm>
          <a:prstGeom prst="ellipse">
            <a:avLst/>
          </a:prstGeom>
          <a:solidFill>
            <a:srgbClr val="FFD700">
              <a:alpha val="18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208483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Transitions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1517904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scale, rotate, skew, transform-origin, 3D perspective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2249424"/>
            <a:ext cx="621792" cy="237744"/>
          </a:xfrm>
          <a:prstGeom prst="rect">
            <a:avLst/>
          </a:prstGeom>
          <a:solidFill>
            <a:srgbClr val="FFD700">
              <a:alpha val="16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24942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700"/>
                </a:solidFill>
              </a:rPr>
              <a:t>~8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944368"/>
            <a:ext cx="8375904" cy="76809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944368"/>
            <a:ext cx="50292" cy="76809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163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301752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Keyframe Animations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3383280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@keyframes, animation-name, duration, timing, delay, iteration, direction, fill-mode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65008" y="3182112"/>
            <a:ext cx="621792" cy="237744"/>
          </a:xfrm>
          <a:prstGeom prst="rect">
            <a:avLst/>
          </a:prstGeom>
          <a:solidFill>
            <a:srgbClr val="E91E8C">
              <a:alpha val="16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3182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1E8C"/>
                </a:solidFill>
              </a:rPr>
              <a:t>~10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877056"/>
            <a:ext cx="8375904" cy="76809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877056"/>
            <a:ext cx="50292" cy="76809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4096512"/>
            <a:ext cx="329184" cy="329184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4096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95020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Animation Best Practices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4128" y="4315968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will-change, prefers-reduced-motion, performance, GPU compositing, reflow triggers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65008" y="4114800"/>
            <a:ext cx="621792" cy="237744"/>
          </a:xfrm>
          <a:prstGeom prst="rect">
            <a:avLst/>
          </a:prstGeom>
          <a:solidFill>
            <a:srgbClr val="7B2FFF">
              <a:alpha val="16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41148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2FFF"/>
                </a:solidFill>
              </a:rPr>
              <a:t>~7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6928" y="491947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6EBB"/>
                </a:solidFill>
              </a:rPr>
              <a:t>PROJECT: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53312" y="4919472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A8D4"/>
                </a:solidFill>
              </a:rPr>
              <a:t>Animated Landing Page — hover effects, a loading spinner, a sliding card, and a pulsing CTA button</a:t>
            </a:r>
            <a:endParaRPr lang="en-US" sz="9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DA4630-A8B8-B3F6-58B5-0F1CD73C5359}"/>
              </a:ext>
            </a:extLst>
          </p:cNvPr>
          <p:cNvSpPr txBox="1"/>
          <p:nvPr/>
        </p:nvSpPr>
        <p:spPr>
          <a:xfrm>
            <a:off x="1031553" y="2426692"/>
            <a:ext cx="6687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5A4A72"/>
                </a:solidFill>
                <a:ea typeface="Calibri" pitchFamily="34" charset="-122"/>
                <a:cs typeface="Calibri" pitchFamily="34" charset="-120"/>
              </a:rPr>
              <a:t>transition, duration, timing-function (ease/linear/cubic-</a:t>
            </a:r>
            <a:r>
              <a:rPr lang="en-US" sz="1000" dirty="0" err="1">
                <a:solidFill>
                  <a:srgbClr val="5A4A72"/>
                </a:solidFill>
                <a:ea typeface="Calibri" pitchFamily="34" charset="-122"/>
                <a:cs typeface="Calibri" pitchFamily="34" charset="-120"/>
              </a:rPr>
              <a:t>bezier</a:t>
            </a:r>
            <a:r>
              <a:rPr lang="en-US" sz="1000" dirty="0">
                <a:solidFill>
                  <a:srgbClr val="5A4A72"/>
                </a:solidFill>
                <a:ea typeface="Calibri" pitchFamily="34" charset="-122"/>
                <a:cs typeface="Calibri" pitchFamily="34" charset="-120"/>
              </a:rPr>
              <a:t>), delay, shorthand</a:t>
            </a:r>
            <a:endParaRPr lang="en-US" sz="1000" dirty="0"/>
          </a:p>
          <a:p>
            <a:endParaRPr lang="en-I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0510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Transitions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Smoothly animate between two CSS states — triggered by hover, focus, or class changes.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Basic transition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#7B2FFF;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0.75rem 1.5rem;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transition shorthand */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property dur timing delay */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background 0.3s ease,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  0.2s ease-out,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box-shadow 0.3s ease; </a:t>
            </a: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3232" y="401813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3232" y="426959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#E91E8C;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713232" y="452105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translateY(-3px);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13232" y="477251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8px 24px }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73168" y="96926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73168" y="969264"/>
            <a:ext cx="50292" cy="73152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01184" y="1060704"/>
            <a:ext cx="1554480" cy="274320"/>
          </a:xfrm>
          <a:prstGeom prst="rect">
            <a:avLst/>
          </a:prstGeom>
          <a:solidFill>
            <a:srgbClr val="040208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19472" y="106070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transition-property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01184" y="1408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animate. all = everything. Best practice: list specific properties (background, transform) for performance.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73168" y="179222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73168" y="1792224"/>
            <a:ext cx="50292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901184" y="1883664"/>
            <a:ext cx="1554480" cy="274320"/>
          </a:xfrm>
          <a:prstGeom prst="rect">
            <a:avLst/>
          </a:prstGeom>
          <a:solidFill>
            <a:srgbClr val="040208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19472" y="188366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transition-duration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01184" y="2231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animation takes. 0.3s = snappy. 0.8s = relaxed. Too long (&gt;1s) feels sluggish.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73168" y="261518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73168" y="2615184"/>
            <a:ext cx="50292" cy="7315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01184" y="2706624"/>
            <a:ext cx="1554480" cy="274320"/>
          </a:xfrm>
          <a:prstGeom prst="rect">
            <a:avLst/>
          </a:prstGeom>
          <a:solidFill>
            <a:srgbClr val="040208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19472" y="270662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transition-timing-function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01184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curve. ease (slow-fast-slow) | linear | ease-in | ease-out | ease-in-out | cubic-bezier(x,x,x,x)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73168" y="343814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773168" y="3438144"/>
            <a:ext cx="50292" cy="7315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901184" y="3529584"/>
            <a:ext cx="1554480" cy="274320"/>
          </a:xfrm>
          <a:prstGeom prst="rect">
            <a:avLst/>
          </a:prstGeom>
          <a:solidFill>
            <a:srgbClr val="040208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19472" y="352958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transition-delay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901184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before starting. 0.1s delays chain nicely for staggered effects.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73168" y="426110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4261104"/>
            <a:ext cx="50292" cy="731520"/>
          </a:xfrm>
          <a:prstGeom prst="rect">
            <a:avLst/>
          </a:prstGeom>
          <a:solidFill>
            <a:srgbClr val="80FAE9"/>
          </a:solidFill>
          <a:ln w="12700">
            <a:solidFill>
              <a:srgbClr val="80FA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4352544"/>
            <a:ext cx="1554480" cy="274320"/>
          </a:xfrm>
          <a:prstGeom prst="rect">
            <a:avLst/>
          </a:prstGeom>
          <a:solidFill>
            <a:srgbClr val="040208"/>
          </a:solidFill>
          <a:ln w="12700">
            <a:solidFill>
              <a:srgbClr val="80FA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19472" y="435254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 shorthand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901184" y="4700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property duration timing delay. e.g. transition: all 0.3s ease. List multiple with commas.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17136" y="416705"/>
            <a:ext cx="4041648" cy="237744"/>
          </a:xfrm>
          <a:prstGeom prst="rect">
            <a:avLst/>
          </a:prstGeom>
          <a:solidFill>
            <a:srgbClr val="1A1035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517136" y="446097"/>
            <a:ext cx="3913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  linear  ease-in  ease-out  ease-in-out  cubic-bezier(0.68,-0.55,0.27,1.55)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0510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Transforms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scale, rotate and skew elements without affecting the document flow.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translate — move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translateX(50px);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translateY(-20px);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translate(10px,-10px);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scale — resize */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scale(1.2);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E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scaleX(2);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E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scale(0.8, 1.3);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6255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rotate */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38359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rotate(45deg);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087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rotate(-90deg);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9224" y="42839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skew */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49224" y="4535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skewX(20deg);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49224" y="47868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Multiple transforms */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55458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scale(1.1) rotate(5deg);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50292" cy="731520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01184" y="1042416"/>
            <a:ext cx="512064" cy="420624"/>
          </a:xfrm>
          <a:prstGeom prst="rect">
            <a:avLst/>
          </a:prstGeom>
          <a:solidFill>
            <a:srgbClr val="00F5D4">
              <a:alpha val="22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901184" y="1261872"/>
            <a:ext cx="512064" cy="292608"/>
          </a:xfrm>
          <a:prstGeom prst="rect">
            <a:avLst/>
          </a:prstGeom>
          <a:solidFill>
            <a:srgbClr val="00F5D4">
              <a:alpha val="40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486400" y="104241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translate(40px, -20px)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98482" y="1331432"/>
            <a:ext cx="2943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element without disrupting layout. Other elements don't move. Use for hover lift effects.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73168" y="179222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73168" y="1792224"/>
            <a:ext cx="50292" cy="7315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901184" y="1865376"/>
            <a:ext cx="512064" cy="420624"/>
          </a:xfrm>
          <a:prstGeom prst="rect">
            <a:avLst/>
          </a:prstGeom>
          <a:solidFill>
            <a:srgbClr val="FFD700">
              <a:alpha val="22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901184" y="2084832"/>
            <a:ext cx="512064" cy="292608"/>
          </a:xfrm>
          <a:prstGeom prst="rect">
            <a:avLst/>
          </a:prstGeom>
          <a:solidFill>
            <a:srgbClr val="FFD700">
              <a:alpha val="40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486400" y="186537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scale(1.3)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86400" y="2107692"/>
            <a:ext cx="29678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element from its center (or transform-origin). Doesn't cause reflow — great for performance.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73168" y="261518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73168" y="2615184"/>
            <a:ext cx="50292" cy="7315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901184" y="2688336"/>
            <a:ext cx="512064" cy="420624"/>
          </a:xfrm>
          <a:prstGeom prst="rect">
            <a:avLst/>
          </a:prstGeom>
          <a:solidFill>
            <a:srgbClr val="E91E8C">
              <a:alpha val="22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901184" y="2907792"/>
            <a:ext cx="512064" cy="292608"/>
          </a:xfrm>
          <a:prstGeom prst="rect">
            <a:avLst/>
          </a:prstGeom>
          <a:solidFill>
            <a:srgbClr val="E91E8C">
              <a:alpha val="40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486400" y="268833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rotate(45deg)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486400" y="29260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clockwise. Negative values = counter-clockwise. Combine with scale for spin effects.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73168" y="343814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438144"/>
            <a:ext cx="50292" cy="7315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901184" y="3511296"/>
            <a:ext cx="512064" cy="420624"/>
          </a:xfrm>
          <a:prstGeom prst="rect">
            <a:avLst/>
          </a:prstGeom>
          <a:solidFill>
            <a:srgbClr val="7B2FFF">
              <a:alpha val="22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901184" y="3730752"/>
            <a:ext cx="512064" cy="292608"/>
          </a:xfrm>
          <a:prstGeom prst="rect">
            <a:avLst/>
          </a:prstGeom>
          <a:solidFill>
            <a:srgbClr val="7B2FFF">
              <a:alpha val="4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486400" y="351129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skewX(15deg)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486400" y="3781044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Slants element on X axis. Use for italic-style design accents or parallelogram shapes.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73168" y="4261104"/>
            <a:ext cx="4041648" cy="731520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773168" y="4261104"/>
            <a:ext cx="50292" cy="7315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901184" y="4334256"/>
            <a:ext cx="512064" cy="420624"/>
          </a:xfrm>
          <a:prstGeom prst="rect">
            <a:avLst/>
          </a:prstGeom>
          <a:solidFill>
            <a:srgbClr val="FF6B2B">
              <a:alpha val="22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901184" y="4553712"/>
            <a:ext cx="512064" cy="292608"/>
          </a:xfrm>
          <a:prstGeom prst="rect">
            <a:avLst/>
          </a:prstGeom>
          <a:solidFill>
            <a:srgbClr val="FF6B2B">
              <a:alpha val="40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486400" y="43342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transform-origin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486400" y="4562856"/>
            <a:ext cx="32431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pivot point. Default: 50% 50% (center). transform-origin: top left rotates from corner.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0FA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@keyframes Animations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multi-step animations that run automatically — no hover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Step 1: Define keyframes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fadeInUp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 /* or 0% */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opacity: 0;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translateY(30px);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{  /* or 100% */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opacity: 1;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translateY(0); }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" y="349986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9224" y="37536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Step 2: Apply animation 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9224" y="4005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.hero-text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9224" y="42565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49224" y="4507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fadeInUp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49224" y="47594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E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0.8s ease-out; }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55458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forwards;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120700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Keyframe Timeline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901184" y="1463040"/>
            <a:ext cx="3785616" cy="109728"/>
          </a:xfrm>
          <a:prstGeom prst="rect">
            <a:avLst/>
          </a:prstGeom>
          <a:solidFill>
            <a:srgbClr val="221545"/>
          </a:solidFill>
          <a:ln w="12700">
            <a:solidFill>
              <a:srgbClr val="221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809744" y="1417320"/>
            <a:ext cx="182880" cy="18288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681728" y="1636776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34710" y="1417320"/>
            <a:ext cx="182880" cy="18288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06694" y="1636776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91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383963" y="1417320"/>
            <a:ext cx="182880" cy="1828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255947" y="1636776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595360" y="1417320"/>
            <a:ext cx="182880" cy="182880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467344" y="1636776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01184" y="18470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translateY(30px)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790688" y="18470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F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translateY(0)</a:t>
            </a:r>
            <a:endParaRPr lang="en-US" sz="750" dirty="0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7C9472A4-C23E-6309-BFED-C1BE86934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221992"/>
            <a:ext cx="4168702" cy="2695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0FA"/>
                </a:solidFill>
              </a:rPr>
              <a:t>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Animation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these 6 animations — they cover 90% of what you'll ever need.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97680" cy="13167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97680" cy="5029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" y="10607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Fade 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389888"/>
            <a:ext cx="2688336" cy="804672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" y="1389888"/>
            <a:ext cx="212140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14721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0664" y="14721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86968" y="14721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42416" y="143560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1691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8096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fadeIn {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548640" y="19431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" y="18379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opacity: 0; }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48640" y="2194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" y="2005149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{ opacity: 1; }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48640" y="2446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24460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255264" y="1408176"/>
            <a:ext cx="12984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animation. Great for page load, modal open, toasts.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969264"/>
            <a:ext cx="4297680" cy="13167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969264"/>
            <a:ext cx="429768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74336" y="10607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Up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59" y="1389888"/>
            <a:ext cx="2873829" cy="804672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937760" y="1389888"/>
            <a:ext cx="212140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056632" y="147218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202936" y="147218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349240" y="147218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504688" y="143560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10912" y="16916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30368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slideUp {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5010912" y="19431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30368" y="19431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{opacity: 0;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230368" y="21945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010912" y="2446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30368" y="24460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translateY(30px);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7870370" y="1408176"/>
            <a:ext cx="1145613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sections, cards, text reveals. Always pair opacity + translate.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4048" y="2377440"/>
            <a:ext cx="4297680" cy="13167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84048" y="2377440"/>
            <a:ext cx="4297680" cy="502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2064" y="24688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/ Beat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75488" y="2798064"/>
            <a:ext cx="2688336" cy="804672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5488" y="2798064"/>
            <a:ext cx="212140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94360" y="28803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40664" y="28803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86968" y="28803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042416" y="284378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8640" y="3099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8096" y="3099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pulse {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548640" y="33512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" y="3351276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0%, 100% { transform: scale(1); }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548640" y="36027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68096" y="348615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50% { transform: scale(1.08); }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548640" y="38541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8096" y="38541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3163824" y="2816352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CTA buttons, notifications, live indicators.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46320" y="2377440"/>
            <a:ext cx="4297680" cy="13167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846320" y="2377440"/>
            <a:ext cx="4297680" cy="502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974336" y="24688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Spin / Loader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937760" y="2798064"/>
            <a:ext cx="3163824" cy="804672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937760" y="2798064"/>
            <a:ext cx="212140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5056632" y="28803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202936" y="28803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5349240" y="28803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504688" y="284378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010912" y="3099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230368" y="3099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</a:t>
            </a:r>
            <a:endParaRPr lang="en-US" sz="980" dirty="0"/>
          </a:p>
        </p:txBody>
      </p:sp>
      <p:sp>
        <p:nvSpPr>
          <p:cNvPr id="72" name="Text 70"/>
          <p:cNvSpPr/>
          <p:nvPr/>
        </p:nvSpPr>
        <p:spPr>
          <a:xfrm>
            <a:off x="5010912" y="33512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212080" y="3218688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transform: rotate(0deg); }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5010912" y="36027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202936" y="3424428"/>
            <a:ext cx="27706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{ transform: rotate(360deg); }</a:t>
            </a:r>
            <a:endParaRPr lang="en-US" sz="980" dirty="0"/>
          </a:p>
        </p:txBody>
      </p:sp>
      <p:sp>
        <p:nvSpPr>
          <p:cNvPr id="76" name="Text 74"/>
          <p:cNvSpPr/>
          <p:nvPr/>
        </p:nvSpPr>
        <p:spPr>
          <a:xfrm>
            <a:off x="5010912" y="38541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230368" y="38541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8101584" y="2816352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spinners, refresh icons, progress indicators.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84048" y="3785616"/>
            <a:ext cx="4297680" cy="13167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384048" y="3785616"/>
            <a:ext cx="429768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12064" y="38770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Shake / Error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475488" y="4206240"/>
            <a:ext cx="3201706" cy="937260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5488" y="4206240"/>
            <a:ext cx="212140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594360" y="42885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740664" y="42885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886968" y="42885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1042416" y="425196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48640" y="45079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68096" y="43525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shake {</a:t>
            </a:r>
            <a:endParaRPr lang="en-US" sz="980" dirty="0"/>
          </a:p>
        </p:txBody>
      </p:sp>
      <p:sp>
        <p:nvSpPr>
          <p:cNvPr id="90" name="Text 88"/>
          <p:cNvSpPr/>
          <p:nvPr/>
        </p:nvSpPr>
        <p:spPr>
          <a:xfrm>
            <a:off x="548640" y="47594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48640" y="4513870"/>
            <a:ext cx="3037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0%,100% { transform: </a:t>
            </a:r>
            <a:r>
              <a:rPr lang="en-US" sz="980" dirty="0" err="1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translateX</a:t>
            </a: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(0); }</a:t>
            </a:r>
            <a:endParaRPr lang="en-US" sz="980" dirty="0"/>
          </a:p>
        </p:txBody>
      </p:sp>
      <p:sp>
        <p:nvSpPr>
          <p:cNvPr id="92" name="Text 90"/>
          <p:cNvSpPr/>
          <p:nvPr/>
        </p:nvSpPr>
        <p:spPr>
          <a:xfrm>
            <a:off x="548640" y="50109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42107" y="4713078"/>
            <a:ext cx="32461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25%,75% { transform: translateX(-10px);}</a:t>
            </a:r>
            <a:endParaRPr lang="en-US" sz="980" dirty="0"/>
          </a:p>
        </p:txBody>
      </p:sp>
      <p:sp>
        <p:nvSpPr>
          <p:cNvPr id="95" name="Text 93"/>
          <p:cNvSpPr/>
          <p:nvPr/>
        </p:nvSpPr>
        <p:spPr>
          <a:xfrm>
            <a:off x="542106" y="4901184"/>
            <a:ext cx="31350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50% { transform: translateX(10px); }</a:t>
            </a:r>
            <a:endParaRPr lang="en-US" sz="980" dirty="0"/>
          </a:p>
        </p:txBody>
      </p:sp>
      <p:sp>
        <p:nvSpPr>
          <p:cNvPr id="96" name="Text 94"/>
          <p:cNvSpPr/>
          <p:nvPr/>
        </p:nvSpPr>
        <p:spPr>
          <a:xfrm>
            <a:off x="3677194" y="4224528"/>
            <a:ext cx="87651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errors, wrong password, failed action feedback.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846320" y="3785616"/>
            <a:ext cx="4297680" cy="13167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4846320" y="3785616"/>
            <a:ext cx="4297680" cy="50292"/>
          </a:xfrm>
          <a:prstGeom prst="rect">
            <a:avLst/>
          </a:prstGeom>
          <a:solidFill>
            <a:srgbClr val="80FAE9"/>
          </a:solidFill>
          <a:ln w="12700">
            <a:solidFill>
              <a:srgbClr val="80FA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74336" y="38770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0FA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Bounce In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4937760" y="4206240"/>
            <a:ext cx="3163824" cy="937260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4937760" y="4206240"/>
            <a:ext cx="212140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5056632" y="42885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5202936" y="42885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5349240" y="42885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5504688" y="425196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5010912" y="45079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202936" y="4379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bounceIn {</a:t>
            </a:r>
            <a:endParaRPr lang="en-US" sz="980" dirty="0"/>
          </a:p>
        </p:txBody>
      </p:sp>
      <p:sp>
        <p:nvSpPr>
          <p:cNvPr id="108" name="Text 106"/>
          <p:cNvSpPr/>
          <p:nvPr/>
        </p:nvSpPr>
        <p:spPr>
          <a:xfrm>
            <a:off x="5010912" y="47594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5016136" y="4507992"/>
            <a:ext cx="3065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0% { transform: scale(0); opacity: 0; }</a:t>
            </a:r>
            <a:endParaRPr lang="en-US" sz="980" dirty="0"/>
          </a:p>
        </p:txBody>
      </p:sp>
      <p:sp>
        <p:nvSpPr>
          <p:cNvPr id="111" name="Text 109"/>
          <p:cNvSpPr/>
          <p:nvPr/>
        </p:nvSpPr>
        <p:spPr>
          <a:xfrm>
            <a:off x="5010912" y="46497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60%  { transform: scale(1.15); }</a:t>
            </a:r>
            <a:endParaRPr lang="en-US" sz="980" dirty="0"/>
          </a:p>
        </p:txBody>
      </p:sp>
      <p:sp>
        <p:nvSpPr>
          <p:cNvPr id="113" name="Text 111"/>
          <p:cNvSpPr/>
          <p:nvPr/>
        </p:nvSpPr>
        <p:spPr>
          <a:xfrm>
            <a:off x="5016136" y="4861342"/>
            <a:ext cx="3085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80%  { transform: scale(0.95); }</a:t>
            </a:r>
            <a:endParaRPr lang="en-US" sz="980" dirty="0"/>
          </a:p>
        </p:txBody>
      </p:sp>
      <p:sp>
        <p:nvSpPr>
          <p:cNvPr id="114" name="Text 112"/>
          <p:cNvSpPr/>
          <p:nvPr/>
        </p:nvSpPr>
        <p:spPr>
          <a:xfrm>
            <a:off x="8101584" y="4224528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Modals, popups, success icons. The scale overshoot feels tactile.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0FA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Animation Best Practices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accessible animations — what to do and what to never 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114800" cy="4096512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114800" cy="5029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84048" y="969264"/>
            <a:ext cx="822960" cy="292608"/>
          </a:xfrm>
          <a:prstGeom prst="rect">
            <a:avLst/>
          </a:prstGeom>
          <a:solidFill>
            <a:srgbClr val="00F5D4">
              <a:alpha val="18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9692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5D4"/>
                </a:solidFill>
              </a:rPr>
              <a:t>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61872" y="1005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FA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426464"/>
            <a:ext cx="219456" cy="219456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1426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138988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transform &amp; opacity only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7824" y="164592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GPU-composited — smooth at 60fps. translateX, scale, rotate, opacity = no reflow.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084832"/>
            <a:ext cx="219456" cy="219456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2084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204825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transition for hover states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7824" y="230428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on :hover is simpler than @keyframes for 2-state changes. Keep durations 150-400ms.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2743200"/>
            <a:ext cx="219456" cy="219456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" y="27432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270662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prefers-reduced-motion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" y="296265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(prefers-reduced-motion: reduce) { * { animation-duration: 0.01ms !important; } 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3401568"/>
            <a:ext cx="219456" cy="219456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" y="336499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will-change sparingly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7824" y="362102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will-change: transform tells browser to prepare GPU layer. Only use on elements that actually animate.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4059936"/>
            <a:ext cx="219456" cy="219456"/>
          </a:xfrm>
          <a:prstGeom prst="ellipse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" y="40599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" y="4023360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devices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7824" y="42793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that look smooth on desktop can jank badly on low-end mobile. Always test on slower hardware.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45152" y="969264"/>
            <a:ext cx="4114800" cy="4096512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45152" y="969264"/>
            <a:ext cx="411480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45152" y="969264"/>
            <a:ext cx="914400" cy="292608"/>
          </a:xfrm>
          <a:prstGeom prst="rect">
            <a:avLst/>
          </a:prstGeom>
          <a:solidFill>
            <a:srgbClr val="FF6B2B">
              <a:alpha val="18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45152" y="9692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</a:rPr>
              <a:t>DON'T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14416" y="1005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28032" y="1426464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28032" y="1426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38928" y="138988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width, height or top/left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38928" y="1645920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trigger layout reflow on every frame — expensive. Use transform:translate instead.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28032" y="2084832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28032" y="2084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38928" y="204825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animation for everything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38928" y="2304288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interaction needs motion. Too many animations = visual noise = bad UX.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28032" y="2743200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28032" y="27432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✕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38928" y="270662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to handle no-motion users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138928" y="296265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users have vestibular disorders. Flashing or motion can cause dizziness. Respect prefers-reduced-motion.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28032" y="3401568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28032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✕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38928" y="336499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very long durations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138928" y="362102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UI animations under 500ms. Anything over 1s feels sluggish. Looping animations should be subtle.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28032" y="4059936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28032" y="40599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510"/>
                </a:solidFill>
              </a:rPr>
              <a:t>✕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38928" y="4023360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all properties at once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138928" y="42793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all 0.3s is a trap — it animates every property change including layout-triggering ones.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0FA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Animated Landing Page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effects, spinning loader, slide-up hero, pulsing CTA — all live.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Hover card lift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FA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 0.3s ease,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box-shadow 0.3s ease;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translateY(-8px);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 20px 40px rgba(0,0,0,.3);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39502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Spin loader 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2016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.spinner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4531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40px; height: 40px;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47045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4px solid #E91E8C33; border-top-color: #E91E8C; border-radius: 50%;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76656" y="55458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40208"/>
          </a:solidFill>
          <a:ln w="12700">
            <a:solidFill>
              <a:srgbClr val="1E1040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20107"/>
          </a:solidFill>
          <a:ln w="12700">
            <a:solidFill>
              <a:srgbClr val="020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72"/>
                </a:solidFill>
              </a:rPr>
              <a:t>style.css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animation: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E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spin 0.8s linear infinite;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spin {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06E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{ transform: rotate(360deg); }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A1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Hero fadeInUp */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fadeInUp {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opacity:0;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transform:translateY(40px);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45399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{ opacity:1;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1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20640" y="4791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transform:translateY(0); } }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5120640" y="52943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0FA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Animated Landing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transitions, transforms, and keyframe animations to build a stunning animated page.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A1035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D4"/>
                </a:solidFill>
              </a:rPr>
              <a:t>@keyframes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A1035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D4"/>
                </a:solidFill>
              </a:rPr>
              <a:t>Transitions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A1035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D4"/>
                </a:solidFill>
              </a:rPr>
              <a:t>Transforms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A1035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A8D4"/>
                </a:solidFill>
              </a:rPr>
              <a:t>Spinner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Add fadeInUp animation to hero heading on page load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919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51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Add transition on all .card elements (transform + box-shadow)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5351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60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Create :hover state that lifts card with translateY(-8px)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783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004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Build a CSS-only spinning loader with @keyframes spin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747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Add a pulsing animation to the CTA button (scale 1 → 1.05)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490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Create slide-in sidebar with transform: translateX(-100%)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5079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Add staggered animation-delay to 3 cards (0.1s, 0.2s, 0.3s)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2511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976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Add a :hover rotate(5deg) on the profile image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9943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720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Wrap all animations with @media (prefers-reduced-motion: reduce)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73752"/>
            <a:ext cx="201168" cy="201168"/>
          </a:xfrm>
          <a:prstGeom prst="rect">
            <a:avLst/>
          </a:prstGeom>
          <a:solidFill>
            <a:srgbClr val="0A0510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463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Test in DevTools Animations panel — slow to 10% speed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512064"/>
          </a:xfrm>
          <a:prstGeom prst="rect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05856" y="2249424"/>
            <a:ext cx="3054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fadeInUp animation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705856" y="283464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hover lift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742432" y="2999232"/>
            <a:ext cx="914400" cy="658368"/>
          </a:xfrm>
          <a:prstGeom prst="rect">
            <a:avLst/>
          </a:prstGeom>
          <a:solidFill>
            <a:srgbClr val="00F5D4">
              <a:alpha val="18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742432" y="299923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29984" y="2999232"/>
            <a:ext cx="914400" cy="658368"/>
          </a:xfrm>
          <a:prstGeom prst="rect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729984" y="299923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717536" y="2999232"/>
            <a:ext cx="914400" cy="658368"/>
          </a:xfrm>
          <a:prstGeom prst="rect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717536" y="299923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83680" y="3749040"/>
            <a:ext cx="402336" cy="402336"/>
          </a:xfrm>
          <a:prstGeom prst="ellipse">
            <a:avLst/>
          </a:prstGeom>
          <a:solidFill>
            <a:srgbClr val="1A1035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583680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742432" y="4279392"/>
            <a:ext cx="1463040" cy="329184"/>
          </a:xfrm>
          <a:prstGeom prst="rect">
            <a:avLst/>
          </a:prstGeom>
          <a:solidFill>
            <a:srgbClr val="E91E8C">
              <a:alpha val="35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742432" y="4279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CTA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10 — Responsive Design!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5836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58368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29184"/>
          </a:xfrm>
          <a:prstGeom prst="rect">
            <a:avLst/>
          </a:prstGeom>
          <a:solidFill>
            <a:srgbClr val="00F5D4">
              <a:alpha val="18000"/>
            </a:srgbClr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property duration timing-function animates between states. Best for hover, focus, class toggles.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810512"/>
            <a:ext cx="5760720" cy="65836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810512"/>
            <a:ext cx="50292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65960"/>
            <a:ext cx="438912" cy="329184"/>
          </a:xfrm>
          <a:prstGeom prst="rect">
            <a:avLst/>
          </a:prstGeom>
          <a:solidFill>
            <a:srgbClr val="FFD700">
              <a:alpha val="18000"/>
            </a:srgbClr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6596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901952"/>
            <a:ext cx="4992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transform: translate/scale/rotate/skew — GPU-accelerated, no layout reflow. Always prefer over top/left/width.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78608"/>
            <a:ext cx="5760720" cy="65836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78608"/>
            <a:ext cx="50292" cy="65836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734056"/>
            <a:ext cx="438912" cy="329184"/>
          </a:xfrm>
          <a:prstGeom prst="rect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734056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1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70048"/>
            <a:ext cx="4992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names the animation steps. animation: name duration timing iteration fill-mode applies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346704"/>
            <a:ext cx="5760720" cy="65836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346704"/>
            <a:ext cx="50292" cy="65836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502152"/>
            <a:ext cx="438912" cy="329184"/>
          </a:xfrm>
          <a:prstGeom prst="rect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50215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438144"/>
            <a:ext cx="4992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animation-fill-mode: forwards = stays at end state. animation-iteration-count: infinite = loops forever.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114800"/>
            <a:ext cx="5760720" cy="65836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114800"/>
            <a:ext cx="50292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270248"/>
            <a:ext cx="438912" cy="329184"/>
          </a:xfrm>
          <a:prstGeom prst="rect">
            <a:avLst/>
          </a:prstGeom>
          <a:solidFill>
            <a:srgbClr val="FF6B2B">
              <a:alpha val="18000"/>
            </a:srgbClr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27024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206240"/>
            <a:ext cx="4992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@media(prefers-reduced-motion:reduce) to disable animations for users with vestibular disorders.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10: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0FA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:hover transitions to all buttons on your site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68880"/>
            <a:ext cx="219456" cy="219456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0FA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323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CSS-only progress bar animation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80944"/>
            <a:ext cx="219456" cy="219456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809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0FA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443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typing cursor blink with @keyframes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93008"/>
            <a:ext cx="219456" cy="219456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93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0FA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56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skeleton loading screen with shimmer animation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4005072"/>
            <a:ext cx="219456" cy="219456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0FA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96849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 sites with great CSS animations — inspect them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517136"/>
            <a:ext cx="219456" cy="219456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517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0FA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480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animated page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828800"/>
            <a:ext cx="5852160" cy="5852160"/>
          </a:xfrm>
          <a:prstGeom prst="ellipse">
            <a:avLst/>
          </a:prstGeom>
          <a:solidFill>
            <a:srgbClr val="E91E8C">
              <a:alpha val="8000"/>
            </a:srgbClr>
          </a:solidFill>
          <a:ln w="12700">
            <a:solidFill>
              <a:srgbClr val="E91E8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7B2FFF">
              <a:alpha val="5000"/>
            </a:srgbClr>
          </a:solidFill>
          <a:ln w="12700">
            <a:solidFill>
              <a:srgbClr val="7B2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00F5D4">
              <a:alpha val="4000"/>
            </a:srgbClr>
          </a:solidFill>
          <a:ln w="12700">
            <a:solidFill>
              <a:srgbClr val="00F5D4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E91E8C">
              <a:alpha val="14000"/>
            </a:srgbClr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06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BA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Pages Now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Move!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31520" y="221284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Transitions, transforms, keyframe animations — your CSS toolkit is almost complete.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724912"/>
            <a:ext cx="6400800" cy="12801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724912"/>
            <a:ext cx="1920240" cy="12801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91256" y="2688336"/>
            <a:ext cx="201168" cy="201168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288950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/ 30  •  30%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01568"/>
            <a:ext cx="7315200" cy="1389888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401568"/>
            <a:ext cx="7315200" cy="50292"/>
          </a:xfrm>
          <a:prstGeom prst="rect">
            <a:avLst/>
          </a:prstGeom>
          <a:solidFill>
            <a:srgbClr val="00F5D4"/>
          </a:solidFill>
          <a:ln w="12700">
            <a:solidFill>
              <a:srgbClr val="00F5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72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10: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856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0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mobile-first approach, viewport units, responsive typography — design for every screen.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882896"/>
            <a:ext cx="2212848" cy="4023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97280" y="4882896"/>
            <a:ext cx="221284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hit the bell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4882896"/>
            <a:ext cx="2212848" cy="4023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93008" y="4882896"/>
            <a:ext cx="221284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93008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93008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'Day 9 Done!'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88736" y="4882896"/>
            <a:ext cx="2212848" cy="402336"/>
          </a:xfrm>
          <a:prstGeom prst="rect">
            <a:avLst/>
          </a:prstGeom>
          <a:solidFill>
            <a:srgbClr val="110A22"/>
          </a:solidFill>
          <a:ln w="12700">
            <a:solidFill>
              <a:srgbClr val="1E1040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88736" y="4882896"/>
            <a:ext cx="2212848" cy="5029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88736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8736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2057</Words>
  <Application>Microsoft Office PowerPoint</Application>
  <PresentationFormat>On-screen Show (16:9)</PresentationFormat>
  <Paragraphs>427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– CSS Animations, Transitions &amp; Transformations</dc:title>
  <dc:subject>PptxGenJS Presentation</dc:subject>
  <dc:creator>PptxGenJS</dc:creator>
  <cp:lastModifiedBy>Ajay Solanki</cp:lastModifiedBy>
  <cp:revision>2</cp:revision>
  <dcterms:created xsi:type="dcterms:W3CDTF">2026-05-28T03:17:33Z</dcterms:created>
  <dcterms:modified xsi:type="dcterms:W3CDTF">2026-05-29T05:34:24Z</dcterms:modified>
</cp:coreProperties>
</file>