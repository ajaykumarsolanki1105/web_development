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-1828800"/>
            <a:ext cx="5120640" cy="5120640"/>
          </a:xfrm>
          <a:prstGeom prst="ellipse">
            <a:avLst/>
          </a:prstGeom>
          <a:solidFill>
            <a:srgbClr val="FF6B2B">
              <a:alpha val="9000"/>
            </a:srgbClr>
          </a:solidFill>
          <a:ln w="12700">
            <a:solidFill>
              <a:srgbClr val="FF6B2B">
                <a:alpha val="9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017520"/>
            <a:ext cx="3291840" cy="3291840"/>
          </a:xfrm>
          <a:prstGeom prst="ellipse">
            <a:avLst/>
          </a:prstGeom>
          <a:solidFill>
            <a:srgbClr val="EF476F">
              <a:alpha val="5000"/>
            </a:srgbClr>
          </a:solidFill>
          <a:ln w="12700">
            <a:solidFill>
              <a:srgbClr val="EF476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194560"/>
            <a:ext cx="2194560" cy="2194560"/>
          </a:xfrm>
          <a:prstGeom prst="ellipse">
            <a:avLst/>
          </a:prstGeom>
          <a:solidFill>
            <a:srgbClr val="FFD166">
              <a:alpha val="4000"/>
            </a:srgbClr>
          </a:solidFill>
          <a:ln w="12700">
            <a:solidFill>
              <a:srgbClr val="FFD166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DAY 6 OF 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86384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Fundamentals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6492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Selectors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23113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that makes every webpage beautiful. Master selectors — rule your styles.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029968" cy="384048"/>
          </a:xfrm>
          <a:prstGeom prst="rect">
            <a:avLst/>
          </a:prstGeom>
          <a:solidFill>
            <a:srgbClr val="1C184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889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CSS Works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33472" y="2788920"/>
            <a:ext cx="2029968" cy="384048"/>
          </a:xfrm>
          <a:prstGeom prst="rect">
            <a:avLst/>
          </a:prstGeom>
          <a:solidFill>
            <a:srgbClr val="1C1840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27889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&amp; Spec.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9744" y="2788920"/>
            <a:ext cx="2029968" cy="384048"/>
          </a:xfrm>
          <a:prstGeom prst="rect">
            <a:avLst/>
          </a:prstGeom>
          <a:solidFill>
            <a:srgbClr val="1C184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27889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2029968" cy="384048"/>
          </a:xfrm>
          <a:prstGeom prst="rect">
            <a:avLst/>
          </a:prstGeom>
          <a:solidFill>
            <a:srgbClr val="1C18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82696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&amp; Units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33472" y="3282696"/>
            <a:ext cx="2029968" cy="384048"/>
          </a:xfrm>
          <a:prstGeom prst="rect">
            <a:avLst/>
          </a:prstGeom>
          <a:solidFill>
            <a:srgbClr val="1C1840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3282696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&amp; Inherit.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38221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42428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Core Topics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84832" y="38221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084832" y="42428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CSS Props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12464" y="38221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min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712464" y="42428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Video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40096" y="382219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40096" y="424281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Styled Card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9168" y="749808"/>
            <a:ext cx="1883664" cy="4297680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59168" y="749808"/>
            <a:ext cx="1883664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83210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24344" y="83210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0648" y="83210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6096" y="795528"/>
            <a:ext cx="11521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32320" y="10515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351776" y="10515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 rules */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7132320" y="13030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51776" y="13030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7132320" y="15544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51776" y="15544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#FF6B2B;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7132320" y="18059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51776" y="18059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2rem;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7132320" y="20574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351776" y="20574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7132320" y="23088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351776" y="23088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7132320" y="25603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51776" y="25603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#fff;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7132320" y="28117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351776" y="28117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1.5rem;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7132320" y="30632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351776" y="30632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border-radius:12px;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7132320" y="33147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351776" y="33147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7132320" y="35661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51776" y="35661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#hero {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7132320" y="38176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51776" y="38176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flex;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7132320" y="40690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351776" y="406908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1rem;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7132320" y="432054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51776" y="432054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62" name="Text 60"/>
          <p:cNvSpPr/>
          <p:nvPr/>
        </p:nvSpPr>
        <p:spPr>
          <a:xfrm>
            <a:off x="7132320" y="457200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351776" y="457200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 {</a:t>
            </a:r>
            <a:endParaRPr lang="en-US" sz="980" dirty="0"/>
          </a:p>
        </p:txBody>
      </p:sp>
      <p:sp>
        <p:nvSpPr>
          <p:cNvPr id="64" name="Text 62"/>
          <p:cNvSpPr/>
          <p:nvPr/>
        </p:nvSpPr>
        <p:spPr>
          <a:xfrm>
            <a:off x="7132320" y="482346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51776" y="482346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#06D6A0;</a:t>
            </a:r>
            <a:endParaRPr lang="en-US" sz="980" dirty="0"/>
          </a:p>
        </p:txBody>
      </p:sp>
      <p:sp>
        <p:nvSpPr>
          <p:cNvPr id="66" name="Text 64"/>
          <p:cNvSpPr/>
          <p:nvPr/>
        </p:nvSpPr>
        <p:spPr>
          <a:xfrm>
            <a:off x="7132320" y="507492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351776" y="5074920"/>
            <a:ext cx="1499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0"/>
                </a:solidFill>
              </a:rPr>
              <a:t>Day 6  •  CSS Fundamentals &amp; Selectors  •  40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8375904" cy="6583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78992"/>
            <a:ext cx="50292" cy="65836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34440"/>
            <a:ext cx="329184" cy="329184"/>
          </a:xfrm>
          <a:prstGeom prst="ellipse">
            <a:avLst/>
          </a:prstGeom>
          <a:solidFill>
            <a:srgbClr val="FF6B2B">
              <a:alpha val="18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4128" y="1143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CSS Works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24128" y="145389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stylesheets, inline vs external, browser defaults, DevTools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solidFill>
            <a:srgbClr val="FF6B2B">
              <a:alpha val="16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127101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</a:rPr>
              <a:t>~7 min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47088"/>
            <a:ext cx="8375904" cy="6583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1847088"/>
            <a:ext cx="50292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002536"/>
            <a:ext cx="329184" cy="329184"/>
          </a:xfrm>
          <a:prstGeom prst="ellipse">
            <a:avLst/>
          </a:prstGeom>
          <a:solidFill>
            <a:srgbClr val="EF476F">
              <a:alpha val="18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025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4128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Selectors &amp; Specificity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24128" y="222199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element, .class, #id, pseudo-class, combinators, specificity scoring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solidFill>
            <a:srgbClr val="EF476F">
              <a:alpha val="16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203911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76F"/>
                </a:solidFill>
              </a:rPr>
              <a:t>~10 min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84048" y="2615184"/>
            <a:ext cx="8375904" cy="6583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4048" y="2615184"/>
            <a:ext cx="50292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770632"/>
            <a:ext cx="329184" cy="329184"/>
          </a:xfrm>
          <a:prstGeom prst="ellipse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7706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24128" y="2679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 Model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24128" y="2990088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border, margin, box-sizing, width/height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solidFill>
            <a:srgbClr val="06D6A0">
              <a:alpha val="16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5008" y="280720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D6A0"/>
                </a:solidFill>
              </a:rPr>
              <a:t>~8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84048" y="3383280"/>
            <a:ext cx="8375904" cy="6583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383280"/>
            <a:ext cx="50292" cy="65836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538728"/>
            <a:ext cx="329184" cy="329184"/>
          </a:xfrm>
          <a:prstGeom prst="ellipse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5387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4128" y="34472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Colors, Fonts &amp; Units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24128" y="37581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hex, rgb, hsl, rem, em, %, vw/vh, font-family, weight, line-height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solidFill>
            <a:srgbClr val="FFD166">
              <a:alpha val="16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65008" y="357530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~8 min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84048" y="4151376"/>
            <a:ext cx="8375904" cy="6583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84048" y="4151376"/>
            <a:ext cx="50292" cy="65836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4306824"/>
            <a:ext cx="329184" cy="329184"/>
          </a:xfrm>
          <a:prstGeom prst="ellipse">
            <a:avLst/>
          </a:prstGeom>
          <a:solidFill>
            <a:srgbClr val="118AB2">
              <a:alpha val="18000"/>
            </a:srgbClr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3068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24128" y="42153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&amp; Inheritance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24128" y="45262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!important, specificity order, source order, inherit, CSS custom properties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solidFill>
            <a:srgbClr val="118AB2">
              <a:alpha val="16000"/>
            </a:srgbClr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65008" y="434340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8AB2"/>
                </a:solidFill>
              </a:rPr>
              <a:t>~5 min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FF6B2B">
              <a:alpha val="10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6928" y="4919472"/>
            <a:ext cx="7498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2B"/>
                </a:solidFill>
              </a:rPr>
              <a:t>PROJECT: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53312" y="4919472"/>
            <a:ext cx="72786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</a:rPr>
              <a:t>Styled Profile Card — apply selectors, box model, colors and typography to your Day 1 HTML page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TOPIC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CSS Works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Cascading Style Sheets. It tells the browser how HTML elements should look.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2779776" cy="40965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69264"/>
            <a:ext cx="2779776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078992"/>
            <a:ext cx="438912" cy="329184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07899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42416" y="1097280"/>
            <a:ext cx="292608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21208" y="1499616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External Stylesheet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1901952"/>
            <a:ext cx="2578608" cy="1353312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1901952"/>
            <a:ext cx="257860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" y="1984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19476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pPr algn="ctr" indent="0" marL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" y="1901952"/>
            <a:ext cx="2578608" cy="1353312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1901952"/>
            <a:ext cx="257860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1984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1984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19476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" y="22037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8096" y="2203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8640" y="24551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68096" y="24551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href="style.css"&gt;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21208" y="3346704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practice. One file, all pages. Easy maintenance. Lives in &lt;head&gt;. Browser caches it — loads faster on repeat visits.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00984" y="969264"/>
            <a:ext cx="2779776" cy="40965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300984" y="969264"/>
            <a:ext cx="2779776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38144" y="1078992"/>
            <a:ext cx="438912" cy="329184"/>
          </a:xfrm>
          <a:prstGeom prst="rect">
            <a:avLst/>
          </a:prstGeom>
          <a:solidFill>
            <a:srgbClr val="FF6B2B">
              <a:alpha val="18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38144" y="107899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959352" y="1097280"/>
            <a:ext cx="292608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59352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38144" y="1499616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&lt;style&gt; Block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392424" y="1901952"/>
            <a:ext cx="2578608" cy="1353312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392424" y="1901952"/>
            <a:ext cx="257860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11296" y="1984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0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03904" y="1984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59352" y="19476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pPr algn="ctr" indent="0" marL="0">
              <a:buNone/>
            </a:pPr>
            <a:pPr algn="ctr" indent="0" marL="0">
              <a:buNone/>
            </a:pPr>
            <a:pPr algn="ctr" indent="0" marL="0">
              <a:buNone/>
            </a:pPr>
            <a:pPr algn="ctr" indent="0" marL="0">
              <a:buNone/>
            </a:pP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92424" y="1901952"/>
            <a:ext cx="2578608" cy="1353312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392424" y="1901952"/>
            <a:ext cx="257860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511296" y="1984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0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03904" y="1984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59352" y="19476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465576" y="22037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685032" y="2203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3465576" y="24551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85032" y="24551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3465576" y="27066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85032" y="2706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 { color: red; }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3465576" y="29580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685032" y="29580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3465576" y="32095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685032" y="3209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980" dirty="0"/>
          </a:p>
        </p:txBody>
      </p:sp>
      <p:sp>
        <p:nvSpPr>
          <p:cNvPr id="60" name="Text 58"/>
          <p:cNvSpPr/>
          <p:nvPr/>
        </p:nvSpPr>
        <p:spPr>
          <a:xfrm>
            <a:off x="3438144" y="3346704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for just this page. Good for prototyping or single-page sites. Adds weight to the HTML file.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217920" y="969264"/>
            <a:ext cx="2779776" cy="40965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217920" y="969264"/>
            <a:ext cx="2779776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5080" y="1078992"/>
            <a:ext cx="438912" cy="329184"/>
          </a:xfrm>
          <a:prstGeom prst="rect">
            <a:avLst/>
          </a:prstGeom>
          <a:solidFill>
            <a:srgbClr val="EF476F">
              <a:alpha val="18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1078992"/>
            <a:ext cx="4389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=""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876288" y="1097280"/>
            <a:ext cx="292608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76288" y="10972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0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355080" y="1499616"/>
            <a:ext cx="24871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style= Attribute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6309360" y="1901952"/>
            <a:ext cx="2578608" cy="1353312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309360" y="1901952"/>
            <a:ext cx="257860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28232" y="1984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574536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720840" y="1984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76288" y="19476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pPr algn="ctr" indent="0" marL="0">
              <a:buNone/>
            </a:pPr>
            <a:pPr algn="ctr" indent="0" marL="0">
              <a:buNone/>
            </a:pPr>
            <a:pPr algn="ctr" indent="0" marL="0">
              <a:buNone/>
            </a:pPr>
            <a:pPr algn="ctr" indent="0" marL="0">
              <a:buNone/>
            </a:pP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309360" y="1901952"/>
            <a:ext cx="2578608" cy="1353312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309360" y="1901952"/>
            <a:ext cx="257860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28232" y="1984248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574536" y="1984248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720840" y="1984248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876288" y="1947672"/>
            <a:ext cx="18470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382512" y="220370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601968" y="22037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style=</a:t>
            </a:r>
            <a:endParaRPr lang="en-US" sz="980" dirty="0"/>
          </a:p>
        </p:txBody>
      </p:sp>
      <p:sp>
        <p:nvSpPr>
          <p:cNvPr id="82" name="Text 80"/>
          <p:cNvSpPr/>
          <p:nvPr/>
        </p:nvSpPr>
        <p:spPr>
          <a:xfrm>
            <a:off x="6382512" y="24551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601968" y="24551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"color: red;</a:t>
            </a:r>
            <a:endParaRPr lang="en-US" sz="980" dirty="0"/>
          </a:p>
        </p:txBody>
      </p:sp>
      <p:sp>
        <p:nvSpPr>
          <p:cNvPr id="84" name="Text 82"/>
          <p:cNvSpPr/>
          <p:nvPr/>
        </p:nvSpPr>
        <p:spPr>
          <a:xfrm>
            <a:off x="6382512" y="270662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6601968" y="27066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font-size: 2rem;"&gt;</a:t>
            </a:r>
            <a:endParaRPr lang="en-US" sz="980" dirty="0"/>
          </a:p>
        </p:txBody>
      </p:sp>
      <p:sp>
        <p:nvSpPr>
          <p:cNvPr id="86" name="Text 84"/>
          <p:cNvSpPr/>
          <p:nvPr/>
        </p:nvSpPr>
        <p:spPr>
          <a:xfrm>
            <a:off x="6382512" y="295808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601968" y="29580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</a:t>
            </a:r>
            <a:endParaRPr lang="en-US" sz="980" dirty="0"/>
          </a:p>
        </p:txBody>
      </p:sp>
      <p:sp>
        <p:nvSpPr>
          <p:cNvPr id="88" name="Text 86"/>
          <p:cNvSpPr/>
          <p:nvPr/>
        </p:nvSpPr>
        <p:spPr>
          <a:xfrm>
            <a:off x="6382512" y="320954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601968" y="32095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980" dirty="0"/>
          </a:p>
        </p:txBody>
      </p:sp>
      <p:sp>
        <p:nvSpPr>
          <p:cNvPr id="90" name="Text 88"/>
          <p:cNvSpPr/>
          <p:nvPr/>
        </p:nvSpPr>
        <p:spPr>
          <a:xfrm>
            <a:off x="6355080" y="3346704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specificity. Hard to maintain. Use only for dynamic JS styles or quick overrides. Avoid for regular styling.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384048" y="4169664"/>
            <a:ext cx="8375904" cy="932688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92" name="Text 90"/>
          <p:cNvSpPr/>
          <p:nvPr/>
        </p:nvSpPr>
        <p:spPr>
          <a:xfrm>
            <a:off x="566928" y="42428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Rule Anatomy: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468880" y="4224528"/>
            <a:ext cx="1005840" cy="402336"/>
          </a:xfrm>
          <a:prstGeom prst="rect">
            <a:avLst/>
          </a:prstGeom>
          <a:solidFill>
            <a:srgbClr val="1A0A0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468880" y="42245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2468880" y="4645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2B"/>
                </a:solidFill>
              </a:rPr>
              <a:t>Selector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3547872" y="422452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2000" dirty="0"/>
          </a:p>
        </p:txBody>
      </p:sp>
      <p:sp>
        <p:nvSpPr>
          <p:cNvPr id="97" name="Shape 95"/>
          <p:cNvSpPr/>
          <p:nvPr/>
        </p:nvSpPr>
        <p:spPr>
          <a:xfrm>
            <a:off x="3858768" y="4224528"/>
            <a:ext cx="841248" cy="402336"/>
          </a:xfrm>
          <a:prstGeom prst="rect">
            <a:avLst/>
          </a:prstGeom>
          <a:solidFill>
            <a:srgbClr val="1A100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858768" y="4224528"/>
            <a:ext cx="8412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3858768" y="464515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166"/>
                </a:solidFill>
              </a:rPr>
              <a:t>Property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736592" y="4224528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4974336" y="4224528"/>
            <a:ext cx="1005840" cy="402336"/>
          </a:xfrm>
          <a:prstGeom prst="rect">
            <a:avLst/>
          </a:prstGeom>
          <a:solidFill>
            <a:srgbClr val="000E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74336" y="42245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4974336" y="4645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</a:rPr>
              <a:t>Value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6016752" y="4224528"/>
            <a:ext cx="201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6254496" y="422452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000" dirty="0"/>
          </a:p>
        </p:txBody>
      </p:sp>
      <p:sp>
        <p:nvSpPr>
          <p:cNvPr id="106" name="Text 104"/>
          <p:cNvSpPr/>
          <p:nvPr/>
        </p:nvSpPr>
        <p:spPr>
          <a:xfrm>
            <a:off x="3858768" y="4041648"/>
            <a:ext cx="20482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80"/>
                </a:solidFill>
              </a:rPr>
              <a:t>← Declaration →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675120" y="4206240"/>
            <a:ext cx="2011680" cy="877824"/>
          </a:xfrm>
          <a:prstGeom prst="rect">
            <a:avLst/>
          </a:prstGeom>
          <a:solidFill>
            <a:srgbClr val="241F5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766560" y="4261104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F12 DevTools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6766560" y="4498848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element → see &amp; edit its CSS live in the browser!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TOPIC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Selectors &amp; Specificity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target HTML elements. Specificity decides which rule wins when multiple rules compete.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69264"/>
            <a:ext cx="50292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" y="1051560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05156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89888" y="1060704"/>
            <a:ext cx="786384" cy="237744"/>
          </a:xfrm>
          <a:prstGeom prst="rect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89888" y="1060704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249424" y="1051560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ALL &lt;h1&gt; tags. Lowest weight.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470355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1470355"/>
            <a:ext cx="50292" cy="43891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" y="1552651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1552651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89888" y="1561795"/>
            <a:ext cx="786384" cy="237744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1561795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249424" y="1552651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Most-used. Targets class='card'.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1971446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1971446"/>
            <a:ext cx="50292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" y="2053742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205374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89888" y="2062886"/>
            <a:ext cx="786384" cy="237744"/>
          </a:xfrm>
          <a:prstGeom prst="rect">
            <a:avLst/>
          </a:prstGeom>
          <a:solidFill>
            <a:srgbClr val="FFD166">
              <a:alpha val="14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89888" y="2062886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249424" y="2053742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element. High weight — use sparingly.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2472538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2472538"/>
            <a:ext cx="50292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2064" y="2554834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255483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a:hover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389888" y="2563978"/>
            <a:ext cx="786384" cy="237744"/>
          </a:xfrm>
          <a:prstGeom prst="rect">
            <a:avLst/>
          </a:prstGeom>
          <a:solidFill>
            <a:srgbClr val="EF476F">
              <a:alpha val="14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89888" y="2563978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Pseudo-class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249424" y="2554834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State-based: :focus :active :nth-child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2973629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2973629"/>
            <a:ext cx="50292" cy="43891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2064" y="3055925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3055925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&gt; 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389888" y="3065069"/>
            <a:ext cx="786384" cy="237744"/>
          </a:xfrm>
          <a:prstGeom prst="rect">
            <a:avLst/>
          </a:prstGeom>
          <a:solidFill>
            <a:srgbClr val="118AB2">
              <a:alpha val="14000"/>
            </a:srgbClr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89888" y="3065069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249424" y="3055925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children only — not grandchildren.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84048" y="3474720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84048" y="3474720"/>
            <a:ext cx="50292" cy="43891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2064" y="3557016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355701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89888" y="3566160"/>
            <a:ext cx="786384" cy="237744"/>
          </a:xfrm>
          <a:prstGeom prst="rect">
            <a:avLst/>
          </a:prstGeom>
          <a:solidFill>
            <a:srgbClr val="118AB2">
              <a:alpha val="14000"/>
            </a:srgbClr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89888" y="3566160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Descendant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249424" y="3557016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&lt;p&gt; inside a &lt;div&gt;, at any depth.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4048" y="3975811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84048" y="3975811"/>
            <a:ext cx="50292" cy="438912"/>
          </a:xfrm>
          <a:prstGeom prst="rect">
            <a:avLst/>
          </a:prstGeom>
          <a:solidFill>
            <a:srgbClr val="6B6480"/>
          </a:solidFill>
          <a:ln w="12700">
            <a:solidFill>
              <a:srgbClr val="6B64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12064" y="4058107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6B64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2064" y="4058107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389888" y="4067251"/>
            <a:ext cx="786384" cy="237744"/>
          </a:xfrm>
          <a:prstGeom prst="rect">
            <a:avLst/>
          </a:prstGeom>
          <a:solidFill>
            <a:srgbClr val="6B6480">
              <a:alpha val="14000"/>
            </a:srgbClr>
          </a:solidFill>
          <a:ln w="12700">
            <a:solidFill>
              <a:srgbClr val="6B64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89888" y="4067251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249424" y="4058107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same styles to multiple targets.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4048" y="4476902"/>
            <a:ext cx="4480560" cy="4389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84048" y="4476902"/>
            <a:ext cx="50292" cy="438912"/>
          </a:xfrm>
          <a:prstGeom prst="rect">
            <a:avLst/>
          </a:prstGeom>
          <a:solidFill>
            <a:srgbClr val="C8C0D8"/>
          </a:solidFill>
          <a:ln w="12700">
            <a:solidFill>
              <a:srgbClr val="C8C0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12064" y="4559198"/>
            <a:ext cx="804672" cy="256032"/>
          </a:xfrm>
          <a:prstGeom prst="rect">
            <a:avLst/>
          </a:prstGeom>
          <a:solidFill>
            <a:srgbClr val="07050F"/>
          </a:solidFill>
          <a:ln w="12700">
            <a:solidFill>
              <a:srgbClr val="C8C0D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2064" y="455919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89888" y="4568342"/>
            <a:ext cx="786384" cy="237744"/>
          </a:xfrm>
          <a:prstGeom prst="rect">
            <a:avLst/>
          </a:prstGeom>
          <a:solidFill>
            <a:srgbClr val="C8C0D8">
              <a:alpha val="14000"/>
            </a:srgbClr>
          </a:solidFill>
          <a:ln w="12700">
            <a:solidFill>
              <a:srgbClr val="C8C0D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89888" y="4568342"/>
            <a:ext cx="786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2249424" y="4559198"/>
            <a:ext cx="2542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every element. Lowest priority.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029200" y="969264"/>
            <a:ext cx="3785616" cy="40965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5212080" y="1042416"/>
            <a:ext cx="3419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 — Who Wins?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212080" y="1344168"/>
            <a:ext cx="3419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= stronger rule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193792" y="168249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193792" y="1956816"/>
            <a:ext cx="3108960" cy="182880"/>
          </a:xfrm>
          <a:prstGeom prst="rect">
            <a:avLst/>
          </a:prstGeom>
          <a:solidFill>
            <a:srgbClr val="241F50"/>
          </a:solidFill>
          <a:ln w="12700">
            <a:solidFill>
              <a:srgbClr val="241F5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193792" y="1956816"/>
            <a:ext cx="3108960" cy="1828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339328" y="193852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all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5193792" y="234086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style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193792" y="2615184"/>
            <a:ext cx="3108960" cy="182880"/>
          </a:xfrm>
          <a:prstGeom prst="rect">
            <a:avLst/>
          </a:prstGeom>
          <a:solidFill>
            <a:srgbClr val="241F50"/>
          </a:solidFill>
          <a:ln w="12700">
            <a:solidFill>
              <a:srgbClr val="241F5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93792" y="2615184"/>
            <a:ext cx="2651760" cy="1828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339328" y="2596896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1, 0, 0, 0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193792" y="29992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#id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193792" y="3273552"/>
            <a:ext cx="3108960" cy="182880"/>
          </a:xfrm>
          <a:prstGeom prst="rect">
            <a:avLst/>
          </a:prstGeom>
          <a:solidFill>
            <a:srgbClr val="241F50"/>
          </a:solidFill>
          <a:ln w="12700">
            <a:solidFill>
              <a:srgbClr val="241F5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93792" y="3273552"/>
            <a:ext cx="2103120" cy="182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339328" y="3255264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0, 1, 0, 0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193792" y="36576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.cls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193792" y="3931920"/>
            <a:ext cx="3108960" cy="182880"/>
          </a:xfrm>
          <a:prstGeom prst="rect">
            <a:avLst/>
          </a:prstGeom>
          <a:solidFill>
            <a:srgbClr val="241F50"/>
          </a:solidFill>
          <a:ln w="12700">
            <a:solidFill>
              <a:srgbClr val="241F5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193792" y="3931920"/>
            <a:ext cx="1554480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39328" y="3913632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0, 0, 1, 0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5193792" y="431596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 h1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193792" y="4590288"/>
            <a:ext cx="3108960" cy="182880"/>
          </a:xfrm>
          <a:prstGeom prst="rect">
            <a:avLst/>
          </a:prstGeom>
          <a:solidFill>
            <a:srgbClr val="241F50"/>
          </a:solidFill>
          <a:ln w="12700">
            <a:solidFill>
              <a:srgbClr val="241F5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193792" y="4590288"/>
            <a:ext cx="914400" cy="18288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339328" y="4572000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0, 0, 0, 1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193792" y="497433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 *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193792" y="5248656"/>
            <a:ext cx="3108960" cy="182880"/>
          </a:xfrm>
          <a:prstGeom prst="rect">
            <a:avLst/>
          </a:prstGeom>
          <a:solidFill>
            <a:srgbClr val="241F50"/>
          </a:solidFill>
          <a:ln w="12700">
            <a:solidFill>
              <a:srgbClr val="241F5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93792" y="5248656"/>
            <a:ext cx="365760" cy="182880"/>
          </a:xfrm>
          <a:prstGeom prst="rect">
            <a:avLst/>
          </a:prstGeom>
          <a:solidFill>
            <a:srgbClr val="6B6480"/>
          </a:solidFill>
          <a:ln w="12700">
            <a:solidFill>
              <a:srgbClr val="6B648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339328" y="5230368"/>
            <a:ext cx="475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0, 0, 0, 0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5029200" y="4754880"/>
            <a:ext cx="3785616" cy="347472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5138928" y="479145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B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in doubt, use classes. ID specificity causes debugging nightmares.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E0B1E"/>
                </a:solidFill>
              </a:rPr>
              <a:t>TOPIC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 Model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HTML element is a rectangular box. The box model defines that element's total size and spacing.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" y="987552"/>
            <a:ext cx="4114800" cy="4041648"/>
          </a:xfrm>
          <a:prstGeom prst="rect">
            <a:avLst/>
          </a:prstGeom>
          <a:solidFill>
            <a:srgbClr val="12094A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078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4535424"/>
            <a:ext cx="38770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8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other elements away — outside the border. Always transparent.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50976" y="1463040"/>
            <a:ext cx="3054096" cy="2980944"/>
          </a:xfrm>
          <a:prstGeom prst="rect">
            <a:avLst/>
          </a:prstGeom>
          <a:solidFill>
            <a:srgbClr val="1A0E0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5361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" y="3858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2px solid red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35024" y="1865376"/>
            <a:ext cx="2286000" cy="2176272"/>
          </a:xfrm>
          <a:prstGeom prst="rect">
            <a:avLst/>
          </a:prstGeom>
          <a:solidFill>
            <a:srgbClr val="00160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26464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26464" y="3584448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border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773936" y="2322576"/>
            <a:ext cx="1408176" cy="1170432"/>
          </a:xfrm>
          <a:prstGeom prst="rect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73936" y="2322576"/>
            <a:ext cx="14081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73936" y="2779776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× height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36592" y="987552"/>
            <a:ext cx="4078224" cy="73152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987552"/>
            <a:ext cx="50292" cy="7315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1115568"/>
            <a:ext cx="987552" cy="274320"/>
          </a:xfrm>
          <a:prstGeom prst="rect">
            <a:avLst/>
          </a:prstGeom>
          <a:solidFill>
            <a:srgbClr val="07050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111556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25312" y="1078992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text/image area. Set with width: and height:. Defaults to fitting content.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1810512"/>
            <a:ext cx="4078224" cy="73152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810512"/>
            <a:ext cx="50292" cy="7315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1938528"/>
            <a:ext cx="987552" cy="274320"/>
          </a:xfrm>
          <a:prstGeom prst="rect">
            <a:avLst/>
          </a:prstGeom>
          <a:solidFill>
            <a:srgbClr val="07050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193852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25312" y="1901952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the border. padding: 20px or shorthand padding: 10px 20px (top-bottom, left-right).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2633472"/>
            <a:ext cx="4078224" cy="73152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2633472"/>
            <a:ext cx="50292" cy="73152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64608" y="2761488"/>
            <a:ext cx="987552" cy="274320"/>
          </a:xfrm>
          <a:prstGeom prst="rect">
            <a:avLst/>
          </a:prstGeom>
          <a:solidFill>
            <a:srgbClr val="07050F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76148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25312" y="2724912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visible edge. border: 2px solid red — shorthand for width, style, color.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36592" y="3456432"/>
            <a:ext cx="4078224" cy="73152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3456432"/>
            <a:ext cx="50292" cy="73152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64608" y="3584448"/>
            <a:ext cx="987552" cy="274320"/>
          </a:xfrm>
          <a:prstGeom prst="rect">
            <a:avLst/>
          </a:prstGeom>
          <a:solidFill>
            <a:srgbClr val="07050F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358444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25312" y="3547872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outside the border. margin: auto centres block elements horizontally.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36592" y="4279392"/>
            <a:ext cx="4078224" cy="73152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4279392"/>
            <a:ext cx="50292" cy="7315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64608" y="4407408"/>
            <a:ext cx="987552" cy="274320"/>
          </a:xfrm>
          <a:prstGeom prst="rect">
            <a:avLst/>
          </a:prstGeom>
          <a:solidFill>
            <a:srgbClr val="07050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4407408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box-sizing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25312" y="4370832"/>
            <a:ext cx="2816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{ box-sizing: border-box } — makes width INCLUDE padding + border. ALWAYS add this!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E0B1E"/>
                </a:solidFill>
              </a:rPr>
              <a:t>TOPIC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Colors, Fonts &amp; Units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these and your pages will look professional immediately.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06240" cy="182880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69264"/>
            <a:ext cx="4206240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42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Formats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417320"/>
            <a:ext cx="164592" cy="164592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408176"/>
            <a:ext cx="493776" cy="201168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408176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35024" y="140817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#FF6B2B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24912" y="1408176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common. 6 hex digits = R G B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" y="1691640"/>
            <a:ext cx="164592" cy="164592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1682496"/>
            <a:ext cx="493776" cy="201168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1682496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35024" y="168249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rgb(255,107,43)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724912" y="1682496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Green, Blue values 0–255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66928" y="1965960"/>
            <a:ext cx="164592" cy="164592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6384" y="1956816"/>
            <a:ext cx="493776" cy="201168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1956816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RGBA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35024" y="195681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rgba(255,107,43,.5)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24912" y="1956816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RGB + alpha (opacity) 0–1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2240280"/>
            <a:ext cx="164592" cy="164592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2231136"/>
            <a:ext cx="493776" cy="201168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" y="2231136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35024" y="223113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hsl(20,100%,58%)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24912" y="2231136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Hue, Saturation, Lightness — easiest to tune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" y="2514600"/>
            <a:ext cx="164592" cy="164592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" y="2505456"/>
            <a:ext cx="493776" cy="201168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" y="2505456"/>
            <a:ext cx="4937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335024" y="2505456"/>
            <a:ext cx="13350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orangered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24912" y="2505456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named colors in CSS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84048" y="2871216"/>
            <a:ext cx="4206240" cy="219456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84048" y="2871216"/>
            <a:ext cx="4206240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29443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Units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66928" y="3310128"/>
            <a:ext cx="640080" cy="201168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33101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261872" y="3328416"/>
            <a:ext cx="493776" cy="164592"/>
          </a:xfrm>
          <a:prstGeom prst="rect">
            <a:avLst/>
          </a:prstGeom>
          <a:solidFill>
            <a:srgbClr val="FF6B2B">
              <a:alpha val="12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1872" y="3328416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828800" y="331012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pixels. 16px always = 16px. Use for borders, shadows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66928" y="3602736"/>
            <a:ext cx="640080" cy="201168"/>
          </a:xfrm>
          <a:prstGeom prst="rect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360273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261872" y="3621024"/>
            <a:ext cx="493776" cy="164592"/>
          </a:xfrm>
          <a:prstGeom prst="rect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61872" y="3621024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828800" y="3602736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root font-size (16px default). 1.5rem = 24px. Best for fonts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6928" y="3895344"/>
            <a:ext cx="640080" cy="201168"/>
          </a:xfrm>
          <a:prstGeom prst="rect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6928" y="389534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1261872" y="3913632"/>
            <a:ext cx="493776" cy="164592"/>
          </a:xfrm>
          <a:prstGeom prst="rect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61872" y="3913632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828800" y="3895344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PARENT font-size. Compounds — use carefully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187952"/>
            <a:ext cx="640080" cy="201168"/>
          </a:xfrm>
          <a:prstGeom prst="rect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6928" y="41879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261872" y="4206240"/>
            <a:ext cx="493776" cy="164592"/>
          </a:xfrm>
          <a:prstGeom prst="rect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261872" y="4206240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828800" y="4187952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parent. width:100% fills the container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66928" y="4480560"/>
            <a:ext cx="640080" cy="201168"/>
          </a:xfrm>
          <a:prstGeom prst="rect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" y="44805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 / vh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261872" y="4498848"/>
            <a:ext cx="493776" cy="164592"/>
          </a:xfrm>
          <a:prstGeom prst="rect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261872" y="449884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828800" y="4480560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viewport width/height. 100vw = full screen width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66928" y="4773168"/>
            <a:ext cx="640080" cy="201168"/>
          </a:xfrm>
          <a:prstGeom prst="rect">
            <a:avLst/>
          </a:prstGeom>
          <a:solidFill>
            <a:srgbClr val="06D6A0">
              <a:alpha val="14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6928" y="47731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261872" y="4791456"/>
            <a:ext cx="493776" cy="164592"/>
          </a:xfrm>
          <a:prstGeom prst="rect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261872" y="4791456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1828800" y="4773168"/>
            <a:ext cx="2688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unit for CSS Grid. 1fr = one fraction of available space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773168" y="969264"/>
            <a:ext cx="4041648" cy="409651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56048" y="10424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 Properties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828032" y="1371600"/>
            <a:ext cx="3913632" cy="3657600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828032" y="1371600"/>
            <a:ext cx="3913632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46904" y="1453896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93208" y="1453896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239512" y="1453896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94960" y="1417320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4901184" y="16733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16733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Font family */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19248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192481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font-family: Georgia,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21762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21762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"Times New Roman",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4901184" y="24277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20640" y="24277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serif;</a:t>
            </a:r>
            <a:endParaRPr lang="en-US" sz="980" dirty="0"/>
          </a:p>
        </p:txBody>
      </p:sp>
      <p:sp>
        <p:nvSpPr>
          <p:cNvPr id="85" name="Text 83"/>
          <p:cNvSpPr/>
          <p:nvPr/>
        </p:nvSpPr>
        <p:spPr>
          <a:xfrm>
            <a:off x="4901184" y="26791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120640" y="26791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87" name="Text 85"/>
          <p:cNvSpPr/>
          <p:nvPr/>
        </p:nvSpPr>
        <p:spPr>
          <a:xfrm>
            <a:off x="4901184" y="29306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120640" y="29306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Size &amp; weight */</a:t>
            </a:r>
            <a:endParaRPr lang="en-US" sz="980" dirty="0"/>
          </a:p>
        </p:txBody>
      </p:sp>
      <p:sp>
        <p:nvSpPr>
          <p:cNvPr id="89" name="Text 87"/>
          <p:cNvSpPr/>
          <p:nvPr/>
        </p:nvSpPr>
        <p:spPr>
          <a:xfrm>
            <a:off x="4901184" y="31821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120640" y="318211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1.5rem;</a:t>
            </a:r>
            <a:endParaRPr lang="en-US" sz="980" dirty="0"/>
          </a:p>
        </p:txBody>
      </p:sp>
      <p:sp>
        <p:nvSpPr>
          <p:cNvPr id="91" name="Text 89"/>
          <p:cNvSpPr/>
          <p:nvPr/>
        </p:nvSpPr>
        <p:spPr>
          <a:xfrm>
            <a:off x="4901184" y="34335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5120640" y="34335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font-weight: 700;</a:t>
            </a:r>
            <a:endParaRPr lang="en-US" sz="980" dirty="0"/>
          </a:p>
        </p:txBody>
      </p:sp>
      <p:sp>
        <p:nvSpPr>
          <p:cNvPr id="93" name="Text 91"/>
          <p:cNvSpPr/>
          <p:nvPr/>
        </p:nvSpPr>
        <p:spPr>
          <a:xfrm>
            <a:off x="4901184" y="36850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120640" y="36850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font-style: italic;</a:t>
            </a:r>
            <a:endParaRPr lang="en-US" sz="980" dirty="0"/>
          </a:p>
        </p:txBody>
      </p:sp>
      <p:sp>
        <p:nvSpPr>
          <p:cNvPr id="95" name="Text 93"/>
          <p:cNvSpPr/>
          <p:nvPr/>
        </p:nvSpPr>
        <p:spPr>
          <a:xfrm>
            <a:off x="4901184" y="39364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120640" y="39364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97" name="Text 95"/>
          <p:cNvSpPr/>
          <p:nvPr/>
        </p:nvSpPr>
        <p:spPr>
          <a:xfrm>
            <a:off x="4901184" y="41879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120640" y="41879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Spacing &amp; align */</a:t>
            </a:r>
            <a:endParaRPr lang="en-US" sz="980" dirty="0"/>
          </a:p>
        </p:txBody>
      </p:sp>
      <p:sp>
        <p:nvSpPr>
          <p:cNvPr id="99" name="Text 97"/>
          <p:cNvSpPr/>
          <p:nvPr/>
        </p:nvSpPr>
        <p:spPr>
          <a:xfrm>
            <a:off x="4901184" y="443941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120640" y="443941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line-height: 1.7;</a:t>
            </a:r>
            <a:endParaRPr lang="en-US" sz="980" dirty="0"/>
          </a:p>
        </p:txBody>
      </p:sp>
      <p:sp>
        <p:nvSpPr>
          <p:cNvPr id="101" name="Text 99"/>
          <p:cNvSpPr/>
          <p:nvPr/>
        </p:nvSpPr>
        <p:spPr>
          <a:xfrm>
            <a:off x="4901184" y="46908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120640" y="469087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letter-spacing: 0.05em;</a:t>
            </a:r>
            <a:endParaRPr lang="en-US" sz="980" dirty="0"/>
          </a:p>
        </p:txBody>
      </p:sp>
      <p:sp>
        <p:nvSpPr>
          <p:cNvPr id="103" name="Text 101"/>
          <p:cNvSpPr/>
          <p:nvPr/>
        </p:nvSpPr>
        <p:spPr>
          <a:xfrm>
            <a:off x="4901184" y="494233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120640" y="494233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text-align: center;</a:t>
            </a:r>
            <a:endParaRPr lang="en-US" sz="980" dirty="0"/>
          </a:p>
        </p:txBody>
      </p:sp>
      <p:sp>
        <p:nvSpPr>
          <p:cNvPr id="105" name="Text 103"/>
          <p:cNvSpPr/>
          <p:nvPr/>
        </p:nvSpPr>
        <p:spPr>
          <a:xfrm>
            <a:off x="4901184" y="519379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5120640" y="519379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text-transform: uppercase;</a:t>
            </a:r>
            <a:endParaRPr lang="en-US" sz="980" dirty="0"/>
          </a:p>
        </p:txBody>
      </p:sp>
      <p:sp>
        <p:nvSpPr>
          <p:cNvPr id="107" name="Text 105"/>
          <p:cNvSpPr/>
          <p:nvPr/>
        </p:nvSpPr>
        <p:spPr>
          <a:xfrm>
            <a:off x="4901184" y="544525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120640" y="5445252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text-decoration: underline;</a:t>
            </a:r>
            <a:endParaRPr lang="en-US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TOPIC 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517904" y="109728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Cascade, Inheritance &amp; CSS Variables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"C" in CSS. Understanding cascade makes debugging 10× faster.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224528" cy="24871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69264"/>
            <a:ext cx="4224528" cy="50292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4241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CF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Cascade Decides the Winner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35024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rules target the same element, the winner is decided in this order: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1792224"/>
            <a:ext cx="274320" cy="27432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92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0B1E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50976" y="17556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50976" y="1993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!important beats everything. Last resort only.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2359152"/>
            <a:ext cx="274320" cy="274320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59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0B1E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50976" y="232257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50976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score wins — ID &gt; class &gt; element.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2926080"/>
            <a:ext cx="274320" cy="27432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26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0B1E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0976" y="28895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Order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0976" y="312724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specificity? Last rule in file wins.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529584"/>
            <a:ext cx="4224528" cy="157276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529584"/>
            <a:ext cx="4224528" cy="502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602736"/>
            <a:ext cx="3858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B3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" y="3913632"/>
            <a:ext cx="38587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properties INHERIT from parent → child automatically: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color, font-family, font-size, line-height, letter-spacing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properties do NOT inherit: margin, padding, border, width, background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73168" y="969264"/>
            <a:ext cx="4041648" cy="413308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969264"/>
            <a:ext cx="4041648" cy="502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1042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Custom Properties (Variables)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6048" y="13350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once. Use everywhere. Change one line = update the whole site.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28032" y="1609344"/>
            <a:ext cx="3913632" cy="3493008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28032" y="1609344"/>
            <a:ext cx="3913632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46904" y="169164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93208" y="169164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39512" y="169164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4960" y="1655064"/>
            <a:ext cx="31821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01184" y="19110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0" y="19110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Define in :root */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901184" y="21625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120640" y="21625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901184" y="2414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20640" y="241401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 #FF6B2B;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901184" y="2665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120640" y="266547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--color-bg: #0E0B1E;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901184" y="2916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20640" y="29169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--color-text: #FFF8F0;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4901184" y="3168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20640" y="31683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--font-head: Georgia;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4901184" y="3419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120640" y="34198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--spacing-md: 1.5rem;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4901184" y="3671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120640" y="367131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--radius: 12px;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4901184" y="3922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392277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901184" y="4174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41742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4425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44256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 with var() */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4677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46771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4928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492861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5180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518007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--color-primary);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5431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543153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var(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5682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56829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--font-head);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5934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593445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LIVE CODING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Styled Profile Card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 stylesheet to your Day 1 HTML and apply everything from today — live.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69264"/>
            <a:ext cx="4315968" cy="4059936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69264"/>
            <a:ext cx="4315968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014984"/>
            <a:ext cx="35844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6656" y="12710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style.css */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57200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6656" y="15224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1. Reset &amp; base */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57200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6656" y="1773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*, *::before, *::after {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57200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76656" y="20253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457200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2768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0; padding: 0;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457200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" y="25283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57200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" y="27797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57200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656" y="30312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--clr-bg: #0E0B1E;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457200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6656" y="32826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--clr-card: #15112C;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57200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6656" y="35341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--clr-accent:#FF6B2B;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457200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76656" y="37856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B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--clr-text: #FFF8F0;</a:t>
            </a:r>
            <a:endParaRPr lang="en-US" sz="980" dirty="0"/>
          </a:p>
        </p:txBody>
      </p:sp>
      <p:sp>
        <p:nvSpPr>
          <p:cNvPr id="35" name="Text 33"/>
          <p:cNvSpPr/>
          <p:nvPr/>
        </p:nvSpPr>
        <p:spPr>
          <a:xfrm>
            <a:off x="457200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40370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57200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76656" y="42885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{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457200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" y="453999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background:var(--clr-bg);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457200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6656" y="47914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var(--clr-text);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457200" y="50429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76656" y="504291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Georgia;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457200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5294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828032" y="969264"/>
            <a:ext cx="3931920" cy="4059936"/>
          </a:xfrm>
          <a:prstGeom prst="rect">
            <a:avLst/>
          </a:prstGeom>
          <a:solidFill>
            <a:srgbClr val="07050F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228600" dist="38100" dir="8100000">
              <a:srgbClr val="000000">
                <a:alpha val="5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969264"/>
            <a:ext cx="3931920" cy="256032"/>
          </a:xfrm>
          <a:prstGeom prst="rect">
            <a:avLst/>
          </a:prstGeom>
          <a:solidFill>
            <a:srgbClr val="080514"/>
          </a:solidFill>
          <a:ln w="12700">
            <a:solidFill>
              <a:srgbClr val="08051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515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93208" y="10515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39512" y="10515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101498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6480"/>
                </a:solidFill>
              </a:rPr>
              <a:t>style.css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901184" y="12710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20640" y="12710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2. Card styles */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4901184" y="15224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20640" y="15224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4901184" y="17739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20640" y="17739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background:var(--clr-card);</a:t>
            </a:r>
            <a:endParaRPr lang="en-US" sz="980" dirty="0"/>
          </a:p>
        </p:txBody>
      </p:sp>
      <p:sp>
        <p:nvSpPr>
          <p:cNvPr id="59" name="Text 57"/>
          <p:cNvSpPr/>
          <p:nvPr/>
        </p:nvSpPr>
        <p:spPr>
          <a:xfrm>
            <a:off x="4901184" y="20253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120640" y="20253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</a:t>
            </a:r>
            <a:endParaRPr lang="en-US" sz="980" dirty="0"/>
          </a:p>
        </p:txBody>
      </p:sp>
      <p:sp>
        <p:nvSpPr>
          <p:cNvPr id="61" name="Text 59"/>
          <p:cNvSpPr/>
          <p:nvPr/>
        </p:nvSpPr>
        <p:spPr>
          <a:xfrm>
            <a:off x="4901184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120640" y="22768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var(--clr-accent);</a:t>
            </a:r>
            <a:endParaRPr lang="en-US" sz="980" dirty="0"/>
          </a:p>
        </p:txBody>
      </p:sp>
      <p:sp>
        <p:nvSpPr>
          <p:cNvPr id="63" name="Text 61"/>
          <p:cNvSpPr/>
          <p:nvPr/>
        </p:nvSpPr>
        <p:spPr>
          <a:xfrm>
            <a:off x="4901184" y="25283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20640" y="25283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12px;</a:t>
            </a:r>
            <a:endParaRPr lang="en-US" sz="980" dirty="0"/>
          </a:p>
        </p:txBody>
      </p:sp>
      <p:sp>
        <p:nvSpPr>
          <p:cNvPr id="65" name="Text 63"/>
          <p:cNvSpPr/>
          <p:nvPr/>
        </p:nvSpPr>
        <p:spPr>
          <a:xfrm>
            <a:off x="4901184" y="27797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120640" y="27797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2rem;</a:t>
            </a:r>
            <a:endParaRPr lang="en-US" sz="980" dirty="0"/>
          </a:p>
        </p:txBody>
      </p:sp>
      <p:sp>
        <p:nvSpPr>
          <p:cNvPr id="67" name="Text 65"/>
          <p:cNvSpPr/>
          <p:nvPr/>
        </p:nvSpPr>
        <p:spPr>
          <a:xfrm>
            <a:off x="4901184" y="30312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120640" y="30312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440px;</a:t>
            </a:r>
            <a:endParaRPr lang="en-US" sz="980" dirty="0"/>
          </a:p>
        </p:txBody>
      </p:sp>
      <p:sp>
        <p:nvSpPr>
          <p:cNvPr id="69" name="Text 67"/>
          <p:cNvSpPr/>
          <p:nvPr/>
        </p:nvSpPr>
        <p:spPr>
          <a:xfrm>
            <a:off x="4901184" y="32826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120640" y="32826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2rem auto;</a:t>
            </a:r>
            <a:endParaRPr lang="en-US" sz="980" dirty="0"/>
          </a:p>
        </p:txBody>
      </p:sp>
      <p:sp>
        <p:nvSpPr>
          <p:cNvPr id="71" name="Text 69"/>
          <p:cNvSpPr/>
          <p:nvPr/>
        </p:nvSpPr>
        <p:spPr>
          <a:xfrm>
            <a:off x="4901184" y="35341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120640" y="35341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73" name="Text 71"/>
          <p:cNvSpPr/>
          <p:nvPr/>
        </p:nvSpPr>
        <p:spPr>
          <a:xfrm>
            <a:off x="4901184" y="37856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120640" y="37856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img {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4901184" y="40370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120640" y="40370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120px;</a:t>
            </a:r>
            <a:endParaRPr lang="en-US" sz="980" dirty="0"/>
          </a:p>
        </p:txBody>
      </p:sp>
      <p:sp>
        <p:nvSpPr>
          <p:cNvPr id="77" name="Text 75"/>
          <p:cNvSpPr/>
          <p:nvPr/>
        </p:nvSpPr>
        <p:spPr>
          <a:xfrm>
            <a:off x="4901184" y="428853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428853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120px;</a:t>
            </a:r>
            <a:endParaRPr lang="en-US" sz="980" dirty="0"/>
          </a:p>
        </p:txBody>
      </p:sp>
      <p:sp>
        <p:nvSpPr>
          <p:cNvPr id="79" name="Text 77"/>
          <p:cNvSpPr/>
          <p:nvPr/>
        </p:nvSpPr>
        <p:spPr>
          <a:xfrm>
            <a:off x="4901184" y="453999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20640" y="453999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50%;</a:t>
            </a:r>
            <a:endParaRPr lang="en-US" sz="980" dirty="0"/>
          </a:p>
        </p:txBody>
      </p:sp>
      <p:sp>
        <p:nvSpPr>
          <p:cNvPr id="81" name="Text 79"/>
          <p:cNvSpPr/>
          <p:nvPr/>
        </p:nvSpPr>
        <p:spPr>
          <a:xfrm>
            <a:off x="4901184" y="47914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120640" y="4791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object-fit: cover;</a:t>
            </a:r>
            <a:endParaRPr lang="en-US" sz="980" dirty="0"/>
          </a:p>
        </p:txBody>
      </p:sp>
      <p:sp>
        <p:nvSpPr>
          <p:cNvPr id="83" name="Text 81"/>
          <p:cNvSpPr/>
          <p:nvPr/>
        </p:nvSpPr>
        <p:spPr>
          <a:xfrm>
            <a:off x="4901184" y="504291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120640" y="504291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80" dirty="0"/>
          </a:p>
        </p:txBody>
      </p:sp>
      <p:sp>
        <p:nvSpPr>
          <p:cNvPr id="85" name="Text 83"/>
          <p:cNvSpPr/>
          <p:nvPr/>
        </p:nvSpPr>
        <p:spPr>
          <a:xfrm>
            <a:off x="4901184" y="529437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8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120640" y="529437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var(--clr-accent);font-size:2rem; }</a:t>
            </a:r>
            <a:endParaRPr lang="en-US" sz="980" dirty="0"/>
          </a:p>
        </p:txBody>
      </p:sp>
      <p:sp>
        <p:nvSpPr>
          <p:cNvPr id="87" name="Shape 85"/>
          <p:cNvSpPr/>
          <p:nvPr/>
        </p:nvSpPr>
        <p:spPr>
          <a:xfrm>
            <a:off x="384048" y="4919472"/>
            <a:ext cx="8375904" cy="182880"/>
          </a:xfrm>
          <a:prstGeom prst="rect">
            <a:avLst/>
          </a:prstGeom>
          <a:solidFill>
            <a:srgbClr val="FF6B2B">
              <a:alpha val="10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6928" y="4919472"/>
            <a:ext cx="8138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B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Open DevTools (F12) while Live Server runs — edit CSS values live, no save needed!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WATCH OUT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CSS Mistakes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beginner makes these. Learn them once and save hours of confusion.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987552"/>
            <a:ext cx="4297680" cy="199339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987552"/>
            <a:ext cx="429768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078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semicolons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1426464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66928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16px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340864" y="1792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51760" y="1426464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5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706624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red;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font-size: 16px;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2064" y="24871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declaration must end with ; — a missing one breaks ALL rules below it in the same block.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46320" y="987552"/>
            <a:ext cx="4297680" cy="199339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987552"/>
            <a:ext cx="429768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92624" y="1078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Forgetting box-sizing: border-box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74336" y="1426464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74336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9200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500px;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03136" y="17922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114032" y="1426464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14032" y="1426464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5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68896" y="1627632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box-sizing: border-box;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500px;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74336" y="24871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padding adds to width. A 500px card becomes 540px — breaking your layout.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3127248"/>
            <a:ext cx="4297680" cy="199339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3127248"/>
            <a:ext cx="429768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32186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Over-relying on ID selectors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" y="3566160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56616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66928" y="376732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 { color: blue;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{ color: red;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red never shows */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because ID wins! */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340864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651760" y="3566160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356616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5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06624" y="376732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.header { color: red;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Use classes for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reusable styles.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IDs = hard to override */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2064" y="462686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specificity (1,0,0) crushes class specificity (0,1,0). Use classes for everything reusable.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3127248"/>
            <a:ext cx="4297680" cy="199339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127248"/>
            <a:ext cx="4297680" cy="502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2186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px for font sizes &amp; unitless line-height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974336" y="3566160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74336" y="356616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29200" y="376732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24px;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24px;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803136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</a:rPr>
              <a:t>→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14032" y="3566160"/>
            <a:ext cx="1792224" cy="969264"/>
          </a:xfrm>
          <a:prstGeom prst="rect">
            <a:avLst/>
          </a:prstGeom>
          <a:solidFill>
            <a:srgbClr val="07050F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14032" y="3566160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5F9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7168896" y="376732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1.5rem;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1.7;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5F9C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974336" y="462686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 for font-size (respects user settings). line-height should be unitless (1.7) not pixels.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8F0"/>
                </a:solidFill>
              </a:rPr>
              <a:t>DAY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83664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Styled Profile Card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selectors, box model, colors &amp; typography to your Day 1 HTML — pure CSS.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896112"/>
            <a:ext cx="2029968" cy="841248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896112"/>
            <a:ext cx="202996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CSS file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96896" y="896112"/>
            <a:ext cx="2029968" cy="841248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96112"/>
            <a:ext cx="202996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96896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Selectors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9744" y="896112"/>
            <a:ext cx="2029968" cy="841248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896112"/>
            <a:ext cx="202996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CSS vars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022592" y="896112"/>
            <a:ext cx="2029968" cy="841248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22592" y="896112"/>
            <a:ext cx="202996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987552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022592" y="1444752"/>
            <a:ext cx="20299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</a:rPr>
              <a:t>Live card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1865376"/>
            <a:ext cx="5047488" cy="321868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1865376"/>
            <a:ext cx="504748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1938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Checklist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2404872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237744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Create style.css and link it in &lt;head&gt; with &lt;link&gt;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66928" y="2675534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264810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Add *, *::before, *::after { box-sizing: border-box }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66928" y="2946197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" y="2918765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Define 4 CSS variables in :root for colors &amp; font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66928" y="3216859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189427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Style body: background, color, font-family, padding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566928" y="3487522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" y="3460090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Style .card: background, border, border-radius, padding, max-width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66928" y="3758184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" y="373075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Make profile image circular: border-radius: 50%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66928" y="4028846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" y="4001414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Style h1 and h2 with different sizes and colors using vars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66928" y="4299509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" y="4272077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Add :hover effect on all links (color change)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566928" y="4570171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4542739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Apply margin between sections for spacing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66928" y="4840834"/>
            <a:ext cx="201168" cy="201168"/>
          </a:xfrm>
          <a:prstGeom prst="rect">
            <a:avLst/>
          </a:prstGeom>
          <a:solidFill>
            <a:srgbClr val="0E0B1E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" y="4813402"/>
            <a:ext cx="4462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Test in Chrome DevTools — tweak values live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5614416" y="1865376"/>
            <a:ext cx="3236976" cy="321868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797296" y="1938528"/>
            <a:ext cx="2871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05856" y="2249424"/>
            <a:ext cx="3054096" cy="2706624"/>
          </a:xfrm>
          <a:prstGeom prst="rect">
            <a:avLst/>
          </a:prstGeom>
          <a:solidFill>
            <a:srgbClr val="07050F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05856" y="2249424"/>
            <a:ext cx="3054096" cy="256032"/>
          </a:xfrm>
          <a:prstGeom prst="rect">
            <a:avLst/>
          </a:prstGeom>
          <a:solidFill>
            <a:srgbClr val="1C1840"/>
          </a:solidFill>
          <a:ln w="12700">
            <a:solidFill>
              <a:srgbClr val="2A24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79008" y="2286000"/>
            <a:ext cx="29077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localhost:5500 — Profile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907024" y="2578608"/>
            <a:ext cx="2560320" cy="2267712"/>
          </a:xfrm>
          <a:prstGeom prst="rect">
            <a:avLst/>
          </a:prstGeom>
          <a:solidFill>
            <a:srgbClr val="15112C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65392" y="2670048"/>
            <a:ext cx="914400" cy="914400"/>
          </a:xfrm>
          <a:prstGeom prst="ellipse">
            <a:avLst/>
          </a:prstGeom>
          <a:solidFill>
            <a:srgbClr val="1C1840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267004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98464" y="3639312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Your Name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98464" y="3931920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 para...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998464" y="4224528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Hobbies list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998464" y="4517136"/>
            <a:ext cx="2395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Email link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in these 5 before Day 7 — CSS Layouts: Flexbox!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84048" y="1042416"/>
            <a:ext cx="5760720" cy="64008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42416"/>
            <a:ext cx="50292" cy="640080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solidFill>
            <a:srgbClr val="FF6B2B">
              <a:alpha val="18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97864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133856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CSS with &lt;link rel='stylesheet' href='style.css'&gt; in &lt;head&gt;. External stylesheet is always best practice.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1792224"/>
            <a:ext cx="5760720" cy="64008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792224"/>
            <a:ext cx="50292" cy="64008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solidFill>
            <a:srgbClr val="EF476F">
              <a:alpha val="18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47672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1883664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Selectors: element (h1), .class, #id. Specificity: ID(1,0,0) &gt; class(0,1,0) &gt; element(0,0,1). Use classes.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542032"/>
            <a:ext cx="5760720" cy="64008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" y="2542032"/>
            <a:ext cx="50292" cy="6400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97480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2633472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model: content → padding → border → margin. ALWAYS use * { box-sizing: border-box }.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291840"/>
            <a:ext cx="5760720" cy="64008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291840"/>
            <a:ext cx="50292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447288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3383280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rem for font-size, unitless for line-height, % or vw for widths. Avoid px for scalable layouts.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4048" y="4041648"/>
            <a:ext cx="5760720" cy="640080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4048" y="4041648"/>
            <a:ext cx="50292" cy="640080"/>
          </a:xfrm>
          <a:prstGeom prst="rect">
            <a:avLst/>
          </a:prstGeom>
          <a:solidFill>
            <a:srgbClr val="118AB2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solidFill>
            <a:srgbClr val="118AB2">
              <a:alpha val="18000"/>
            </a:srgbClr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19709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8A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8992" y="4133088"/>
            <a:ext cx="4992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Cascade: !important &gt; specificity &gt; source order. CSS variables in :root { --name: value } with var(--name).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27648" y="1042416"/>
            <a:ext cx="2542032" cy="3913632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27648" y="1042416"/>
            <a:ext cx="2542032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1115568"/>
            <a:ext cx="21762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0528" y="1444752"/>
            <a:ext cx="21762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before Day 7: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10528" y="1956816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195681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8F0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812280" y="192024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body, .card, h1, h2, p, a using external CSS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10528" y="2450592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245059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8F0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12280" y="2414016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:hover on all links — change color &amp; cursor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10528" y="2944368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10528" y="294436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8F0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2280" y="2907792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CSS variables for 4 brand colors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10528" y="3438144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0528" y="343814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8F0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12280" y="3401568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any website in DevTools — change a color live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931920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0528" y="393192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8F0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895344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specificity: put two rules on h1, which wins?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10528" y="4425696"/>
            <a:ext cx="219456" cy="219456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10528" y="44256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8F0"/>
                </a:solidFill>
              </a:rPr>
              <a:t>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812280" y="4389120"/>
            <a:ext cx="1993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styled card screenshot in comments!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2011680"/>
            <a:ext cx="5852160" cy="5852160"/>
          </a:xfrm>
          <a:prstGeom prst="ellipse">
            <a:avLst/>
          </a:prstGeom>
          <a:solidFill>
            <a:srgbClr val="FF6B2B">
              <a:alpha val="8000"/>
            </a:srgbClr>
          </a:solidFill>
          <a:ln w="12700">
            <a:solidFill>
              <a:srgbClr val="FF6B2B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2194560"/>
            <a:ext cx="4754880" cy="4754880"/>
          </a:xfrm>
          <a:prstGeom prst="ellipse">
            <a:avLst/>
          </a:prstGeom>
          <a:solidFill>
            <a:srgbClr val="EF476F">
              <a:alpha val="5000"/>
            </a:srgbClr>
          </a:solidFill>
          <a:ln w="12700">
            <a:solidFill>
              <a:srgbClr val="EF476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-731520"/>
            <a:ext cx="2926080" cy="2926080"/>
          </a:xfrm>
          <a:prstGeom prst="ellipse">
            <a:avLst/>
          </a:prstGeom>
          <a:solidFill>
            <a:srgbClr val="FFD166">
              <a:alpha val="4000"/>
            </a:srgbClr>
          </a:solidFill>
          <a:ln w="12700">
            <a:solidFill>
              <a:srgbClr val="FFD166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solidFill>
            <a:srgbClr val="FF6B2B">
              <a:alpha val="14000"/>
            </a:srgbClr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2743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B0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COMPLETE!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32688"/>
            <a:ext cx="7680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Your HTML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426464"/>
            <a:ext cx="7680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Style!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731520" y="223113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Selectors, box model, colors, fonts — you can now design anything on the web.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779776"/>
            <a:ext cx="6400800" cy="128016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779776"/>
            <a:ext cx="1280160" cy="128016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1176" y="2743200"/>
            <a:ext cx="201168" cy="201168"/>
          </a:xfrm>
          <a:prstGeom prst="ellipse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9443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/ 30  •  CSS Week Started!  •  20% complete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01568"/>
            <a:ext cx="7315200" cy="1389888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401568"/>
            <a:ext cx="7315200" cy="502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Day 7: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78561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Layouts — Flexbox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4224528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display:flex, justify-content, align-items, flex-wrap, gap — build any layout in minutes.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97280" y="4882896"/>
            <a:ext cx="2212848" cy="402336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4882896"/>
            <a:ext cx="221284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hit the bell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93008" y="4882896"/>
            <a:ext cx="2212848" cy="402336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93008" y="4882896"/>
            <a:ext cx="221284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93008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'Day 6 Done!'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88736" y="4882896"/>
            <a:ext cx="2212848" cy="402336"/>
          </a:xfrm>
          <a:prstGeom prst="rect">
            <a:avLst/>
          </a:prstGeom>
          <a:solidFill>
            <a:srgbClr val="15112C"/>
          </a:solidFill>
          <a:ln w="12700">
            <a:solidFill>
              <a:srgbClr val="2A2448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888736" y="4882896"/>
            <a:ext cx="2212848" cy="50292"/>
          </a:xfrm>
          <a:prstGeom prst="rect">
            <a:avLst/>
          </a:prstGeom>
          <a:solidFill>
            <a:srgbClr val="FF6B2B"/>
          </a:solidFill>
          <a:ln w="12700">
            <a:solidFill>
              <a:srgbClr val="FF6B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88736" y="4901184"/>
            <a:ext cx="22128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888736" y="5102352"/>
            <a:ext cx="22128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dev friend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– CSS Fundamentals &amp; Selectors</dc:title>
  <dc:subject>PptxGenJS Presentation</dc:subject>
  <dc:creator>PptxGenJS</dc:creator>
  <cp:lastModifiedBy>PptxGenJS</cp:lastModifiedBy>
  <cp:revision>1</cp:revision>
  <dcterms:created xsi:type="dcterms:W3CDTF">2026-05-07T01:03:46Z</dcterms:created>
  <dcterms:modified xsi:type="dcterms:W3CDTF">2026-05-07T01:03:46Z</dcterms:modified>
</cp:coreProperties>
</file>