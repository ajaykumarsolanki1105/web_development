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4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2103120"/>
            <a:ext cx="5120640" cy="512064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926080"/>
            <a:ext cx="3291840" cy="3291840"/>
          </a:xfrm>
          <a:prstGeom prst="ellipse">
            <a:avLst/>
          </a:prstGeom>
          <a:solidFill>
            <a:srgbClr val="EC4899">
              <a:alpha val="5000"/>
            </a:srgbClr>
          </a:solidFill>
          <a:ln w="12700">
            <a:solidFill>
              <a:srgbClr val="EC4899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0" y="2103120"/>
            <a:ext cx="2194560" cy="219456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06B6D4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28016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DAY 4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Media &amp;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A78BF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Multimedia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video, iframes &amp; responsive media — bring your pages to life.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2011680" cy="384048"/>
          </a:xfrm>
          <a:prstGeom prst="rect">
            <a:avLst/>
          </a:prstGeom>
          <a:solidFill>
            <a:srgbClr val="18183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Images &amp; Figures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33472" y="2798064"/>
            <a:ext cx="2011680" cy="384048"/>
          </a:xfrm>
          <a:prstGeom prst="rect">
            <a:avLst/>
          </a:prstGeom>
          <a:solidFill>
            <a:srgbClr val="18183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33472" y="2798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</a:rPr>
              <a:t>Audio &amp; Video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2798064"/>
            <a:ext cx="2011680" cy="384048"/>
          </a:xfrm>
          <a:prstGeom prst="rect">
            <a:avLst/>
          </a:prstGeom>
          <a:solidFill>
            <a:srgbClr val="181830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9744" y="2798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iFrame Embeds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2798064"/>
            <a:ext cx="2011680" cy="384048"/>
          </a:xfrm>
          <a:prstGeom prst="rect">
            <a:avLst/>
          </a:prstGeom>
          <a:solidFill>
            <a:srgbClr val="18183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86016" y="2798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Responsive Media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7856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Core Topics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33472" y="33467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633472" y="37856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HTML Attrs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33467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Impact" pitchFamily="34" charset="0"/>
              </a:rPr>
              <a:t>In One Shot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09744" y="37856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Video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86016" y="33467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86016" y="37856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Rich Project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86016" y="749808"/>
            <a:ext cx="2011680" cy="4224528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986016" y="749808"/>
            <a:ext cx="1956816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78040" y="83210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324344" y="83210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70648" y="83210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626096" y="795528"/>
            <a:ext cx="1152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1051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51776" y="10515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Images --&gt;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1303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51776" y="13030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51776" y="15544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src="hero.jpg"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1805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51776" y="18059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alt="Hero image"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0574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51776" y="20574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loading="lazy"&gt;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23088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51776" y="23088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25603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51776" y="25603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Video --&gt;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28117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51776" y="28117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controls&gt;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3063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51776" y="30632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0" y="33147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51776" y="33147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src="clip.mp4"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0" y="35661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51776" y="35661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type="video/mp4"&gt;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32320" y="38176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51776" y="38176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32320" y="4069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51776" y="40690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43205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51776" y="43205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Audio --&gt;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32320" y="45720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51776" y="45720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controls&gt;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132320" y="48234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51776" y="472363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Day 4  •  Media &amp; Multimedia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76809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61872"/>
            <a:ext cx="402336" cy="402336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1521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Figure Elements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1790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src, alt, width/height, loading=lazy, &lt;figure&gt;, &lt;figcaption&gt;, object-fit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316736"/>
            <a:ext cx="621792" cy="256032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0" y="131673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~9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011680"/>
            <a:ext cx="8375904" cy="76809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011680"/>
            <a:ext cx="50292" cy="7680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08483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Elements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4505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&lt;audio&gt;, &lt;video&gt;, controls, autoplay, loop, muted, &lt;source&gt;, &lt;track&gt;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2249424"/>
            <a:ext cx="621792" cy="256032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46720" y="224942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4899"/>
                </a:solidFill>
              </a:rPr>
              <a:t>~10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944368"/>
            <a:ext cx="8375904" cy="76809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944368"/>
            <a:ext cx="50292" cy="7680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127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01752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— Embedding Content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38328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Google Maps, Spotify, sandboxing, allow, allowfullscreen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182112"/>
            <a:ext cx="621792" cy="256032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46720" y="318211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~8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877056"/>
            <a:ext cx="8375904" cy="76809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877056"/>
            <a:ext cx="5029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4059936"/>
            <a:ext cx="402336" cy="402336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4059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395020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 Techniques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31596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srcset, sizes, &lt;picture&gt;, aspect-ratio, max-width:100%, object-fit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4114800"/>
            <a:ext cx="621792" cy="2560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46720" y="411480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~9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901184"/>
            <a:ext cx="8375904" cy="18288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6928" y="49011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</a:rPr>
              <a:t>PROJECT: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53312" y="4901184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</a:rPr>
              <a:t>Media Portfolio Page — images with captions, an embedded video, audio player, Google Map embed, all responsive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Images &amp; Figure Elements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&lt;img&gt; tag is self-closing, but it carries far more power than beginners realise.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06240" cy="4041648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06240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698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698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698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332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893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893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Basic image --&gt;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407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407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7922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922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src="photo.jpg"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436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436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alt="Sunset over Mumbai"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2951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9514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width="800"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466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466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height="600"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7980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980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loading="lazy"&gt;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495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495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009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3009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Figure with caption --&gt;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5524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5244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039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8039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553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553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src="chart.png"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06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3068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alt="Sales Q1 2025"&gt;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582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582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r>
              <a:rPr lang="en-US" sz="1000" dirty="0" err="1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figcaption</a:t>
            </a: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Fig 1: Q1 Sales </a:t>
            </a: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</a:t>
            </a:r>
            <a:r>
              <a:rPr lang="en-US" sz="1000" dirty="0" err="1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figcaption</a:t>
            </a: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097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80974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" y="50612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" y="47868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&lt;/figure&gt;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987552"/>
            <a:ext cx="4041648" cy="4572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87552"/>
            <a:ext cx="5029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1078992"/>
            <a:ext cx="1078992" cy="256032"/>
          </a:xfrm>
          <a:prstGeom prst="rect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01184" y="107899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053328" y="1042416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the image. Absolute URL or relative path. Supports jpg, png, webp, svg, gif, avif.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773168" y="1527048"/>
            <a:ext cx="4041648" cy="4572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73168" y="1527048"/>
            <a:ext cx="5029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901184" y="1618488"/>
            <a:ext cx="1078992" cy="256032"/>
          </a:xfrm>
          <a:prstGeom prst="rect">
            <a:avLst/>
          </a:prstGeom>
          <a:solidFill>
            <a:srgbClr val="10B981">
              <a:alpha val="14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61848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053328" y="1581912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Describes the image for screen readers &amp; broken image fallback. Empty alt="" for decorative images.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773168" y="2066544"/>
            <a:ext cx="4041648" cy="4572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066544"/>
            <a:ext cx="50292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01184" y="2157984"/>
            <a:ext cx="1078992" cy="256032"/>
          </a:xfrm>
          <a:prstGeom prst="rect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01184" y="215798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width/height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53328" y="2121408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both in HTML. Tells browser how much space to reserve — prevents layout shift (CLS) while loading.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4773168" y="2606040"/>
            <a:ext cx="4041648" cy="4572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73168" y="2606040"/>
            <a:ext cx="502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901184" y="2697480"/>
            <a:ext cx="1078992" cy="256032"/>
          </a:xfrm>
          <a:prstGeom prst="rect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01184" y="2697480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loading="lazy"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053328" y="2660904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loading until image is near the viewport. Speeds up initial page load. Free performance win — always add it!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4773168" y="3145536"/>
            <a:ext cx="4041648" cy="4572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145536"/>
            <a:ext cx="50292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3236976"/>
            <a:ext cx="1078992" cy="256032"/>
          </a:xfrm>
          <a:prstGeom prst="rect">
            <a:avLst/>
          </a:prstGeom>
          <a:solidFill>
            <a:srgbClr val="EC4899">
              <a:alpha val="14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01184" y="323697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053328" y="32004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container for media + its caption. Groups the image and &lt;figcaption&gt; — used for charts, code, images.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4773168" y="3685032"/>
            <a:ext cx="4041648" cy="4572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773168" y="3685032"/>
            <a:ext cx="50292" cy="457200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901184" y="3776472"/>
            <a:ext cx="1078992" cy="256032"/>
          </a:xfrm>
          <a:prstGeom prst="rect">
            <a:avLst/>
          </a:prstGeom>
          <a:solidFill>
            <a:srgbClr val="F9A8D4">
              <a:alpha val="14000"/>
            </a:srgbClr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901184" y="37764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&lt;figcaption&gt;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053328" y="3739896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below (or above) a &lt;figure&gt;. Visible to all users and read by screen readers as the description.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773168" y="4224528"/>
            <a:ext cx="4041648" cy="804672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937760" y="429768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Pro Tip — Modern Image Formats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937760" y="4535424"/>
            <a:ext cx="3712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.webp instead of .jpg/png. WebP files are 25-35% smaller at the same quality. Use .avif for even better compression. Always keep a .jpg fallback for older browsers.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Audio &amp; Video Elements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built native media players into browsers. No Flash, no plugins — pure HTML.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208483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042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 element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371600"/>
            <a:ext cx="4114800" cy="1572768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8912" y="1371600"/>
            <a:ext cx="4114800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57784" y="145389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4088" y="145389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50392" y="145389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14173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16733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167335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19248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192481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21762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217627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width="800"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" y="24277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242773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poster="thumb.jpg"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" y="26791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267919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preload="metadata"&gt;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" y="29306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293065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src="v.mp4"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" y="31821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318211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type="video/mp4"&gt;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3127248"/>
            <a:ext cx="4224528" cy="1938528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127248"/>
            <a:ext cx="4224528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6928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 element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" y="3529584"/>
            <a:ext cx="4114800" cy="1444752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38912" y="3529584"/>
            <a:ext cx="4114800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57784" y="361188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04088" y="3611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50392" y="361188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05840" y="35753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" y="3831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" y="383133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controls&gt;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" y="40827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" y="408279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="podcast.mp3 “type="audio/mpeg"&gt;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" y="43342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" y="433425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2064" y="45857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" y="458571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" y="439369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="podcast.ogg“ type="audio/</a:t>
            </a:r>
            <a:r>
              <a:rPr lang="en-US" sz="1000" dirty="0" err="1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ogg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" y="508863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534009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73168" y="969264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73168" y="969264"/>
            <a:ext cx="50292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901184" y="1042416"/>
            <a:ext cx="914400" cy="256032"/>
          </a:xfrm>
          <a:prstGeom prst="rect">
            <a:avLst/>
          </a:prstGeom>
          <a:solidFill>
            <a:srgbClr val="EC4899">
              <a:alpha val="14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01184" y="10424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88736" y="102412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native browser play/pause/volume/fullscreen controls. Without this the video has no UI.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4773168" y="1499616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73168" y="1499616"/>
            <a:ext cx="5029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901184" y="1572768"/>
            <a:ext cx="914400" cy="256032"/>
          </a:xfrm>
          <a:prstGeom prst="rect">
            <a:avLst/>
          </a:prstGeom>
          <a:solidFill>
            <a:srgbClr val="EF4444">
              <a:alpha val="14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01184" y="1572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autoplay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888736" y="1554480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on load. Browsers block unless also muted. Always pair with muted for autoplay to work.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4773168" y="2029968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773168" y="2029968"/>
            <a:ext cx="5029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901184" y="2103120"/>
            <a:ext cx="914400" cy="256032"/>
          </a:xfrm>
          <a:prstGeom prst="rect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01184" y="2103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888736" y="2084832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video/audio silently. Required for autoplay. Good for background hero videos.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4773168" y="2560320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773168" y="2560320"/>
            <a:ext cx="5029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901184" y="2633472"/>
            <a:ext cx="914400" cy="256032"/>
          </a:xfrm>
          <a:prstGeom prst="rect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01184" y="26334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888736" y="261518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from start when it ends. Perfect for looping background videos or animations.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4773168" y="3090672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773168" y="3090672"/>
            <a:ext cx="50292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901184" y="3163824"/>
            <a:ext cx="914400" cy="256032"/>
          </a:xfrm>
          <a:prstGeom prst="rect">
            <a:avLst/>
          </a:prstGeom>
          <a:solidFill>
            <a:srgbClr val="EC4899">
              <a:alpha val="14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901184" y="31638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poster=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888736" y="314553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shown before video plays. poster="thumbnail.jpg" — acts like a video cover image.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4773168" y="3621024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4773168" y="3621024"/>
            <a:ext cx="5029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901184" y="3694176"/>
            <a:ext cx="914400" cy="256032"/>
          </a:xfrm>
          <a:prstGeom prst="rect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901184" y="36941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preload=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888736" y="367588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"metadata" loads size/duration only. "auto" pre-downloads the file. "none" loads nothing until play.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4773168" y="4151376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773168" y="4151376"/>
            <a:ext cx="50292" cy="43891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4901184" y="4224528"/>
            <a:ext cx="914400" cy="256032"/>
          </a:xfrm>
          <a:prstGeom prst="rect">
            <a:avLst/>
          </a:prstGeom>
          <a:solidFill>
            <a:srgbClr val="6EE7B7">
              <a:alpha val="14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901184" y="4224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&lt;source&gt;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888736" y="4206240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 in different formats. Browser picks first one it can play. Always provide mp4 + webm.</a:t>
            </a:r>
            <a:endParaRPr lang="en-US" sz="880" dirty="0"/>
          </a:p>
        </p:txBody>
      </p:sp>
      <p:sp>
        <p:nvSpPr>
          <p:cNvPr id="88" name="Shape 86"/>
          <p:cNvSpPr/>
          <p:nvPr/>
        </p:nvSpPr>
        <p:spPr>
          <a:xfrm>
            <a:off x="4773168" y="4681728"/>
            <a:ext cx="4041648" cy="43891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4773168" y="4681728"/>
            <a:ext cx="50292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4901184" y="4754880"/>
            <a:ext cx="914400" cy="256032"/>
          </a:xfrm>
          <a:prstGeom prst="rect">
            <a:avLst/>
          </a:prstGeom>
          <a:solidFill>
            <a:srgbClr val="A78BFA">
              <a:alpha val="14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4901184" y="4754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&lt;track&gt;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888736" y="4736592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subtitles/captions. &lt;track src="subs.vtt" kind="subtitles" srclang="en" label="English"&gt;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9090F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iFrame — Embedding Content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&lt;iframe&gt; embeds another webpage inside yours. YouTube, Maps, Spotify, Figma — all use iframes.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06240" cy="2450592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06240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698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698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698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332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893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893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YouTube embed --&gt;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407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407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7922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922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src="https://www.youtube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436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436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.com/embed/VIDEO_ID"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2951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9514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width="560"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466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466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height="315"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7980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980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title="My Video"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495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495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frameborder="0"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009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30098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allow="accelerometer;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5524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5244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clipboard-write;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039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8039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encrypted-media"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553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553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allowfullscreen&gt;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06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3068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&lt;/iframe&gt;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987552"/>
            <a:ext cx="4041648" cy="87782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73168" y="987552"/>
            <a:ext cx="4041648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901184" y="1115568"/>
            <a:ext cx="402336" cy="402336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01184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▶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107899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133502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→ Embed → Copy code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01184" y="1572768"/>
            <a:ext cx="3822192" cy="219456"/>
          </a:xfrm>
          <a:prstGeom prst="rect">
            <a:avLst/>
          </a:prstGeom>
          <a:solidFill>
            <a:srgbClr val="060610"/>
          </a:solidFill>
          <a:ln w="1270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974336" y="1600200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src="youtube.com/embed/ID"&gt;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73168" y="1975104"/>
            <a:ext cx="4041648" cy="87782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1975104"/>
            <a:ext cx="404164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2103120"/>
            <a:ext cx="402336" cy="40233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01184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</a:rPr>
              <a:t>📍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394960" y="206654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94960" y="2322576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→ Embed Map → Copy HTML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01184" y="2560320"/>
            <a:ext cx="3822192" cy="219456"/>
          </a:xfrm>
          <a:prstGeom prst="rect">
            <a:avLst/>
          </a:prstGeom>
          <a:solidFill>
            <a:srgbClr val="060610"/>
          </a:solidFill>
          <a:ln w="1270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74336" y="2587752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src="google.com/maps/embed"&gt;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73168" y="2962656"/>
            <a:ext cx="4041648" cy="87782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73168" y="2962656"/>
            <a:ext cx="404164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901184" y="3090672"/>
            <a:ext cx="402336" cy="40233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01184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</a:rPr>
              <a:t>♫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394960" y="305409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Track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94960" y="3310128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 → Share → Embed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901184" y="3547872"/>
            <a:ext cx="3822192" cy="219456"/>
          </a:xfrm>
          <a:prstGeom prst="rect">
            <a:avLst/>
          </a:prstGeom>
          <a:solidFill>
            <a:srgbClr val="060610"/>
          </a:solidFill>
          <a:ln w="1270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74336" y="3575304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src="open.spotify.com/embed/track/ID"&gt;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73168" y="3950208"/>
            <a:ext cx="4041648" cy="87782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773168" y="3950208"/>
            <a:ext cx="404164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901184" y="4078224"/>
            <a:ext cx="402336" cy="402336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01184" y="4078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◈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394960" y="4041648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Design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394960" y="4297680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→ Get embed code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01184" y="4535424"/>
            <a:ext cx="3822192" cy="219456"/>
          </a:xfrm>
          <a:prstGeom prst="rect">
            <a:avLst/>
          </a:prstGeom>
          <a:solidFill>
            <a:srgbClr val="060610"/>
          </a:solidFill>
          <a:ln w="1270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74336" y="4562856"/>
            <a:ext cx="3694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src="figma.com/embed?embed_host=astra&amp;url=URL"&gt;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84048" y="3529584"/>
            <a:ext cx="4206240" cy="153619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384048" y="3529584"/>
            <a:ext cx="42062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66928" y="3602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sandbox attribute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38912" y="3931920"/>
            <a:ext cx="4096512" cy="1060704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38912" y="3931920"/>
            <a:ext cx="4096512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57784" y="401421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04088" y="401421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850392" y="401421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1005840" y="3977640"/>
            <a:ext cx="3364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" y="42336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1520" y="423367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 err="1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</a:t>
            </a: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sandbox="allow-scripts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12064" y="44851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31520" y="448513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12064" y="4736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94944" y="448513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allow-same-origin“ </a:t>
            </a:r>
            <a:r>
              <a:rPr lang="en-US" sz="1000" dirty="0" err="1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referrerpolicy</a:t>
            </a: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"no-referrer"&gt;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31520" y="498805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731520" y="523951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65048" y="472744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&lt;/iframe&gt;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9090F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Responsive Media Techniques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tag. Three screen sizes. Zero layout breaks. Here's how.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06240" cy="142646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062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042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CSS essentials (always add this)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335024"/>
            <a:ext cx="4096512" cy="950976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8912" y="1335024"/>
            <a:ext cx="4096512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57784" y="141732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4088" y="141732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50392" y="141732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1380744"/>
            <a:ext cx="3364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1636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163677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img, video, iframe 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1888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188823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100%;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2139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213969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auto;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" y="2391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239115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2487168"/>
            <a:ext cx="4206240" cy="131673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2487168"/>
            <a:ext cx="420624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srcset (serve right size image)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2834640"/>
            <a:ext cx="4096512" cy="877824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8912" y="2834640"/>
            <a:ext cx="4096512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57784" y="29169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04088" y="29169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0392" y="29169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05840" y="2880360"/>
            <a:ext cx="3364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" y="31363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" y="313639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" y="33878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338785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src="img-800.jpg"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" y="363931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srcset="img-400.jpg 400w, img-800.jpg 800w"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" y="38907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" y="389077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sizes="(max-width: 600px) 400px, 800px"&gt;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" y="3858768"/>
            <a:ext cx="4206240" cy="1207008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84048" y="3858768"/>
            <a:ext cx="420624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66928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&lt;picture&gt; art direction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" y="4187952"/>
            <a:ext cx="4096512" cy="804672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38912" y="4187952"/>
            <a:ext cx="4096512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57784" y="4270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04088" y="4270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50392" y="4270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005840" y="4233672"/>
            <a:ext cx="3364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2064" y="44897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" y="448970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&lt;picture&gt; </a:t>
            </a: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&lt;source media="(max-width:600px)" </a:t>
            </a:r>
            <a:r>
              <a:rPr lang="en-US" sz="1000" dirty="0" err="1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srcset</a:t>
            </a: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="mob.jpg"&gt;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2064" y="47411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" y="474116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2064" y="49926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3504" y="478688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src="desk.jpg" alt="Banner"&gt; </a:t>
            </a: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&lt;/picture&gt;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524408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73168" y="969264"/>
            <a:ext cx="2029968" cy="124358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73168" y="969264"/>
            <a:ext cx="202996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901184" y="106070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01184" y="1060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90F"/>
                </a:solidFill>
              </a:rPr>
              <a:t>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66944" y="1060704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100%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01184" y="14264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set fixed pixel widths on images. max-width:100% + height:auto is the golden rule — image shrinks but never overflows.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12864" y="969264"/>
            <a:ext cx="2029968" cy="124358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912864" y="969264"/>
            <a:ext cx="20299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040880" y="1060704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040880" y="1060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90F"/>
                </a:solidFill>
              </a:rPr>
              <a:t>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406640" y="1060704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 CSS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040880" y="14264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aspect-ratio: 16/9 on a container prevents layout shift before image loads. Combine with object-fit: cover.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73168" y="2322576"/>
            <a:ext cx="2029968" cy="124358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773168" y="2322576"/>
            <a:ext cx="2029968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4901184" y="2414016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901184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90F"/>
                </a:solidFill>
              </a:rPr>
              <a:t>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266944" y="241401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srcset for performance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01184" y="27797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picks the right size image for the screen. Mobile gets a 400px image. Desktop gets 1200px. Same tag — smart loading.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912864" y="2322576"/>
            <a:ext cx="2029968" cy="124358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912864" y="2322576"/>
            <a:ext cx="2029968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7040880" y="2414016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040880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90F"/>
                </a:solidFill>
              </a:rPr>
              <a:t>4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406640" y="241401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&lt;picture&gt; for art direction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040880" y="27797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portrait crop on mobile, landscape on desktop. &lt;picture&gt; lets you control which image loads per breakpoint.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73168" y="3675888"/>
            <a:ext cx="2029968" cy="124358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73168" y="3675888"/>
            <a:ext cx="202996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901184" y="3767328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901184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9090F"/>
                </a:solidFill>
              </a:rPr>
              <a:t>5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266944" y="376732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loading='lazy'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901184" y="413308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below the fold load only when user scrolls near. Single attribute. Huge speed improvement on long pages.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912864" y="3675888"/>
            <a:ext cx="2029968" cy="1243584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6912864" y="3675888"/>
            <a:ext cx="202996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7040880" y="37673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040880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90F"/>
                </a:solidFill>
              </a:rPr>
              <a:t>6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406640" y="376732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object-fit: cover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7040880" y="413308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background-size:cover but for &lt;img&gt;. Use with fixed width/height containers to fill space without stretching.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Image Formats — Choose Wisely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you pick can make your page load 3x faster — or 3x slower.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97680" cy="126187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976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78992"/>
            <a:ext cx="1005840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" y="10789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JPEG / .jpg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91056" y="1097280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complex 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" y="14447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" y="140817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for photos, universal support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" y="16276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4088" y="159105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transparency, lossy — don't use for logos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" y="181051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Product photos, hero images, blog photos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987552"/>
            <a:ext cx="4297680" cy="126187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987552"/>
            <a:ext cx="429768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74336" y="1078992"/>
            <a:ext cx="1005840" cy="27432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74336" y="10789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/ .png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1097280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icons, screenshots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74336" y="14447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66360" y="140817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quality, transparency (alpha channel)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74336" y="16276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66360" y="159105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 size for photos — don't use for photos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74336" y="1810512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Logos with transparent bg, UI screenshots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2340864"/>
            <a:ext cx="4297680" cy="126187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84048" y="2340864"/>
            <a:ext cx="42976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12064" y="2432304"/>
            <a:ext cx="100584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2064" y="2432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WebP / .webp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91056" y="2450592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replacement for both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" y="27980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04088" y="2761488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25-35% smaller than jpg/png, transparency + lossy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2064" y="29809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04088" y="2944368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in very old browsers (IE11)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2064" y="3163824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Everything — your default choice in 2025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2340864"/>
            <a:ext cx="4297680" cy="126187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46320" y="2340864"/>
            <a:ext cx="42976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974336" y="2432304"/>
            <a:ext cx="1005840" cy="27432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74336" y="2432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AVIF / .avif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53328" y="2450592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Next-gen, best compression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74336" y="27980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166360" y="2761488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smaller than jpg at same quality, wide color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74336" y="29809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66360" y="2944368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encode, limited CMS support still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74336" y="3163824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Hero images, large photos where size matters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048" y="3694176"/>
            <a:ext cx="4297680" cy="126187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4048" y="3694176"/>
            <a:ext cx="429768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12064" y="3785616"/>
            <a:ext cx="1005840" cy="274320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12064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 / .svg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591056" y="3803904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Icons, logos, illustrations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" y="41513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04088" y="4114800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infinitely, tiny file size, animatable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12064" y="43342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4088" y="4297680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photos — only for geometric/vector art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2064" y="451713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Icons, logos, charts, UI illustrations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46320" y="3694176"/>
            <a:ext cx="4297680" cy="126187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846320" y="3694176"/>
            <a:ext cx="42976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74336" y="3785616"/>
            <a:ext cx="1005840" cy="2743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74336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GIF / .gif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053328" y="3803904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animations (legacy)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74336" y="41513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166360" y="4114800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supported looping animation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974336" y="43342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166360" y="4297680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256 colours, huge file size — use video instead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974336" y="4517136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Avoid — use &lt;video&gt; or WebP animation instead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5376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 the Media Portfolio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from today — coded live, step by step.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41648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Media Page&lt;/title&gt;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img,video,iframe{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max-width:100%;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00" dirty="0" err="1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height:auto</a:t>
            </a: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502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4944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&lt;h1&gt;My Media Gallery&lt;/h1&gt;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8368" y="45521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Image with caption --&gt;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" y="478155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&lt;figure&gt; </a:t>
            </a: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</a:t>
            </a:r>
            <a:r>
              <a:rPr lang="en-US" sz="1000" dirty="0" err="1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="sunset.jpg"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28032" y="969264"/>
            <a:ext cx="3931920" cy="4041648"/>
          </a:xfrm>
          <a:prstGeom prst="rect">
            <a:avLst/>
          </a:prstGeom>
          <a:solidFill>
            <a:srgbClr val="060610"/>
          </a:solidFill>
          <a:ln w="12700">
            <a:solidFill>
              <a:srgbClr val="1A1040"/>
            </a:solidFill>
            <a:prstDash val="solid"/>
          </a:ln>
          <a:effectLst>
            <a:outerShdw blurRad="1778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A0820"/>
          </a:solidFill>
          <a:ln w="12700">
            <a:solidFill>
              <a:srgbClr val="0A08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index.html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alt="Mumbai sunset"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loading="lazy"&gt;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&lt;figcaption&gt;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Mumbai sunset, 2025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&lt;/figcaption&gt;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&lt;/figure&gt;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Video --&gt;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&lt;video controls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poster="thumb.jpg"&gt;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 src="demo.mp4"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type="video/mp4"&gt;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&lt;/video&gt;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YouTube embed --&gt;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45399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r>
              <a:rPr lang="en-US" sz="1000" dirty="0" err="1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</a:t>
            </a: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="youtube.com/embed/X"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4791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120640" y="47579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 err="1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allowfullscreen</a:t>
            </a:r>
            <a:r>
              <a:rPr lang="en-US" sz="10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&lt;/</a:t>
            </a:r>
            <a:r>
              <a:rPr lang="en-US" sz="1000" dirty="0" err="1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</a:t>
            </a: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120640" y="52943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WATCH OUT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5376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Common Media Mistakes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mistakes bloat your pages, break accessibility, and slow down your site.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97680" cy="195681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87552"/>
            <a:ext cx="42976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" y="1078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alt 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142646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7F1D1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66928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40864" y="1773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51760" y="142646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14532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651760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06624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alt="Smiling developer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a coding meetup"&gt;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064" y="25054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is not optional — screen readers read it, Google indexes it, and it appears when images break.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987552"/>
            <a:ext cx="4297680" cy="195681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46320" y="987552"/>
            <a:ext cx="42976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92624" y="1078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images, no lazy loading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74336" y="142646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7F1D1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0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src="hero.jpg"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width="1920"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height="1080"&gt;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03136" y="1773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14032" y="142646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14532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14032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68896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src="hero.jpg"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alt="Hero banner"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loading="lazy"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style="max-width:100%"&gt;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74336" y="25054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 4MB image for a 400px thumbnail kills performance. Use right-sized images + loading=lazy.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3090672"/>
            <a:ext cx="4297680" cy="195681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3090672"/>
            <a:ext cx="42976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0352" y="318211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 without muted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" y="352958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7F1D1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2064" y="352958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6928" y="373075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autoplay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src="bg.mp4"&gt;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40864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651760" y="352958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14532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651760" y="352958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06624" y="373075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autoplay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muted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playsinline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src="bg.mp4"&gt;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2064" y="46085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block unmuted autoplay. Always add muted. Add playsinline for mobile iOS support.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3090672"/>
            <a:ext cx="4297680" cy="195681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46320" y="3090672"/>
            <a:ext cx="429768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92624" y="318211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iFrame + no title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74336" y="352958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7F1D1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74336" y="352958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373075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src="map.html"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width="600"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height="450"&gt;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03136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14032" y="3529584"/>
            <a:ext cx="1792224" cy="987552"/>
          </a:xfrm>
          <a:prstGeom prst="rect">
            <a:avLst/>
          </a:prstGeom>
          <a:solidFill>
            <a:srgbClr val="060610"/>
          </a:solidFill>
          <a:ln w="12700">
            <a:solidFill>
              <a:srgbClr val="14532D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114032" y="352958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168896" y="373075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src="map.html"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width="100%"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height="450"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title="Our location"&gt;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74336" y="46085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px widths break on mobile. Always use width=100%. The title attribute is required for accessibility.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F3FF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5376" y="1097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Media Portfolio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single-page media showcase using every element learned today.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8183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Image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8183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Video player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8183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Audio player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8183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iFrame embeds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395728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6829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Add 3 images with proper alt text and loading=lazy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65476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3804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Wrap at least one image in &lt;figure&gt; with &lt;figcaption&gt;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35224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0779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Add width/height attributes on every &lt;img&gt;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04972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1775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Embed a &lt;video&gt; with controls and a poster image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474720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4728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Add &lt;source&gt; tags in two formats (mp4 + webm)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44468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1703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Add an &lt;audio&gt; player with controls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14216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398678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Embed a YouTube video using &lt;iframe&gt;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283964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5653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Embed a Google Map for any location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53712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262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Add max-width:100%; height:auto to all media in CSS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23460"/>
            <a:ext cx="201168" cy="201168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79602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Test on a narrow browser window — nothing should overflow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86000"/>
            <a:ext cx="3054096" cy="621792"/>
          </a:xfrm>
          <a:prstGeom prst="rect">
            <a:avLst/>
          </a:prstGeom>
          <a:solidFill>
            <a:srgbClr val="09090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60720" y="23225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&lt;figure&gt; img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05856" y="2944368"/>
            <a:ext cx="3054096" cy="219456"/>
          </a:xfrm>
          <a:prstGeom prst="rect">
            <a:avLst/>
          </a:prstGeom>
          <a:solidFill>
            <a:srgbClr val="09090F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60720" y="29809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&lt;figcaption&gt;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05856" y="3200400"/>
            <a:ext cx="3054096" cy="548640"/>
          </a:xfrm>
          <a:prstGeom prst="rect">
            <a:avLst/>
          </a:prstGeom>
          <a:solidFill>
            <a:srgbClr val="09090F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760720" y="32369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controls&gt;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05856" y="3785616"/>
            <a:ext cx="3054096" cy="256032"/>
          </a:xfrm>
          <a:prstGeom prst="rect">
            <a:avLst/>
          </a:prstGeom>
          <a:solidFill>
            <a:srgbClr val="09090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760720" y="38221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controls&gt;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705856" y="4078224"/>
            <a:ext cx="3054096" cy="420624"/>
          </a:xfrm>
          <a:prstGeom prst="rect">
            <a:avLst/>
          </a:prstGeom>
          <a:solidFill>
            <a:srgbClr val="09090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760720" y="41148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 YouTube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05856" y="4535424"/>
            <a:ext cx="3054096" cy="420624"/>
          </a:xfrm>
          <a:prstGeom prst="rect">
            <a:avLst/>
          </a:prstGeom>
          <a:solidFill>
            <a:srgbClr val="09090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760720" y="45720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&lt;iframe&gt; Maps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5.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needs src, alt, width, height and loading='lazy'. Alt text is mandatory — never skip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 controls&gt; and &lt;audio controls&gt; create native players. Use multiple &lt;source&gt; tags for format fallbacks.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 requires muted. Always use controls. Add &lt;track&gt; for subtitle accessibility on videos.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&lt;iframe&gt; embeds any webpage — YouTube, Maps, Spotify. Add title=, sandbox=, and width:100% always.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 = max-width:100% + height:auto in CSS. Use srcset/sizes or &lt;picture&gt; for art direction.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5: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3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.jpg image to .webp (use squoosh.app)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5059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3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140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srcset to one image with 2 sizes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4436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3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077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YouTube video &amp; embed it with &lt;iframe&gt;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3814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38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3FF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015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Google Maps embed for your city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93192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3931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3FF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8953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page on mobile — fix any overflow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42569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425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3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389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images load with loading=lazy in DevTools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852160" cy="585216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7C3AED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852160" y="2011680"/>
            <a:ext cx="5120640" cy="5120640"/>
          </a:xfrm>
          <a:prstGeom prst="ellipse">
            <a:avLst/>
          </a:prstGeom>
          <a:solidFill>
            <a:srgbClr val="EC4899">
              <a:alpha val="5000"/>
            </a:srgbClr>
          </a:solidFill>
          <a:ln w="12700">
            <a:solidFill>
              <a:srgbClr val="EC4899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-548640"/>
            <a:ext cx="2926080" cy="292608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06B6D4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92608"/>
            <a:ext cx="3657600" cy="438912"/>
          </a:xfrm>
          <a:prstGeom prst="rect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92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A78BFA"/>
                </a:solidFill>
              </a:rPr>
              <a:t>DAY 4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100" dirty="0">
                <a:solidFill>
                  <a:srgbClr val="C4B5F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 Pages Are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ALIVE!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24942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video, audio &amp; embeds — you can now build rich, engaging web experiences.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779776"/>
            <a:ext cx="6400800" cy="12801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779776"/>
            <a:ext cx="853440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24456" y="27432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9443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/ 30  •  13.3%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7315200" cy="1371600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731520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5: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67328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5F3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HTML5 APIs &amp; Best Practices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storage, geolocation API, HTML validation, file inputs &amp; mini quiz project.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" y="754380"/>
            <a:ext cx="2212848" cy="40233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" y="708660"/>
            <a:ext cx="221284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65176" y="72694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" y="937260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hit the bell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5176" y="1517904"/>
            <a:ext cx="2212848" cy="40233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1546860"/>
            <a:ext cx="221284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5176" y="154076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" y="1751076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'Day 4 Done!'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83096" y="1389888"/>
            <a:ext cx="2212848" cy="402336"/>
          </a:xfrm>
          <a:prstGeom prst="rect">
            <a:avLst/>
          </a:prstGeom>
          <a:solidFill>
            <a:srgbClr val="111120"/>
          </a:solidFill>
          <a:ln w="12700">
            <a:solidFill>
              <a:srgbClr val="2D1F5E"/>
            </a:solidFill>
            <a:prstDash val="solid"/>
          </a:ln>
          <a:effectLst>
            <a:outerShdw blurRad="889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83096" y="1305306"/>
            <a:ext cx="221284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83096" y="140817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83096" y="1618488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2676</Words>
  <Application>Microsoft Office PowerPoint</Application>
  <PresentationFormat>On-screen Show (16:9)</PresentationFormat>
  <Paragraphs>486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Media &amp; Multimedia in HTML</dc:title>
  <dc:subject>PptxGenJS Presentation</dc:subject>
  <dc:creator>PptxGenJS</dc:creator>
  <cp:lastModifiedBy>Ajay Solanki</cp:lastModifiedBy>
  <cp:revision>2</cp:revision>
  <dcterms:created xsi:type="dcterms:W3CDTF">2026-05-03T04:42:29Z</dcterms:created>
  <dcterms:modified xsi:type="dcterms:W3CDTF">2026-05-04T17:10:03Z</dcterms:modified>
</cp:coreProperties>
</file>