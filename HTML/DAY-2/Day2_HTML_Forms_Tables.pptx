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0642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046720" y="2560320"/>
            <a:ext cx="2286000" cy="2286000"/>
          </a:xfrm>
          <a:prstGeom prst="ellipse">
            <a:avLst/>
          </a:prstGeom>
          <a:solidFill>
            <a:srgbClr val="1E6CB5">
              <a:alpha val="15000"/>
            </a:srgbClr>
          </a:solidFill>
          <a:ln w="12700">
            <a:solidFill>
              <a:srgbClr val="1E6CB5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411480"/>
          </a:xfrm>
          <a:prstGeom prst="rect">
            <a:avLst/>
          </a:prstGeom>
          <a:solidFill>
            <a:srgbClr val="162E46"/>
          </a:solidFill>
          <a:ln w="12700">
            <a:solidFill>
              <a:srgbClr val="16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347472"/>
            <a:ext cx="1280160" cy="329184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3474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DAY 2 OF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229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Forms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99F6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Tables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FDBFE"/>
                </a:solidFill>
              </a:rPr>
              <a:t>Learn to collect user data with forms and display structured data in tables.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035808"/>
            <a:ext cx="2011680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30358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693A"/>
                </a:solidFill>
              </a:rPr>
              <a:t>Form Elements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87752" y="3035808"/>
            <a:ext cx="2011680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587752" y="30358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Input Types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64024" y="3035808"/>
            <a:ext cx="2011680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64024" y="30358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Table Structure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0296" y="3035808"/>
            <a:ext cx="2011680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40296" y="30358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</a:rPr>
              <a:t>Fieldset &amp; Legend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F6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11480" y="40965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</a:rPr>
              <a:t>Core Topics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87752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F6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587752" y="40965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</a:rPr>
              <a:t>Sub-concepts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64024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F6E4"/>
                </a:solidFill>
                <a:latin typeface="Trebuchet MS" pitchFamily="34" charset="0"/>
              </a:rPr>
              <a:t>One Shot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764024" y="40965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</a:rPr>
              <a:t>( Hindi 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0296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F6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940296" y="40965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</a:rPr>
              <a:t>Project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3720" y="822960"/>
            <a:ext cx="2011680" cy="4114800"/>
          </a:xfrm>
          <a:prstGeom prst="rect">
            <a:avLst/>
          </a:prstGeom>
          <a:solidFill>
            <a:srgbClr val="162E46"/>
          </a:solidFill>
          <a:ln w="12700">
            <a:solidFill>
              <a:srgbClr val="2A4D70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99516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F6E4"/>
                </a:solidFill>
              </a:rPr>
              <a:t>Contact Form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129844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Name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040880" y="1499616"/>
            <a:ext cx="1737360" cy="310896"/>
          </a:xfrm>
          <a:prstGeom prst="rect">
            <a:avLst/>
          </a:prstGeom>
          <a:solidFill>
            <a:srgbClr val="1E3A56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040880" y="19202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Email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040880" y="2121408"/>
            <a:ext cx="1737360" cy="310896"/>
          </a:xfrm>
          <a:prstGeom prst="rect">
            <a:avLst/>
          </a:prstGeom>
          <a:solidFill>
            <a:srgbClr val="1E3A56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040880" y="25420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Subject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040880" y="2743200"/>
            <a:ext cx="1737360" cy="310896"/>
          </a:xfrm>
          <a:prstGeom prst="rect">
            <a:avLst/>
          </a:prstGeom>
          <a:solidFill>
            <a:srgbClr val="1E3A56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040880" y="316382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Message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40880" y="3364992"/>
            <a:ext cx="1737360" cy="310896"/>
          </a:xfrm>
          <a:prstGeom prst="rect">
            <a:avLst/>
          </a:prstGeom>
          <a:solidFill>
            <a:srgbClr val="1E3A56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040880" y="387705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040880" y="387705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Submit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Learn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F6E4"/>
                </a:solidFill>
              </a:rPr>
              <a:t>Day 2 of 30  •  HTML Forms &amp; Tables 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4864" cy="804672"/>
          </a:xfrm>
          <a:prstGeom prst="rect">
            <a:avLst/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420624" cy="420624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0352" y="13533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69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24358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Form Elements &amp; Structure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159105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form, action, method, label, button — how forms send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01000" y="1408176"/>
            <a:ext cx="658368" cy="274320"/>
          </a:xfrm>
          <a:prstGeom prst="roundRect">
            <a:avLst>
              <a:gd name="adj" fmla="val 33333"/>
            </a:avLst>
          </a:prstGeom>
          <a:solidFill>
            <a:srgbClr val="FED7A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01000" y="140817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693A"/>
                </a:solidFill>
              </a:rPr>
              <a:t>~8 min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30352" y="2286000"/>
            <a:ext cx="420624" cy="420624"/>
          </a:xfrm>
          <a:prstGeom prst="ellipse">
            <a:avLst/>
          </a:prstGeom>
          <a:solidFill>
            <a:srgbClr val="99F6E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30352" y="22860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21762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Input Types Deep Dive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252374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text, email, password, radio, checkbox, date, file, range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01000" y="2340864"/>
            <a:ext cx="658368" cy="274320"/>
          </a:xfrm>
          <a:prstGeom prst="roundRect">
            <a:avLst>
              <a:gd name="adj" fmla="val 33333"/>
            </a:avLst>
          </a:prstGeom>
          <a:solidFill>
            <a:srgbClr val="99F6E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001000" y="234086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~9 min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035808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30352" y="3218688"/>
            <a:ext cx="420624" cy="42062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30352" y="3218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" y="3108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Tables — Structure &amp; Styling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34564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table, thead, tbody, tr, th, td, colspan, rowspan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01000" y="3273552"/>
            <a:ext cx="658368" cy="274320"/>
          </a:xfrm>
          <a:prstGeom prst="roundRect">
            <a:avLst>
              <a:gd name="adj" fmla="val 3333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001000" y="327355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~9 min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968496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65760" y="3968496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30352" y="4151376"/>
            <a:ext cx="420624" cy="420624"/>
          </a:xfrm>
          <a:prstGeom prst="ellipse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30352" y="41513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15568" y="404164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Fieldset, Legend &amp; Best Practices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15568" y="43891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Group inputs, accessibility, labels for all, validation hints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01000" y="4206240"/>
            <a:ext cx="658368" cy="274320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001000" y="420624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</a:rPr>
              <a:t>~7 min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48640" y="484632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9F6E4"/>
                </a:solidFill>
              </a:rPr>
              <a:t>TODAY'S PROJECT: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57400" y="4846320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Contact Form — a fully working HTML form with multiple input types, validation, and table layout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84048" y="146304"/>
            <a:ext cx="1005840" cy="310896"/>
          </a:xfrm>
          <a:prstGeom prst="roundRect">
            <a:avLst>
              <a:gd name="adj" fmla="val 35294"/>
            </a:avLst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4630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TOPIC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36192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 Elements &amp; Structure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4048" y="6035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Every form on the internet — login, checkout, search — uses these exact building blocks.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420624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A3A5C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87552"/>
            <a:ext cx="4206240" cy="256032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2064" y="1060704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8368" y="1060704"/>
            <a:ext cx="91440" cy="91440"/>
          </a:xfrm>
          <a:prstGeom prst="ellipse">
            <a:avLst/>
          </a:prstGeom>
          <a:solidFill>
            <a:srgbClr val="E0A052"/>
          </a:solidFill>
          <a:ln w="12700">
            <a:solidFill>
              <a:srgbClr val="E0A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04672" y="1060704"/>
            <a:ext cx="91440" cy="91440"/>
          </a:xfrm>
          <a:prstGeom prst="ellipse">
            <a:avLst/>
          </a:prstGeom>
          <a:solidFill>
            <a:srgbClr val="52C452"/>
          </a:solidFill>
          <a:ln w="12700">
            <a:solidFill>
              <a:srgbClr val="52C4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32688" y="102412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index.html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76656" y="129844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55448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6656" y="155448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action="/submit"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18105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" y="181051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method="POST"&gt;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06654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6656" y="206654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32257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6656" y="2322576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for="name"&gt;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5786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6656" y="257860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Full Name: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283464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6656" y="283464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&lt;/label&gt;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09067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76656" y="309067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34670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6656" y="334670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id="name"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60273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6656" y="3602736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name="name"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85876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6656" y="385876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placeholder="Your name"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11480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6656" y="411480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required&gt;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37083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76656" y="437083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62686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76656" y="435254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 </a:t>
            </a: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Send</a:t>
            </a: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&lt;/button&gt;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6656" y="453869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6656" y="475945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" y="459943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73168" y="987552"/>
            <a:ext cx="40416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773168" y="987552"/>
            <a:ext cx="54864" cy="438912"/>
          </a:xfrm>
          <a:prstGeom prst="rect">
            <a:avLst/>
          </a:prstGeom>
          <a:solidFill>
            <a:srgbClr val="1E6CB5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892040" y="1069848"/>
            <a:ext cx="777240" cy="256032"/>
          </a:xfrm>
          <a:prstGeom prst="rect">
            <a:avLst/>
          </a:prstGeom>
          <a:solidFill>
            <a:srgbClr val="1E6CB5">
              <a:alpha val="12000"/>
            </a:srgbClr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892040" y="10698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6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742432" y="1042416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Container for all inputs. Needs action (where to send) and method (GET or POST).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4773168" y="1499616"/>
            <a:ext cx="40416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773168" y="1499616"/>
            <a:ext cx="54864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892040" y="1581912"/>
            <a:ext cx="777240" cy="25603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892040" y="158191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action=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742432" y="1554480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URL where form data is sent. action="/submit" sends to your server endpoint.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4773168" y="2011680"/>
            <a:ext cx="40416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773168" y="2011680"/>
            <a:ext cx="54864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892040" y="2093976"/>
            <a:ext cx="777240" cy="25603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892040" y="209397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method=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742432" y="2066544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GET = data visible in URL (for search). POST = data hidden in body (for sensitive data).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4773168" y="2523744"/>
            <a:ext cx="40416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773168" y="2523744"/>
            <a:ext cx="54864" cy="438912"/>
          </a:xfrm>
          <a:prstGeom prst="rect">
            <a:avLst/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892040" y="2606040"/>
            <a:ext cx="777240" cy="256032"/>
          </a:xfrm>
          <a:prstGeom prst="rect">
            <a:avLst/>
          </a:prstGeom>
          <a:solidFill>
            <a:srgbClr val="F0693A">
              <a:alpha val="12000"/>
            </a:srgbClr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892040" y="26060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6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742432" y="2578608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Describes an input. for="id" links it — clicking the label focuses the input!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4773168" y="3035808"/>
            <a:ext cx="40416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4773168" y="3035808"/>
            <a:ext cx="54864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892040" y="3118104"/>
            <a:ext cx="777240" cy="25603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892040" y="311810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742432" y="3090672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The main data-entry element. type= changes its behavior completely (text, email, password…)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4773168" y="3547872"/>
            <a:ext cx="40416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4773168" y="3547872"/>
            <a:ext cx="54864" cy="438912"/>
          </a:xfrm>
          <a:prstGeom prst="rect">
            <a:avLst/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4892040" y="3630168"/>
            <a:ext cx="777240" cy="256032"/>
          </a:xfrm>
          <a:prstGeom prst="rect">
            <a:avLst/>
          </a:prstGeom>
          <a:solidFill>
            <a:srgbClr val="F0693A">
              <a:alpha val="12000"/>
            </a:srgbClr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4892040" y="363016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6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742432" y="3602736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HTML5 attribute — browser blocks submit if empty. Free validation, no JavaScript needed!</a:t>
            </a:r>
            <a:endParaRPr lang="en-US" sz="880" dirty="0"/>
          </a:p>
        </p:txBody>
      </p:sp>
      <p:sp>
        <p:nvSpPr>
          <p:cNvPr id="77" name="Shape 75"/>
          <p:cNvSpPr/>
          <p:nvPr/>
        </p:nvSpPr>
        <p:spPr>
          <a:xfrm>
            <a:off x="4773168" y="4059936"/>
            <a:ext cx="40416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4773168" y="4059936"/>
            <a:ext cx="54864" cy="438912"/>
          </a:xfrm>
          <a:prstGeom prst="rect">
            <a:avLst/>
          </a:prstGeom>
          <a:solidFill>
            <a:srgbClr val="1E6CB5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4892040" y="4142232"/>
            <a:ext cx="777240" cy="256032"/>
          </a:xfrm>
          <a:prstGeom prst="rect">
            <a:avLst/>
          </a:prstGeom>
          <a:solidFill>
            <a:srgbClr val="1E6CB5">
              <a:alpha val="12000"/>
            </a:srgbClr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4892040" y="414223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6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742432" y="4114800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type="submit" sends the form. type="reset" clears all fields. type="button" does nothing by default.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84048" y="146304"/>
            <a:ext cx="1005840" cy="310896"/>
          </a:xfrm>
          <a:prstGeom prst="roundRect">
            <a:avLst>
              <a:gd name="adj" fmla="val 3529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4630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TOPIC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36192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Types Deep Dive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4048" y="6035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The type= attribute transforms one tag into 15+ different controls. Know them all.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87552"/>
            <a:ext cx="2743200" cy="45720"/>
          </a:xfrm>
          <a:prstGeom prst="rect">
            <a:avLst/>
          </a:prstGeom>
          <a:solidFill>
            <a:srgbClr val="1E6CB5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2064" y="1097280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BFDBFE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12064" y="1097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99616" y="1097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Single-line text field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2064" y="1463040"/>
            <a:ext cx="2487168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14630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type="text"&gt;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82696" y="987552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82696" y="987552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10712" y="1097280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99F6E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10712" y="1097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98264" y="1097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Email with @ validation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10712" y="1463040"/>
            <a:ext cx="2487168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47288" y="14630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type="email"&gt;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81344" y="987552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181344" y="987552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309360" y="1097280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09360" y="1097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96912" y="1097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Hides characters as dots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9360" y="1463040"/>
            <a:ext cx="2487168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45936" y="14630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type="password"&gt;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" y="1984248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84048" y="1984248"/>
            <a:ext cx="2743200" cy="45720"/>
          </a:xfrm>
          <a:prstGeom prst="rect">
            <a:avLst/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12064" y="2093976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FED7A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12064" y="20939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6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499616" y="209397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Numeric input with arrows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2064" y="2459736"/>
            <a:ext cx="2487168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48640" y="245973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type="number"&gt;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82696" y="1984248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282696" y="1984248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410712" y="2093976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410712" y="20939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98264" y="209397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Phone number field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10712" y="2459736"/>
            <a:ext cx="2487168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447288" y="245973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type="tel"&gt;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81344" y="1984248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181344" y="1984248"/>
            <a:ext cx="2743200" cy="45720"/>
          </a:xfrm>
          <a:prstGeom prst="rect">
            <a:avLst/>
          </a:prstGeom>
          <a:solidFill>
            <a:srgbClr val="1E6CB5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309360" y="2093976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BFDBFE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309360" y="20939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96912" y="209397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Date picker calendar popup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09360" y="2459736"/>
            <a:ext cx="2487168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345936" y="245973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type="date"&gt;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84048" y="2980944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384048" y="2980944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512064" y="3090672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99F6E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12064" y="30906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checkbox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499616" y="309067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Toggle on/off independently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12064" y="3456432"/>
            <a:ext cx="2487168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4864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type="checkbox"&gt;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82696" y="2980944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3282696" y="2980944"/>
            <a:ext cx="2743200" cy="45720"/>
          </a:xfrm>
          <a:prstGeom prst="rect">
            <a:avLst/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3410712" y="3090672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FED7A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410712" y="30906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6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398264" y="309067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Pick ONE from a group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410712" y="3456432"/>
            <a:ext cx="2487168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447288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type="radio"&gt;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181344" y="2980944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6181344" y="2980944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6309360" y="3090672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309360" y="30906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296912" y="309067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Opens file picker dialog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309360" y="3456432"/>
            <a:ext cx="2487168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345936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type="file"&gt;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84048" y="3977640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384048" y="397764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512064" y="4087368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512064" y="40873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499616" y="40873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Slider between min and max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12064" y="4453128"/>
            <a:ext cx="2487168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548640" y="44531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type="range"&gt;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282696" y="3977640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3282696" y="3977640"/>
            <a:ext cx="2743200" cy="45720"/>
          </a:xfrm>
          <a:prstGeom prst="rect">
            <a:avLst/>
          </a:prstGeom>
          <a:solidFill>
            <a:srgbClr val="1E6CB5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3410712" y="4087368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BFDBFE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410712" y="40873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398264" y="40873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Opens native color picker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410712" y="4453128"/>
            <a:ext cx="2487168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3447288" y="44531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type="color"&gt;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181344" y="3977640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6181344" y="3977640"/>
            <a:ext cx="274320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6309360" y="4087368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6309360" y="40873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296912" y="40873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Invisible — sends data silently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309360" y="4453128"/>
            <a:ext cx="2487168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6345936" y="44531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type="hidden"&gt;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384048" y="4846320"/>
            <a:ext cx="8412480" cy="219456"/>
          </a:xfrm>
          <a:prstGeom prst="rect">
            <a:avLst/>
          </a:prstGeom>
          <a:solidFill>
            <a:srgbClr val="99F6E4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566928" y="484632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PRO TIP: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1371600" y="4846320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Always pair &lt;input&gt; with a &lt;label for='id'&gt;. Without labels, screen readers can't describe the field.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84048" y="146304"/>
            <a:ext cx="1005840" cy="310896"/>
          </a:xfrm>
          <a:prstGeom prst="roundRect">
            <a:avLst>
              <a:gd name="adj" fmla="val 3529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4630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TOPIC 02B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36192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Textarea, Select &amp; Datalist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4048" y="6035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Beyond &lt;input&gt; — multi-line text, dropdowns, and smart autocomplete.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420624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A3A5C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87552"/>
            <a:ext cx="4206240" cy="256032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2064" y="1060704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8368" y="1060704"/>
            <a:ext cx="91440" cy="91440"/>
          </a:xfrm>
          <a:prstGeom prst="ellipse">
            <a:avLst/>
          </a:prstGeom>
          <a:solidFill>
            <a:srgbClr val="E0A052"/>
          </a:solidFill>
          <a:ln w="12700">
            <a:solidFill>
              <a:srgbClr val="E0A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04672" y="1060704"/>
            <a:ext cx="91440" cy="91440"/>
          </a:xfrm>
          <a:prstGeom prst="ellipse">
            <a:avLst/>
          </a:prstGeom>
          <a:solidFill>
            <a:srgbClr val="52C452"/>
          </a:solidFill>
          <a:ln w="12700">
            <a:solidFill>
              <a:srgbClr val="52C4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32688" y="102412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index.html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76656" y="129844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Multi-line text --&gt;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55448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6656" y="155448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18105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" y="181051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name="message"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06654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6656" y="206654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rows="5" cols="40"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32257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6656" y="2322576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placeholder="Your message..."&gt;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5786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6656" y="257860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&lt;/textarea&gt;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283464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6656" y="283464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" y="3401568"/>
            <a:ext cx="420624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1A3A5C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84048" y="3401568"/>
            <a:ext cx="4206240" cy="256032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12064" y="347472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58368" y="3474720"/>
            <a:ext cx="91440" cy="91440"/>
          </a:xfrm>
          <a:prstGeom prst="ellipse">
            <a:avLst/>
          </a:prstGeom>
          <a:solidFill>
            <a:srgbClr val="E0A052"/>
          </a:solidFill>
          <a:ln w="12700">
            <a:solidFill>
              <a:srgbClr val="E0A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04672" y="3474720"/>
            <a:ext cx="91440" cy="91440"/>
          </a:xfrm>
          <a:prstGeom prst="ellipse">
            <a:avLst/>
          </a:prstGeom>
          <a:solidFill>
            <a:srgbClr val="52C452"/>
          </a:solidFill>
          <a:ln w="12700">
            <a:solidFill>
              <a:srgbClr val="52C4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32688" y="343814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index.html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371246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6656" y="371246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 name="city"&gt;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96849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6656" y="3968496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 value=""&gt;Choose...&lt;/option&gt;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22452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76656" y="422452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 value="ahm"&gt;Ahmedabad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48056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76656" y="448056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 value="mum"&gt;Mumbai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73659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76656" y="473659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&lt;/select&gt;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73168" y="987552"/>
            <a:ext cx="404164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773168" y="987552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892040" y="109728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892040" y="1097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&lt;textarea&gt;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893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Multi-line text input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92040" y="14447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Use for comments, messages, long text. rows= sets height, cols= sets width. Content goes between tags (not value attr).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73168" y="2011680"/>
            <a:ext cx="404164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2011680"/>
            <a:ext cx="54864" cy="877824"/>
          </a:xfrm>
          <a:prstGeom prst="rect">
            <a:avLst/>
          </a:prstGeom>
          <a:solidFill>
            <a:srgbClr val="1E6CB5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892040" y="2121408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1E6CB5">
              <a:alpha val="12000"/>
            </a:srgbClr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92040" y="21214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&lt;select&gt;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89320" y="2121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Dropdown list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92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Wraps &lt;option&gt; elements. Add value="" with empty text as the first option to force user selection.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73168" y="3035808"/>
            <a:ext cx="404164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773168" y="3035808"/>
            <a:ext cx="54864" cy="877824"/>
          </a:xfrm>
          <a:prstGeom prst="rect">
            <a:avLst/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892040" y="314553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0693A">
              <a:alpha val="12000"/>
            </a:srgbClr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892040" y="31455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6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&lt;datalist&gt;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989320" y="31455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Smart autocomplete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892040" y="34930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Combine &lt;input list="id"&gt; with &lt;datalist id="id"&gt; to give suggestions while still allowing custom input.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73168" y="4059936"/>
            <a:ext cx="404164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773168" y="4059936"/>
            <a:ext cx="54864" cy="8778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892040" y="416966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892040" y="41696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&lt;optgroup&gt;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989320" y="4169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Group dropdown options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892040" y="45171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Wrap related &lt;option&gt; tags in &lt;optgroup label="Group Name"&gt; to create visual sections in long dropdowns.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84048" y="146304"/>
            <a:ext cx="1005840" cy="310896"/>
          </a:xfrm>
          <a:prstGeom prst="roundRect">
            <a:avLst>
              <a:gd name="adj" fmla="val 3529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4630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TOPIC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36192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Tables — Structure &amp; Layout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4048" y="6035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Tables display structured data in rows and columns. Never use them for page layout — only for data!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05256"/>
            <a:ext cx="420624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A3A5C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87552"/>
            <a:ext cx="4206240" cy="256032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2064" y="1060704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8368" y="1060704"/>
            <a:ext cx="91440" cy="91440"/>
          </a:xfrm>
          <a:prstGeom prst="ellipse">
            <a:avLst/>
          </a:prstGeom>
          <a:solidFill>
            <a:srgbClr val="E0A052"/>
          </a:solidFill>
          <a:ln w="12700">
            <a:solidFill>
              <a:srgbClr val="E0A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04672" y="1060704"/>
            <a:ext cx="91440" cy="91440"/>
          </a:xfrm>
          <a:prstGeom prst="ellipse">
            <a:avLst/>
          </a:prstGeom>
          <a:solidFill>
            <a:srgbClr val="52C452"/>
          </a:solidFill>
          <a:ln w="12700">
            <a:solidFill>
              <a:srgbClr val="52C4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32688" y="102412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index.html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76656" y="129844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55448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6656" y="155448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18105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" y="153619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r>
              <a:rPr lang="en-US" sz="1000" dirty="0" err="1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thead</a:t>
            </a: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06654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6656" y="171907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32257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6656" y="197510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&lt;th&gt;Name&lt;/th&gt;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5786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6656" y="2231136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&lt;th&gt;Age&lt;/th&gt;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283464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6656" y="248716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&lt;th&gt;City&lt;/th&gt;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09067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76656" y="274320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34670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6656" y="299923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&lt;/thead&gt;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60273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6656" y="3602736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85876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6656" y="322783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&lt;tbody&gt;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11480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94944" y="341071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37083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76656" y="362102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&lt;td&gt;Rahul&lt;/td&gt;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62686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5800" y="380390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&lt;td&gt;24&lt;/td&gt;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67512" y="4001153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&lt;td&gt;Ahmedabad&lt;/td&gt;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3504" y="4121331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5800" y="4312049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&lt;/tbody&gt;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3187" y="4586369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73168" y="987552"/>
            <a:ext cx="40416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987552"/>
            <a:ext cx="54864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882896" y="1078992"/>
            <a:ext cx="749808" cy="24688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82896" y="1078992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705856" y="105156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The outer container. All table elements must live inside this.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73168" y="1499616"/>
            <a:ext cx="40416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773168" y="1499616"/>
            <a:ext cx="54864" cy="438912"/>
          </a:xfrm>
          <a:prstGeom prst="rect">
            <a:avLst/>
          </a:prstGeom>
          <a:solidFill>
            <a:srgbClr val="1E6CB5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882896" y="1591056"/>
            <a:ext cx="749808" cy="246888"/>
          </a:xfrm>
          <a:prstGeom prst="rect">
            <a:avLst/>
          </a:prstGeom>
          <a:solidFill>
            <a:srgbClr val="1E6CB5">
              <a:alpha val="12000"/>
            </a:srgbClr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882896" y="1591056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6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&lt;thead&gt;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705856" y="156362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Groups header rows. Browser may repeat these on page breaks. Semantic meaning for screen readers.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73168" y="2011680"/>
            <a:ext cx="40416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773168" y="2011680"/>
            <a:ext cx="54864" cy="438912"/>
          </a:xfrm>
          <a:prstGeom prst="rect">
            <a:avLst/>
          </a:prstGeom>
          <a:solidFill>
            <a:srgbClr val="1E6CB5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882896" y="2103120"/>
            <a:ext cx="749808" cy="246888"/>
          </a:xfrm>
          <a:prstGeom prst="rect">
            <a:avLst/>
          </a:prstGeom>
          <a:solidFill>
            <a:srgbClr val="1E6CB5">
              <a:alpha val="12000"/>
            </a:srgbClr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882896" y="2103120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6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&lt;tbody&gt;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705856" y="207568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Groups body rows — the actual data. Can have multiple tbody sections to group related rows.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73168" y="2523744"/>
            <a:ext cx="40416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773168" y="2523744"/>
            <a:ext cx="54864" cy="438912"/>
          </a:xfrm>
          <a:prstGeom prst="rect">
            <a:avLst/>
          </a:prstGeom>
          <a:solidFill>
            <a:srgbClr val="1E6CB5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4882896" y="2615184"/>
            <a:ext cx="749808" cy="246888"/>
          </a:xfrm>
          <a:prstGeom prst="rect">
            <a:avLst/>
          </a:prstGeom>
          <a:solidFill>
            <a:srgbClr val="1E6CB5">
              <a:alpha val="12000"/>
            </a:srgbClr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882896" y="2615184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6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&lt;tfoot&gt;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705856" y="258775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Groups footer rows — totals, summaries. Always renders at the bottom even if written in the middle.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773168" y="3035808"/>
            <a:ext cx="40416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773168" y="3035808"/>
            <a:ext cx="54864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4882896" y="3127248"/>
            <a:ext cx="749808" cy="24688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882896" y="3127248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705856" y="309981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Table Row. Every row of data needs one. All cells go inside &lt;tr&gt;.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773168" y="3547872"/>
            <a:ext cx="40416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4773168" y="3547872"/>
            <a:ext cx="54864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4882896" y="3639312"/>
            <a:ext cx="749808" cy="246888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4882896" y="3639312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705856" y="361188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Table Header cell. Bold + centered by default. Use scope='col' or scope='row' for accessibility.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773168" y="4059936"/>
            <a:ext cx="40416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4773168" y="4059936"/>
            <a:ext cx="54864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882896" y="4151376"/>
            <a:ext cx="749808" cy="246888"/>
          </a:xfrm>
          <a:prstGeom prst="rect">
            <a:avLst/>
          </a:prstGeom>
          <a:solidFill>
            <a:srgbClr val="64748B">
              <a:alpha val="12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882896" y="4151376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705856" y="412394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Table Data cell. The actual content. colspan= spans columns, rowspan= spans rows.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84048" y="146304"/>
            <a:ext cx="1005840" cy="310896"/>
          </a:xfrm>
          <a:prstGeom prst="roundRect">
            <a:avLst>
              <a:gd name="adj" fmla="val 3529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4630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TABLES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36192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colspan &amp; rowspan — Merging Cells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4048" y="6035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Merge cells across columns or rows to create complex table layouts.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colspan example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3657600" cy="475488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colspan="3"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Schedule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938528"/>
            <a:ext cx="1207008" cy="38039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1938528"/>
            <a:ext cx="1207008" cy="380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Mon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09928" y="1938528"/>
            <a:ext cx="1207008" cy="38039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709928" y="1938528"/>
            <a:ext cx="1207008" cy="380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Tue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16936" y="1938528"/>
            <a:ext cx="1207008" cy="38039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916936" y="1938528"/>
            <a:ext cx="1207008" cy="380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Wed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318918"/>
            <a:ext cx="12070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2318918"/>
            <a:ext cx="12070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HTML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09928" y="2318918"/>
            <a:ext cx="12070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709928" y="2318918"/>
            <a:ext cx="12070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CSS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16936" y="2318918"/>
            <a:ext cx="12070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916936" y="2318918"/>
            <a:ext cx="12070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JS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675534"/>
            <a:ext cx="12070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2675534"/>
            <a:ext cx="12070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Form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709928" y="2675534"/>
            <a:ext cx="12070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709928" y="2675534"/>
            <a:ext cx="12070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Table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16936" y="2675534"/>
            <a:ext cx="12070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916936" y="2675534"/>
            <a:ext cx="12070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Flex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206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colspan="3" spans across all 3 columns — great for section headers.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987552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4632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rowspan example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1463040"/>
            <a:ext cx="1207008" cy="332842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00600" y="1463040"/>
            <a:ext cx="1207008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Subject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07608" y="1463040"/>
            <a:ext cx="1207008" cy="332842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007608" y="1463040"/>
            <a:ext cx="1207008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Mon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14616" y="1463040"/>
            <a:ext cx="1207008" cy="332842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214616" y="1463040"/>
            <a:ext cx="1207008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Tue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1795882"/>
            <a:ext cx="1207008" cy="713232"/>
          </a:xfrm>
          <a:prstGeom prst="rect">
            <a:avLst/>
          </a:prstGeom>
          <a:solidFill>
            <a:srgbClr val="99F6E4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00600" y="1795882"/>
            <a:ext cx="12070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rowspan="2"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HTML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07608" y="1795882"/>
            <a:ext cx="12070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007608" y="1795882"/>
            <a:ext cx="12070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9am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14616" y="1795882"/>
            <a:ext cx="12070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214616" y="1795882"/>
            <a:ext cx="12070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10am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07608" y="2152498"/>
            <a:ext cx="12070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007608" y="2152498"/>
            <a:ext cx="12070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11am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214616" y="2152498"/>
            <a:ext cx="12070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214616" y="2152498"/>
            <a:ext cx="12070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2pm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0600" y="2509114"/>
            <a:ext cx="12070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800600" y="2509114"/>
            <a:ext cx="12070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CSS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07608" y="2509114"/>
            <a:ext cx="12070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007608" y="2509114"/>
            <a:ext cx="12070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1pm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214616" y="2509114"/>
            <a:ext cx="12070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214616" y="2509114"/>
            <a:ext cx="12070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3pm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00600" y="4206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rowspan="2" makes the HTML cell span 2 rows.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84048" y="146304"/>
            <a:ext cx="1005840" cy="310896"/>
          </a:xfrm>
          <a:prstGeom prst="roundRect">
            <a:avLst>
              <a:gd name="adj" fmla="val 3529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4630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TOPIC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36192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Fieldset, Legend &amp; Best Practices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84048" y="6035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Group related inputs visually and semantically. Make forms accessible for everyone.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420624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A3A5C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384048" y="987552"/>
            <a:ext cx="4206240" cy="256032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2064" y="1060704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8368" y="1060704"/>
            <a:ext cx="91440" cy="91440"/>
          </a:xfrm>
          <a:prstGeom prst="ellipse">
            <a:avLst/>
          </a:prstGeom>
          <a:solidFill>
            <a:srgbClr val="E0A052"/>
          </a:solidFill>
          <a:ln w="12700">
            <a:solidFill>
              <a:srgbClr val="E0A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04672" y="1060704"/>
            <a:ext cx="91440" cy="91440"/>
          </a:xfrm>
          <a:prstGeom prst="ellipse">
            <a:avLst/>
          </a:prstGeom>
          <a:solidFill>
            <a:srgbClr val="52C452"/>
          </a:solidFill>
          <a:ln w="12700">
            <a:solidFill>
              <a:srgbClr val="52C4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32688" y="102412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index.html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76656" y="129844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55448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6656" y="155448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&lt;fieldset&gt;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18105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" y="181051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&lt;legend&gt;Personal Info&lt;/legend&gt;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06654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6656" y="206654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32257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22376" y="208483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&lt;label for="fn"&gt;First Name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5786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22376" y="234086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&lt;/label&gt;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283464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22376" y="2596896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type="text" id="fn"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09067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22376" y="285292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name="firstname"&gt;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34670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2376" y="310896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&lt;/fieldset&gt;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" y="336499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73168" y="987552"/>
            <a:ext cx="195681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73168" y="987552"/>
            <a:ext cx="1956816" cy="54864"/>
          </a:xfrm>
          <a:prstGeom prst="rect">
            <a:avLst/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901184" y="1115568"/>
            <a:ext cx="329184" cy="329184"/>
          </a:xfrm>
          <a:prstGeom prst="ellipse">
            <a:avLst/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01184" y="1115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1133856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Always use labels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01184" y="151790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Every &lt;input&gt; needs a &lt;label for='id'&gt;. Never just placeholder text — placeholders disappear when typing.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876288" y="987552"/>
            <a:ext cx="195681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876288" y="987552"/>
            <a:ext cx="195681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004304" y="111556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004304" y="1115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06640" y="1133856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Use fieldset to group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04304" y="151790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Group related inputs (address fields, payment info) inside &lt;fieldset&gt; with a &lt;legend&gt; for context.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4773168" y="2404872"/>
            <a:ext cx="195681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773168" y="2404872"/>
            <a:ext cx="195681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901184" y="2532888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901184" y="2532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03520" y="2551176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Add required fields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01184" y="293522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Use the required attribute for mandatory fields. Also add aria-required='true' for better screen reader support.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6876288" y="2404872"/>
            <a:ext cx="195681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876288" y="2404872"/>
            <a:ext cx="195681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7004304" y="2532888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004304" y="2532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406640" y="2551176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Use novalidate wisely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004304" y="293522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Add novalidate to &lt;form&gt; during development to skip browser validation while testing — remove for production!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4773168" y="3822192"/>
            <a:ext cx="195681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773168" y="3822192"/>
            <a:ext cx="1956816" cy="54864"/>
          </a:xfrm>
          <a:prstGeom prst="rect">
            <a:avLst/>
          </a:prstGeom>
          <a:solidFill>
            <a:srgbClr val="1E6CB5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901184" y="3950208"/>
            <a:ext cx="329184" cy="329184"/>
          </a:xfrm>
          <a:prstGeom prst="ellipse">
            <a:avLst/>
          </a:prstGeom>
          <a:solidFill>
            <a:srgbClr val="1E6CB5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901184" y="3950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303520" y="3968496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Name every input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901184" y="435254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Every form control needs a name= attribute or it won't be included in the form submission data.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6876288" y="3822192"/>
            <a:ext cx="195681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6876288" y="3822192"/>
            <a:ext cx="1956816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7004304" y="3950208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004304" y="3950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406640" y="3968496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Tab order matters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004304" y="435254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Users tab through forms. Make sure your HTML order matches the visual order. Test with keyboard only!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384048" y="38404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594360" y="3767328"/>
            <a:ext cx="1280160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594360" y="374904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Personal Info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48640" y="404164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First name: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48640" y="4233672"/>
            <a:ext cx="1737360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2423160" y="404164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Last name: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423160" y="4233672"/>
            <a:ext cx="1737360" cy="201168"/>
          </a:xfrm>
          <a:prstGeom prst="rect">
            <a:avLst/>
          </a:prstGeom>
          <a:solidFill>
            <a:srgbClr val="EEF4F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548640" y="4590288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548640" y="45902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Submit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CB5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84048" y="146304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1E6CB5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463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LIVE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10512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Contact Form Live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4048" y="6035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Type every line — pause the video, try it yourself, then continue.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4297680" cy="3715077"/>
          </a:xfrm>
          <a:prstGeom prst="rect">
            <a:avLst/>
          </a:prstGeom>
          <a:solidFill>
            <a:srgbClr val="1E293B"/>
          </a:solidFill>
          <a:ln w="12700">
            <a:solidFill>
              <a:srgbClr val="1A3A5C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87552"/>
            <a:ext cx="4297680" cy="256032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2064" y="1060704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8368" y="1060704"/>
            <a:ext cx="91440" cy="91440"/>
          </a:xfrm>
          <a:prstGeom prst="ellipse">
            <a:avLst/>
          </a:prstGeom>
          <a:solidFill>
            <a:srgbClr val="E0A052"/>
          </a:solidFill>
          <a:ln w="12700">
            <a:solidFill>
              <a:srgbClr val="E0A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04672" y="1060704"/>
            <a:ext cx="91440" cy="91440"/>
          </a:xfrm>
          <a:prstGeom prst="ellipse">
            <a:avLst/>
          </a:prstGeom>
          <a:solidFill>
            <a:srgbClr val="52C452"/>
          </a:solidFill>
          <a:ln w="12700">
            <a:solidFill>
              <a:srgbClr val="52C4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32688" y="10241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index.html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76656" y="129844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action="#" method="POST"&gt;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55448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6656" y="155448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18105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" y="181051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&lt;fieldset&gt;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06654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6656" y="206654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&lt;legend&gt;Your Info&lt;/legend&gt;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32257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6656" y="232257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5786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6656" y="2306901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for="name"&gt;Name&lt;/label&gt;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283464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6656" y="2562933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09067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76656" y="2818965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id="name" name="name"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34670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6656" y="3074997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60273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6656" y="360273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85876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5800" y="3372177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for="email"&gt;Email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11480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5800" y="3628209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&lt;/label&gt;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37083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5800" y="3884241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type="email"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" y="4140273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id="email" name="email"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23422" y="4364301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&lt;/fieldset&gt;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64608" y="987552"/>
            <a:ext cx="3931920" cy="3639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A3A5C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864608" y="987552"/>
            <a:ext cx="3931920" cy="256032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992624" y="1060704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5138928" y="1060704"/>
            <a:ext cx="91440" cy="91440"/>
          </a:xfrm>
          <a:prstGeom prst="ellipse">
            <a:avLst/>
          </a:prstGeom>
          <a:solidFill>
            <a:srgbClr val="E0A052"/>
          </a:solidFill>
          <a:ln w="12700">
            <a:solidFill>
              <a:srgbClr val="E0A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5285232" y="1060704"/>
            <a:ext cx="91440" cy="91440"/>
          </a:xfrm>
          <a:prstGeom prst="ellipse">
            <a:avLst/>
          </a:prstGeom>
          <a:solidFill>
            <a:srgbClr val="52C452"/>
          </a:solidFill>
          <a:ln w="12700">
            <a:solidFill>
              <a:srgbClr val="52C4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413248" y="102412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index.html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37760" y="12984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157216" y="129844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&lt;fieldset&gt;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937760" y="155448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157216" y="155448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&lt;legend&gt;Your Message&lt;/legend&gt;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37760" y="18105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157216" y="181051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937760" y="206654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157216" y="1844475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for="subj"&gt;Subject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937760" y="232257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157216" y="2100507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&lt;/label&gt;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937760" y="25786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157216" y="2356539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&lt;select id="subj" name="subj"&gt;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937760" y="283464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157216" y="2612571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&lt;option&gt;Question&lt;/option&gt;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937760" y="309067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157216" y="2868603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&lt;option&gt;Feedback&lt;/option&gt;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937760" y="334670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157216" y="3124635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&lt;/select&gt;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937760" y="360273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157216" y="360273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937760" y="385876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193792" y="337674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for="msg"&gt;Message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937760" y="411480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193792" y="363278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&lt;/label&gt;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937760" y="437083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193792" y="388881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&lt;textarea id="msg"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193792" y="414484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name="msg" rows="4"&gt;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138928" y="4336869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&lt;/textarea&gt;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85800" y="4364301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&lt;/fieldset&gt;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84048" y="146304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463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DAY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10512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 Form — Day 2 Build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4048" y="6035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A fully functional HTML contact form using everything learned today.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14400"/>
            <a:ext cx="2011680" cy="868680"/>
          </a:xfrm>
          <a:prstGeom prst="rect">
            <a:avLst/>
          </a:prstGeom>
          <a:solidFill>
            <a:srgbClr val="FED7AA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2011680" cy="45720"/>
          </a:xfrm>
          <a:prstGeom prst="rect">
            <a:avLst/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69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84048" y="1481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Required tags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78608" y="914400"/>
            <a:ext cx="2011680" cy="868680"/>
          </a:xfrm>
          <a:prstGeom prst="rect">
            <a:avLst/>
          </a:prstGeom>
          <a:solidFill>
            <a:srgbClr val="FED7AA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78608" y="914400"/>
            <a:ext cx="2011680" cy="45720"/>
          </a:xfrm>
          <a:prstGeom prst="rect">
            <a:avLst/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78608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69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578608" y="1481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Input types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73168" y="914400"/>
            <a:ext cx="2011680" cy="868680"/>
          </a:xfrm>
          <a:prstGeom prst="rect">
            <a:avLst/>
          </a:prstGeom>
          <a:solidFill>
            <a:srgbClr val="FED7AA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73168" y="914400"/>
            <a:ext cx="2011680" cy="45720"/>
          </a:xfrm>
          <a:prstGeom prst="rect">
            <a:avLst/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73168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69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73168" y="1481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Fieldsets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67728" y="914400"/>
            <a:ext cx="2011680" cy="868680"/>
          </a:xfrm>
          <a:prstGeom prst="rect">
            <a:avLst/>
          </a:prstGeom>
          <a:solidFill>
            <a:srgbClr val="FED7AA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67728" y="914400"/>
            <a:ext cx="2011680" cy="45720"/>
          </a:xfrm>
          <a:prstGeom prst="rect">
            <a:avLst/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967728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69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67728" y="1481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Table layout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1920240"/>
            <a:ext cx="4937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84048" y="1920240"/>
            <a:ext cx="4937760" cy="54864"/>
          </a:xfrm>
          <a:prstGeom prst="rect">
            <a:avLst/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66928" y="199339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693A"/>
                </a:solidFill>
              </a:rPr>
              <a:t>Build Checklist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2468880"/>
            <a:ext cx="201168" cy="201168"/>
          </a:xfrm>
          <a:prstGeom prst="rect">
            <a:avLst/>
          </a:prstGeom>
          <a:solidFill>
            <a:srgbClr val="FED7A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77824" y="244144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01  Create form with action and method attributes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2743200"/>
            <a:ext cx="201168" cy="201168"/>
          </a:xfrm>
          <a:prstGeom prst="rect">
            <a:avLst/>
          </a:prstGeom>
          <a:solidFill>
            <a:srgbClr val="FED7A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77824" y="271576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02  Add Name field (type=text, required)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3017520"/>
            <a:ext cx="201168" cy="201168"/>
          </a:xfrm>
          <a:prstGeom prst="rect">
            <a:avLst/>
          </a:prstGeom>
          <a:solidFill>
            <a:srgbClr val="FED7A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77824" y="299008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03  Add Email field (type=email, required)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3291840"/>
            <a:ext cx="201168" cy="201168"/>
          </a:xfrm>
          <a:prstGeom prst="rect">
            <a:avLst/>
          </a:prstGeom>
          <a:solidFill>
            <a:srgbClr val="FED7A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77824" y="326440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04  Add Phone field (type=tel, optional)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3566160"/>
            <a:ext cx="201168" cy="201168"/>
          </a:xfrm>
          <a:prstGeom prst="rect">
            <a:avLst/>
          </a:prstGeom>
          <a:solidFill>
            <a:srgbClr val="FED7A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77824" y="353872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05  Add a Subject &lt;select&gt; dropdown with 3 options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3840480"/>
            <a:ext cx="201168" cy="201168"/>
          </a:xfrm>
          <a:prstGeom prst="rect">
            <a:avLst/>
          </a:prstGeom>
          <a:solidFill>
            <a:srgbClr val="FED7A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77824" y="381304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06  Add Message &lt;textarea&gt; (rows=5)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" y="4114800"/>
            <a:ext cx="201168" cy="201168"/>
          </a:xfrm>
          <a:prstGeom prst="rect">
            <a:avLst/>
          </a:prstGeom>
          <a:solidFill>
            <a:srgbClr val="FED7A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77824" y="408736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07  Group fields inside 2 &lt;fieldset&gt; tags with &lt;legend&gt;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" y="4389120"/>
            <a:ext cx="201168" cy="201168"/>
          </a:xfrm>
          <a:prstGeom prst="rect">
            <a:avLst/>
          </a:prstGeom>
          <a:solidFill>
            <a:srgbClr val="FED7A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77824" y="436168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08  Add a submit button with proper type='submit'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6928" y="4663440"/>
            <a:ext cx="201168" cy="201168"/>
          </a:xfrm>
          <a:prstGeom prst="rect">
            <a:avLst/>
          </a:prstGeom>
          <a:solidFill>
            <a:srgbClr val="FED7A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77824" y="463600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09  Add a data table showing your timetable or schedule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32120" y="192024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715000" y="20116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Preview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623560" y="2331720"/>
            <a:ext cx="3063240" cy="2578608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742432" y="2450592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5888736" y="2386584"/>
            <a:ext cx="822960" cy="164592"/>
          </a:xfrm>
          <a:prstGeom prst="rect">
            <a:avLst/>
          </a:prstGeom>
          <a:solidFill>
            <a:srgbClr val="F0F6FF"/>
          </a:solidFill>
          <a:ln w="12700">
            <a:solidFill>
              <a:srgbClr val="F0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888736" y="237744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693A"/>
                </a:solidFill>
              </a:rPr>
              <a:t>Your Info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806440" y="261518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Name: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806440" y="2798064"/>
            <a:ext cx="2651760" cy="164592"/>
          </a:xfrm>
          <a:prstGeom prst="rect">
            <a:avLst/>
          </a:prstGeom>
          <a:solidFill>
            <a:srgbClr val="EEF4F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806440" y="30358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Email: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806440" y="3218688"/>
            <a:ext cx="2651760" cy="164592"/>
          </a:xfrm>
          <a:prstGeom prst="rect">
            <a:avLst/>
          </a:prstGeom>
          <a:solidFill>
            <a:srgbClr val="EEF4F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5742432" y="3621024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5888736" y="3557016"/>
            <a:ext cx="914400" cy="164592"/>
          </a:xfrm>
          <a:prstGeom prst="rect">
            <a:avLst/>
          </a:prstGeom>
          <a:solidFill>
            <a:srgbClr val="F0F6FF"/>
          </a:solidFill>
          <a:ln w="12700">
            <a:solidFill>
              <a:srgbClr val="F0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888736" y="354787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</a:rPr>
              <a:t>Message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806440" y="3712464"/>
            <a:ext cx="2651760" cy="457200"/>
          </a:xfrm>
          <a:prstGeom prst="rect">
            <a:avLst/>
          </a:prstGeom>
          <a:solidFill>
            <a:srgbClr val="EEF4F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5806440" y="4224528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806440" y="4224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Submit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CB5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84048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Lock in these 5 lessons before Day 3.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5669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54864" cy="603504"/>
          </a:xfrm>
          <a:prstGeom prst="rect">
            <a:avLst/>
          </a:prstGeom>
          <a:solidFill>
            <a:srgbClr val="F0693A"/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30352" y="1225296"/>
            <a:ext cx="438912" cy="292608"/>
          </a:xfrm>
          <a:prstGeom prst="rect">
            <a:avLst/>
          </a:prstGeom>
          <a:solidFill>
            <a:srgbClr val="F0693A">
              <a:alpha val="18000"/>
            </a:srgbClr>
          </a:solidFill>
          <a:ln w="12700">
            <a:solidFill>
              <a:srgbClr val="F069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0352" y="1225296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6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" y="1170432"/>
            <a:ext cx="4901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&lt;form&gt; needs action= (where to send) and method= (GET for search, POST for sensitive data).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810512"/>
            <a:ext cx="5669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84048" y="1810512"/>
            <a:ext cx="54864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30352" y="1956816"/>
            <a:ext cx="438912" cy="292608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0352" y="1956816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8992" y="1901952"/>
            <a:ext cx="4901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&lt;input type=&gt; changes behaviour entirely — text, email, password, date, file, radio, checkbox all work differently.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542032"/>
            <a:ext cx="5669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84048" y="2542032"/>
            <a:ext cx="54864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0352" y="2688336"/>
            <a:ext cx="438912" cy="292608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0352" y="2688336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" y="2633472"/>
            <a:ext cx="4901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Every &lt;input&gt; must have a paired &lt;label for="id"&gt; — placeholder alone is NOT a label and fails accessibility.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273552"/>
            <a:ext cx="5669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84048" y="3273552"/>
            <a:ext cx="54864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30352" y="3419856"/>
            <a:ext cx="438912" cy="292608"/>
          </a:xfrm>
          <a:prstGeom prst="rect">
            <a:avLst/>
          </a:prstGeom>
          <a:solidFill>
            <a:srgbClr val="D97706">
              <a:alpha val="18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3419856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" y="3364992"/>
            <a:ext cx="4901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Tables use &lt;table&gt; → &lt;thead&gt;/&lt;tbody&gt;/&lt;tfoot&gt; → &lt;tr&gt; → &lt;th&gt;/&lt;td&gt;. colspan= and rowspan= merge cells.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4005072"/>
            <a:ext cx="5669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4005072"/>
            <a:ext cx="54864" cy="603504"/>
          </a:xfrm>
          <a:prstGeom prst="rect">
            <a:avLst/>
          </a:prstGeom>
          <a:solidFill>
            <a:srgbClr val="1E6CB5"/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30352" y="4151376"/>
            <a:ext cx="438912" cy="292608"/>
          </a:xfrm>
          <a:prstGeom prst="rect">
            <a:avLst/>
          </a:prstGeom>
          <a:solidFill>
            <a:srgbClr val="1E6CB5">
              <a:alpha val="18000"/>
            </a:srgbClr>
          </a:solidFill>
          <a:ln w="12700">
            <a:solidFill>
              <a:srgbClr val="1E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0352" y="4151376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6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" y="4096512"/>
            <a:ext cx="4901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&lt;fieldset&gt; + &lt;legend&gt; group related inputs visually and semantically — use them for complex forms.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1078992"/>
            <a:ext cx="26060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263640" y="1078992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46520" y="115214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Homework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6520" y="1508760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Do before Day 3: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46520" y="194767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46520" y="19476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48272" y="19202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Add a phone &amp; date input to the form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46520" y="245973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46520" y="24597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48272" y="243230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Add a 3-column schedule table with th and td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46520" y="297180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446520" y="29718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48272" y="294436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Merge 2 cells using colspan in your table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46520" y="348386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46520" y="34838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48272" y="345643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Add novalidate, test with empty fields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46520" y="399592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46520" y="399592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48272" y="396849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Validate HTML at validator.w3.org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46520" y="450799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446520" y="45079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748272" y="44805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Post your form screenshot in comments!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E6CB5">
              <a:alpha val="12000"/>
            </a:srgbClr>
          </a:solidFill>
          <a:ln w="12700">
            <a:solidFill>
              <a:srgbClr val="1E6CB5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162E46"/>
          </a:solidFill>
          <a:ln w="12700">
            <a:solidFill>
              <a:srgbClr val="16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926080" y="320040"/>
            <a:ext cx="3291840" cy="438912"/>
          </a:xfrm>
          <a:prstGeom prst="roundRect">
            <a:avLst>
              <a:gd name="adj" fmla="val 25000"/>
            </a:avLst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926080" y="3200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99F6E4"/>
                </a:solidFill>
              </a:rPr>
              <a:t>DAY 2 COMPLETE!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Well Done!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99F6E4"/>
                </a:solidFill>
              </a:rPr>
              <a:t>You can now build forms and tables from scratch.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371600" y="2194560"/>
            <a:ext cx="6400800" cy="128016"/>
          </a:xfrm>
          <a:prstGeom prst="rect">
            <a:avLst/>
          </a:prstGeom>
          <a:solidFill>
            <a:srgbClr val="1E3A5C"/>
          </a:solidFill>
          <a:ln w="12700">
            <a:solidFill>
              <a:srgbClr val="2A52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371600" y="2194560"/>
            <a:ext cx="42672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371600" y="235915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</a:rPr>
              <a:t>Day 2 / 30 completed  (6.7%)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788920"/>
            <a:ext cx="7315200" cy="1508760"/>
          </a:xfrm>
          <a:prstGeom prst="rect">
            <a:avLst/>
          </a:prstGeom>
          <a:solidFill>
            <a:srgbClr val="1E3A5C"/>
          </a:solidFill>
          <a:ln w="12700">
            <a:solidFill>
              <a:srgbClr val="2A5278"/>
            </a:solidFill>
            <a:prstDash val="solid"/>
          </a:ln>
          <a:effectLst>
            <a:outerShdw blurRad="152400" dist="25400" dir="8100000" algn="bl" rotWithShape="0">
              <a:srgbClr val="1A3A5C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14400" y="2788920"/>
            <a:ext cx="7315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97280" y="287121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F6E4"/>
                </a:solidFill>
              </a:rPr>
              <a:t>Coming up on Day 3: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182112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</a:rPr>
              <a:t>Semantic HTML &amp; Accessibility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97280" y="4434840"/>
            <a:ext cx="2194560" cy="548640"/>
          </a:xfrm>
          <a:prstGeom prst="rect">
            <a:avLst/>
          </a:prstGeom>
          <a:solidFill>
            <a:srgbClr val="1E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97280" y="4453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F6E4"/>
                </a:solidFill>
              </a:rPr>
              <a:t>Subscribe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7274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</a:rPr>
              <a:t>&amp; hit the bell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4434840"/>
            <a:ext cx="2194560" cy="548640"/>
          </a:xfrm>
          <a:prstGeom prst="rect">
            <a:avLst/>
          </a:prstGeom>
          <a:solidFill>
            <a:srgbClr val="1E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0" y="4453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F6E4"/>
                </a:solidFill>
              </a:rPr>
              <a:t>Comment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47274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</a:rPr>
              <a:t>'Day 2 Done!'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4434840"/>
            <a:ext cx="2194560" cy="548640"/>
          </a:xfrm>
          <a:prstGeom prst="rect">
            <a:avLst/>
          </a:prstGeom>
          <a:solidFill>
            <a:srgbClr val="1E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852160" y="4453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F6E4"/>
                </a:solidFill>
              </a:rPr>
              <a:t>Share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0" y="47274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</a:rPr>
              <a:t>with a friend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2117</Words>
  <Application>Microsoft Office PowerPoint</Application>
  <PresentationFormat>On-screen Show (16:9)</PresentationFormat>
  <Paragraphs>424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2 - HTML Forms &amp; Tables</dc:title>
  <dc:subject>PptxGenJS Presentation</dc:subject>
  <dc:creator>PptxGenJS</dc:creator>
  <cp:lastModifiedBy>Ajay Solanki</cp:lastModifiedBy>
  <cp:revision>6</cp:revision>
  <dcterms:created xsi:type="dcterms:W3CDTF">2026-04-13T05:00:49Z</dcterms:created>
  <dcterms:modified xsi:type="dcterms:W3CDTF">2026-04-26T14:12:02Z</dcterms:modified>
</cp:coreProperties>
</file>