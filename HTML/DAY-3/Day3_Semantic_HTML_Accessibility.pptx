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23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22C55E">
              <a:alpha val="7000"/>
            </a:srgbClr>
          </a:solidFill>
          <a:ln w="12700">
            <a:solidFill>
              <a:srgbClr val="22C55E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6EE7B7">
              <a:alpha val="5000"/>
            </a:srgbClr>
          </a:solidFill>
          <a:ln w="12700">
            <a:solidFill>
              <a:srgbClr val="6EE7B7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" y="347472"/>
            <a:ext cx="1280160" cy="3108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B1512"/>
                </a:solidFill>
              </a:rPr>
              <a:t>DAY 3 OF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912" y="80467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HTML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38912" y="153619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Accessibility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38912" y="23957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BF7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HTML that means something — to browsers, to screen readers, and to Google.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" y="2871216"/>
            <a:ext cx="2011680" cy="402336"/>
          </a:xfrm>
          <a:prstGeom prst="rect">
            <a:avLst/>
          </a:prstGeom>
          <a:solidFill>
            <a:srgbClr val="16252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8912" y="28712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Semantic Tags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15184" y="2871216"/>
            <a:ext cx="2011680" cy="402336"/>
          </a:xfrm>
          <a:prstGeom prst="rect">
            <a:avLst/>
          </a:prstGeom>
          <a:solidFill>
            <a:srgbClr val="162520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15184" y="28712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E7B7"/>
                </a:solidFill>
              </a:rPr>
              <a:t>ARIA &amp; Roles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91456" y="2871216"/>
            <a:ext cx="2011680" cy="402336"/>
          </a:xfrm>
          <a:prstGeom prst="rect">
            <a:avLst/>
          </a:prstGeom>
          <a:solidFill>
            <a:srgbClr val="16252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91456" y="28712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</a:rPr>
              <a:t>Accessibility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67728" y="2871216"/>
            <a:ext cx="2011680" cy="402336"/>
          </a:xfrm>
          <a:prstGeom prst="rect">
            <a:avLst/>
          </a:prstGeom>
          <a:solidFill>
            <a:srgbClr val="16252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67728" y="28712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SEO Benefits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34381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912" y="38770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Topics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15184" y="34381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615184" y="38770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Tags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91456" y="34381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91456" y="38770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Video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67728" y="34381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67728" y="38770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Project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33488" y="235915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Game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Day 3  •  Semantic HTML &amp; Accessibility  •  35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97280"/>
            <a:ext cx="8375904" cy="768096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097280"/>
            <a:ext cx="50292" cy="7680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402336" cy="402336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17043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DF4"/>
                </a:solidFill>
              </a:rPr>
              <a:t>Why Semantic HTML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53619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div-soup vs semantics, SEO impact, browser understanding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65008" y="1316736"/>
            <a:ext cx="621792" cy="256032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65008" y="131673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~7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2029968"/>
            <a:ext cx="8375904" cy="768096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2029968"/>
            <a:ext cx="50292" cy="76809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212848"/>
            <a:ext cx="402336" cy="402336"/>
          </a:xfrm>
          <a:prstGeom prst="ellipse">
            <a:avLst/>
          </a:prstGeom>
          <a:solidFill>
            <a:srgbClr val="6EE7B7">
              <a:alpha val="20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10312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DF4"/>
                </a:solidFill>
              </a:rPr>
              <a:t>Semantic Tags Deep Dive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46888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header, nav, main, article, section, aside, footer, figure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5008" y="2249424"/>
            <a:ext cx="621792" cy="2560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65008" y="224942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EE7B7"/>
                </a:solidFill>
              </a:rPr>
              <a:t>~9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962656"/>
            <a:ext cx="8375904" cy="768096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962656"/>
            <a:ext cx="50292" cy="76809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3145536"/>
            <a:ext cx="402336" cy="402336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3145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03580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DF4"/>
                </a:solidFill>
              </a:rPr>
              <a:t>Accessibility Fundamentals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40156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alt text, labels, tab order, contrast, screen readers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65008" y="3182112"/>
            <a:ext cx="621792" cy="256032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65008" y="318211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</a:rPr>
              <a:t>~9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895344"/>
            <a:ext cx="8375904" cy="768096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" y="3895344"/>
            <a:ext cx="50292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" y="4078224"/>
            <a:ext cx="402336" cy="402336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4078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396849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DF4"/>
                </a:solidFill>
              </a:rPr>
              <a:t>ARIA Roles &amp; Attributes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4334256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aria-label, aria-hidden, role=, live regions, landmarks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65008" y="4114800"/>
            <a:ext cx="621792" cy="2560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65008" y="411480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~8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4892040"/>
            <a:ext cx="8375904" cy="18288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6928" y="489204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PROJECT: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53312" y="4892040"/>
            <a:ext cx="7278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F7D0"/>
                </a:solidFill>
              </a:rPr>
              <a:t>Semantic Blog Page — rebuild a div-soup page using proper semantic HTML + accessibility attributes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912" y="137160"/>
            <a:ext cx="91440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B1512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81328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Semantic HTML Matters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= meaningful. HTML tags that describe their own content — not just how it looks.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005840"/>
            <a:ext cx="409651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84048" y="1005840"/>
            <a:ext cx="914400" cy="329184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10241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Div Soup  (no meaning)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1417320"/>
            <a:ext cx="3913632" cy="2651760"/>
          </a:xfrm>
          <a:prstGeom prst="rect">
            <a:avLst/>
          </a:prstGeom>
          <a:solidFill>
            <a:srgbClr val="060E0A"/>
          </a:solidFill>
          <a:ln w="12700">
            <a:solidFill>
              <a:srgbClr val="1A2E24"/>
            </a:solidFill>
            <a:prstDash val="solid"/>
          </a:ln>
          <a:effectLst>
            <a:outerShdw blurRad="1778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" y="1417320"/>
            <a:ext cx="3913632" cy="27432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9808" y="149961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96112" y="149961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69848" y="1463040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17465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8096" y="174650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id="header"&gt;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002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8096" y="20025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id="logo"&gt;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2258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" y="225856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25146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8096" y="25146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id="nav"&gt;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7706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" y="277063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&lt;div&gt;Home&lt;/div&gt;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0266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8096" y="302666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8096" y="32826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538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66928" y="419709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86384" y="416966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</a:rPr>
              <a:t>Screen readers can't navigate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439314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86384" y="43799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</a:rPr>
              <a:t>Google can't understand structure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461772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86384" y="459028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</a:rPr>
              <a:t>Developers confused by endless divs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6928" y="48280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86384" y="4800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</a:rPr>
              <a:t>No built-in keyboard accessibility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98848" y="2743200"/>
            <a:ext cx="14630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407408" y="24688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4663440" y="1005840"/>
            <a:ext cx="4096512" cy="40050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663440" y="1005840"/>
            <a:ext cx="4096512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663440" y="1005840"/>
            <a:ext cx="914400" cy="329184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663440" y="10058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AFTER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50992" y="10241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</a:rPr>
              <a:t>Semantic HTML  (meaningful)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54880" y="1417320"/>
            <a:ext cx="3913632" cy="2651760"/>
          </a:xfrm>
          <a:prstGeom prst="rect">
            <a:avLst/>
          </a:prstGeom>
          <a:solidFill>
            <a:srgbClr val="060E0A"/>
          </a:solidFill>
          <a:ln w="12700">
            <a:solidFill>
              <a:srgbClr val="1A2E24"/>
            </a:solidFill>
            <a:prstDash val="solid"/>
          </a:ln>
          <a:effectLst>
            <a:outerShdw blurRad="1778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754880" y="1417320"/>
            <a:ext cx="3913632" cy="27432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882896" y="149961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029200" y="149961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175504" y="149961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349240" y="1463040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28032" y="17465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047488" y="174650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828032" y="2002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047488" y="20025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alt='Logo'&gt;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28032" y="2258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047488" y="225856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828032" y="25146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047488" y="25146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href='/'&gt;Home&lt;/a&gt;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828032" y="27706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047488" y="277063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828032" y="30266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047488" y="302666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828032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047488" y="32826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828032" y="3538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047488" y="353872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 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&lt;h1&gt;Post Title&lt;/h1&gt; </a:t>
            </a: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&lt;/article&gt;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828032" y="37947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047488" y="379476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047488" y="405079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029200" y="3788891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846320" y="419709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5065776" y="416966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</a:rPr>
              <a:t>Screen readers jump between sections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846320" y="440740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4846320" y="461772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5065776" y="459028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</a:rPr>
              <a:t>Code is self-documenting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846320" y="48280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5065776" y="4800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</a:rPr>
              <a:t>Keyboard nav works automatically</a:t>
            </a:r>
            <a:endParaRPr lang="en-US" sz="900" dirty="0"/>
          </a:p>
        </p:txBody>
      </p:sp>
      <p:sp>
        <p:nvSpPr>
          <p:cNvPr id="91" name="Text 84"/>
          <p:cNvSpPr/>
          <p:nvPr/>
        </p:nvSpPr>
        <p:spPr>
          <a:xfrm>
            <a:off x="5084064" y="439444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</a:rPr>
              <a:t>Google boosts SEO ranking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912" y="137160"/>
            <a:ext cx="914400" cy="29260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B1512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81328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Tags — The Full Map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38912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modern webpage uses these tags. Know them all.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3566160" cy="409651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E7B7"/>
                </a:solidFill>
              </a:rPr>
              <a:t>Visual Page Structure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389888"/>
            <a:ext cx="3236976" cy="438912"/>
          </a:xfrm>
          <a:prstGeom prst="rect">
            <a:avLst/>
          </a:prstGeom>
          <a:solidFill>
            <a:srgbClr val="0D2018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1426464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883664"/>
            <a:ext cx="3236976" cy="329184"/>
          </a:xfrm>
          <a:prstGeom prst="rect">
            <a:avLst/>
          </a:prstGeom>
          <a:solidFill>
            <a:srgbClr val="0B1E16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3504" y="1920240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267712"/>
            <a:ext cx="2121408" cy="1719072"/>
          </a:xfrm>
          <a:prstGeom prst="rect">
            <a:avLst/>
          </a:prstGeom>
          <a:solidFill>
            <a:srgbClr val="1A15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2304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2395728"/>
            <a:ext cx="1883664" cy="804672"/>
          </a:xfrm>
          <a:prstGeom prst="rect">
            <a:avLst/>
          </a:prstGeom>
          <a:solidFill>
            <a:srgbClr val="1F19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" y="243230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255264"/>
            <a:ext cx="1883664" cy="621792"/>
          </a:xfrm>
          <a:prstGeom prst="rect">
            <a:avLst/>
          </a:prstGeom>
          <a:solidFill>
            <a:srgbClr val="222000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3232" y="32918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0" y="2267712"/>
            <a:ext cx="1042416" cy="1719072"/>
          </a:xfrm>
          <a:prstGeom prst="rect">
            <a:avLst/>
          </a:prstGeom>
          <a:solidFill>
            <a:srgbClr val="1A0D2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98064" y="2304288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41648"/>
            <a:ext cx="3236976" cy="420624"/>
          </a:xfrm>
          <a:prstGeom prst="rect">
            <a:avLst/>
          </a:prstGeom>
          <a:solidFill>
            <a:srgbClr val="081A1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078224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51376" y="987552"/>
            <a:ext cx="4645152" cy="3474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151376" y="987552"/>
            <a:ext cx="5029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279392" y="1042416"/>
            <a:ext cx="841248" cy="237744"/>
          </a:xfrm>
          <a:prstGeom prst="rect">
            <a:avLst/>
          </a:prstGeom>
          <a:solidFill>
            <a:srgbClr val="22C55E">
              <a:alpha val="14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279392" y="1042416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93792" y="1042416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Site or section header. Contains logo, site title, top nav. NOT the same as &lt;h1&gt;.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51376" y="1397203"/>
            <a:ext cx="4645152" cy="3474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151376" y="1397203"/>
            <a:ext cx="50292" cy="34747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279392" y="1452067"/>
            <a:ext cx="841248" cy="237744"/>
          </a:xfrm>
          <a:prstGeom prst="rect">
            <a:avLst/>
          </a:prstGeom>
          <a:solidFill>
            <a:srgbClr val="6EE7B7">
              <a:alpha val="14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279392" y="1452067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93792" y="1452067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Navigation links. Major navigation only — not every group of links qualifies.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51376" y="1806854"/>
            <a:ext cx="4645152" cy="3474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151376" y="1806854"/>
            <a:ext cx="5029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279392" y="1861718"/>
            <a:ext cx="841248" cy="237744"/>
          </a:xfrm>
          <a:prstGeom prst="rect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279392" y="1861718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93792" y="1861718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The ONE main content area per page. Skips header/nav/footer for screen readers.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51376" y="2216506"/>
            <a:ext cx="4645152" cy="3474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151376" y="2216506"/>
            <a:ext cx="5029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279392" y="2271370"/>
            <a:ext cx="841248" cy="237744"/>
          </a:xfrm>
          <a:prstGeom prst="rect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279392" y="2271370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93792" y="2271370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Self-contained content — blog post, news article, forum post. Stands alone if lifted out.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51376" y="2626157"/>
            <a:ext cx="4645152" cy="3474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151376" y="2626157"/>
            <a:ext cx="50292" cy="34747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279392" y="2681021"/>
            <a:ext cx="841248" cy="237744"/>
          </a:xfrm>
          <a:prstGeom prst="rect">
            <a:avLst/>
          </a:prstGeom>
          <a:solidFill>
            <a:srgbClr val="FCD34D">
              <a:alpha val="14000"/>
            </a:srgbClr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279392" y="2681021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93792" y="2681021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Groups related content with a heading. Thematic grouping inside main or article.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51376" y="3035808"/>
            <a:ext cx="4645152" cy="3474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151376" y="3035808"/>
            <a:ext cx="50292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279392" y="3090672"/>
            <a:ext cx="841248" cy="237744"/>
          </a:xfrm>
          <a:prstGeom prst="rect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279392" y="3090672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193792" y="309067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Sidebar content — related links, ads, author bio. Tangentially related to main content.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151376" y="3445459"/>
            <a:ext cx="4645152" cy="3474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151376" y="3445459"/>
            <a:ext cx="50292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279392" y="3500323"/>
            <a:ext cx="841248" cy="237744"/>
          </a:xfrm>
          <a:prstGeom prst="rect">
            <a:avLst/>
          </a:prstGeom>
          <a:solidFill>
            <a:srgbClr val="14B8A6">
              <a:alpha val="14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279392" y="3500323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193792" y="3500323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Bottom of page or section. Copyright, contact links, sitemap. Use inside article too.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151376" y="3855110"/>
            <a:ext cx="4645152" cy="3474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151376" y="3855110"/>
            <a:ext cx="50292" cy="34747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279392" y="3909974"/>
            <a:ext cx="841248" cy="237744"/>
          </a:xfrm>
          <a:prstGeom prst="rect">
            <a:avLst/>
          </a:prstGeom>
          <a:solidFill>
            <a:srgbClr val="6EE7B7">
              <a:alpha val="14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279392" y="390997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193792" y="390997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Images, diagrams, code that needs a caption. Pair with &lt;figcaption&gt;.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151376" y="4264762"/>
            <a:ext cx="4645152" cy="3474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151376" y="4264762"/>
            <a:ext cx="5029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279392" y="4319626"/>
            <a:ext cx="841248" cy="237744"/>
          </a:xfrm>
          <a:prstGeom prst="rect">
            <a:avLst/>
          </a:prstGeom>
          <a:solidFill>
            <a:srgbClr val="22C55E">
              <a:alpha val="14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279392" y="4319626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&lt;time&gt;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193792" y="4319626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Machine-readable dates/times. datetime="2025-01-30" — helps calendar apps and SEO.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151376" y="4674413"/>
            <a:ext cx="4645152" cy="34747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151376" y="4674413"/>
            <a:ext cx="50292" cy="3474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279392" y="4729277"/>
            <a:ext cx="841248" cy="237744"/>
          </a:xfrm>
          <a:prstGeom prst="rect">
            <a:avLst/>
          </a:prstGeom>
          <a:solidFill>
            <a:srgbClr val="6B7280">
              <a:alpha val="14000"/>
            </a:srgbClr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279392" y="4729277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&lt;address&gt;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193792" y="4729277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Contact info for the nearest &lt;article&gt; or &lt;body&gt;. Not for postal addresses generally.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912" y="137160"/>
            <a:ext cx="914400" cy="29260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B1512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81328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Hierarchy &amp; Document Outline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38912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readers navigate pages by headings. A broken heading order = broken accessibility.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114800" cy="1828800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1148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84048" y="987552"/>
            <a:ext cx="768096" cy="292608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987552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WRONG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07008" y="10058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</a:rPr>
              <a:t>Skipping heading levels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137160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88720" y="13716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A5A5"/>
                </a:solidFill>
              </a:rPr>
              <a:t>My Blog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6928" y="171907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88720" y="171907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  Post Title (SKIPPED h2!)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206654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&lt;h5&gt;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88720" y="206654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    Section (SKIPPED h4!)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241401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88720" y="241401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About (out of order!)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45152" y="987552"/>
            <a:ext cx="4114800" cy="1828800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45152" y="987552"/>
            <a:ext cx="41148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45152" y="987552"/>
            <a:ext cx="804672" cy="292608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45152" y="987552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CORRECT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04688" y="10058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EFAC"/>
                </a:solidFill>
              </a:rPr>
              <a:t>Sequential heading order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137160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49824" y="13716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6EFAC"/>
                </a:solidFill>
              </a:rPr>
              <a:t>My Blog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28032" y="171907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49824" y="171907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6EFAC"/>
                </a:solidFill>
              </a:rPr>
              <a:t>  Post Title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28032" y="206654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49824" y="206654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EFAC"/>
                </a:solidFill>
              </a:rPr>
              <a:t>    Section Heading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28032" y="241401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49824" y="241401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6EFAC"/>
                </a:solidFill>
              </a:rPr>
              <a:t>  About Page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84048" y="2944368"/>
            <a:ext cx="8375904" cy="2121408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66928" y="3017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</a:rPr>
              <a:t>The Golden Rules of Headings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" y="3474720"/>
            <a:ext cx="310896" cy="3108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66928" y="3474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512"/>
                </a:solidFill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9264" y="34381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DF4"/>
                </a:solidFill>
              </a:rPr>
              <a:t>ONE h1 per page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69264" y="3730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The h1 is the page title. Only one. It's the top of your outline.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3474720"/>
            <a:ext cx="310896" cy="310896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73168" y="3474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512"/>
                </a:solidFill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75504" y="34381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DF4"/>
                </a:solidFill>
              </a:rPr>
              <a:t>Never skip levels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175504" y="3730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h1 → h2 → h3 is fine. h1 → h3 breaks screen reader navigation.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512"/>
                </a:solidFill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9264" y="4224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DF4"/>
                </a:solidFill>
              </a:rPr>
              <a:t>Headings describe content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69264" y="45171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Don't use headings to make text big. Use CSS for size. Headings = structure.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73168" y="4261104"/>
            <a:ext cx="310896" cy="3108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773168" y="4261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512"/>
                </a:solidFill>
              </a:rPr>
              <a:t>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75504" y="4224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DF4"/>
                </a:solidFill>
              </a:rPr>
              <a:t>Include one in every section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175504" y="45171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Every &lt;section&gt; and &lt;article&gt; should have a heading to label it.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912" y="137160"/>
            <a:ext cx="91440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0FDF4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81328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Fundamentals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38912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 adults has a disability. Accessible sites reach more people — and rank higher.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2194560" cy="409651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219456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0972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84048" y="1847088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B4FE"/>
                </a:solidFill>
              </a:rPr>
              <a:t>adults globally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B4FE"/>
                </a:solidFill>
              </a:rPr>
              <a:t>have a disability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468880"/>
            <a:ext cx="1828800" cy="731520"/>
          </a:xfrm>
          <a:prstGeom prst="rect">
            <a:avLst/>
          </a:prstGeom>
          <a:solidFill>
            <a:srgbClr val="162520"/>
          </a:solidFill>
          <a:ln w="12700">
            <a:solidFill>
              <a:srgbClr val="1F3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248716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Visual  •  Motor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Auditory  •  Cognitive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 are all covered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 accessible HTML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33284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</a:rPr>
              <a:t>WCAG 2.1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60273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Web Content Accessibility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Guidelines — the standard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4114800"/>
            <a:ext cx="1645920" cy="365760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B4FE"/>
                </a:solidFill>
              </a:rPr>
              <a:t>Level A  AA  AAA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24912" y="987552"/>
            <a:ext cx="3127248" cy="1298448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24912" y="987552"/>
            <a:ext cx="3127248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852928" y="1078992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852928" y="1078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512"/>
                </a:solidFill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18688" y="107899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DF4"/>
                </a:solidFill>
              </a:rPr>
              <a:t>Alt Text on Every Image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52928" y="1444752"/>
            <a:ext cx="2871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Never use alt="image" or alt="photo". Describe what matters. Decorative images get alt="".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971032" y="987552"/>
            <a:ext cx="3127248" cy="1298448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971032" y="987552"/>
            <a:ext cx="3127248" cy="502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99048" y="1078992"/>
            <a:ext cx="292608" cy="292608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099048" y="1078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512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64808" y="107899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DF4"/>
                </a:solidFill>
              </a:rPr>
              <a:t>Label Every Form Input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9048" y="1444752"/>
            <a:ext cx="2871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placeholder is NOT a label — it vanishes when typing. Always use a real &lt;label&gt;.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724912" y="2377440"/>
            <a:ext cx="3127248" cy="1298448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724912" y="2377440"/>
            <a:ext cx="31272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852928" y="24688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852928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512"/>
                </a:solidFill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18688" y="246888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DF4"/>
                </a:solidFill>
              </a:rPr>
              <a:t>Keyboard Navigation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52928" y="2834640"/>
            <a:ext cx="2871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Never remove focus outlines with outline:none unless you replace them. Keyboard users go blind.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971032" y="2377440"/>
            <a:ext cx="3127248" cy="1298448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971032" y="2377440"/>
            <a:ext cx="3127248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099048" y="2468880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099048" y="2462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512"/>
                </a:solidFill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64808" y="246888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DF4"/>
                </a:solidFill>
              </a:rPr>
              <a:t>Color Contrast Ratio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99048" y="2834640"/>
            <a:ext cx="2871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Use WebAIM Contrast Checker. Gray text on white often fails. Dark text on light bg = safer.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2724912" y="3767328"/>
            <a:ext cx="3127248" cy="1298448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724912" y="3767328"/>
            <a:ext cx="3127248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852928" y="385876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852928" y="3858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512"/>
                </a:solidFill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18688" y="38587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DF4"/>
                </a:solidFill>
              </a:rPr>
              <a:t>Meaningful Link Text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852928" y="4224528"/>
            <a:ext cx="2871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"Click here" means nothing out of context. Screen readers list all links — make each descriptive.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971032" y="3767328"/>
            <a:ext cx="3127248" cy="1298448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971032" y="3767328"/>
            <a:ext cx="31272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099048" y="385876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099048" y="3858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512"/>
                </a:solidFill>
              </a:rPr>
              <a:t>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64808" y="38587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DF4"/>
                </a:solidFill>
              </a:rPr>
              <a:t>Language Attribute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99048" y="4224528"/>
            <a:ext cx="2871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lang= on &lt;html&gt; tells screen readers which language to use for pronunciation. Always set it.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912" y="1371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B1512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81328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 Roles &amp; Attributes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38912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 = Accessible Rich Internet Applications. Adds meaning when HTML alone isn't enough.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8375904" cy="493776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969264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The First Rule of ARIA: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969264"/>
            <a:ext cx="5943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</a:rPr>
              <a:t>Don't use ARIA if you can use native HTML instead. &lt;button&gt; beats role="button". Semantic HTML first — ARIA only when necessary.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591056"/>
            <a:ext cx="4315968" cy="10789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591056"/>
            <a:ext cx="4315968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12064" y="1682496"/>
            <a:ext cx="1188720" cy="256032"/>
          </a:xfrm>
          <a:prstGeom prst="rect">
            <a:avLst/>
          </a:prstGeom>
          <a:solidFill>
            <a:srgbClr val="22C55E">
              <a:alpha val="14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" y="16824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" y="20116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Gives an element a text name when visible text isn't enough. The × button has no readable label without it.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1682496"/>
            <a:ext cx="2011680" cy="914400"/>
          </a:xfrm>
          <a:prstGeom prst="rect">
            <a:avLst/>
          </a:prstGeom>
          <a:solidFill>
            <a:srgbClr val="060E0A"/>
          </a:solidFill>
          <a:ln w="12700">
            <a:solidFill>
              <a:srgbClr val="1F3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633472" y="1719072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aria-label="Close dialog"&gt;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28032" y="1591056"/>
            <a:ext cx="4315968" cy="10789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28032" y="1591056"/>
            <a:ext cx="4315968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956048" y="1682496"/>
            <a:ext cx="1188720" cy="256032"/>
          </a:xfrm>
          <a:prstGeom prst="rect">
            <a:avLst/>
          </a:prstGeom>
          <a:solidFill>
            <a:srgbClr val="EF4444">
              <a:alpha val="14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56048" y="16824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aria-hidden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56048" y="20116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Hides decorative elements from screen readers. Use for icons that duplicate visible text.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04304" y="1682496"/>
            <a:ext cx="2011680" cy="914400"/>
          </a:xfrm>
          <a:prstGeom prst="rect">
            <a:avLst/>
          </a:prstGeom>
          <a:solidFill>
            <a:srgbClr val="060E0A"/>
          </a:solidFill>
          <a:ln w="12700">
            <a:solidFill>
              <a:srgbClr val="1F3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077456" y="1719072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Hide from screen readers --&gt;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src="deco.svg"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aria-hidden="true" alt=""&gt;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743200"/>
            <a:ext cx="4315968" cy="10789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4048" y="2743200"/>
            <a:ext cx="4315968" cy="502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12064" y="2834640"/>
            <a:ext cx="1188720" cy="256032"/>
          </a:xfrm>
          <a:prstGeom prst="rect">
            <a:avLst/>
          </a:prstGeom>
          <a:solidFill>
            <a:srgbClr val="6EE7B7">
              <a:alpha val="14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2064" y="28346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aria-expanded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" y="3163824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Tells screen readers whether a toggle (accordion, dropdown) is open or closed.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0" y="2834640"/>
            <a:ext cx="2011680" cy="914400"/>
          </a:xfrm>
          <a:prstGeom prst="rect">
            <a:avLst/>
          </a:prstGeom>
          <a:solidFill>
            <a:srgbClr val="060E0A"/>
          </a:solidFill>
          <a:ln w="12700">
            <a:solidFill>
              <a:srgbClr val="1F3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633472" y="2871216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aria-expanded="false"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aria-controls="menu"&gt;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Menu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28032" y="2743200"/>
            <a:ext cx="4315968" cy="10789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28032" y="2743200"/>
            <a:ext cx="4315968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56048" y="2834640"/>
            <a:ext cx="1188720" cy="256032"/>
          </a:xfrm>
          <a:prstGeom prst="rect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56048" y="28346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aria-live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56048" y="3163824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Announces dynamic content changes to screen readers. "polite" waits for idle; "assertive" interrupts.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004304" y="2834640"/>
            <a:ext cx="2011680" cy="914400"/>
          </a:xfrm>
          <a:prstGeom prst="rect">
            <a:avLst/>
          </a:prstGeom>
          <a:solidFill>
            <a:srgbClr val="060E0A"/>
          </a:solidFill>
          <a:ln w="12700">
            <a:solidFill>
              <a:srgbClr val="1F3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077456" y="2871216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aria-live="polite"&gt;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Dynamic content --&gt;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Cart: 3 items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3895344"/>
            <a:ext cx="4315968" cy="10789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84048" y="3895344"/>
            <a:ext cx="431596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12064" y="3986784"/>
            <a:ext cx="1188720" cy="256032"/>
          </a:xfrm>
          <a:prstGeom prst="rect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12064" y="39867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" y="43159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Overrides element semantics. Only use when a native element can't achieve the effect.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60320" y="3986784"/>
            <a:ext cx="2011680" cy="914400"/>
          </a:xfrm>
          <a:prstGeom prst="rect">
            <a:avLst/>
          </a:prstGeom>
          <a:solidFill>
            <a:srgbClr val="060E0A"/>
          </a:solidFill>
          <a:ln w="12700">
            <a:solidFill>
              <a:srgbClr val="1F3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633472" y="40233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role="navigation"&gt;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role="search"&gt;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role="dialog"&gt;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role="alert"&gt;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28032" y="3895344"/>
            <a:ext cx="4315968" cy="10789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828032" y="3895344"/>
            <a:ext cx="4315968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956048" y="3986784"/>
            <a:ext cx="1188720" cy="256032"/>
          </a:xfrm>
          <a:prstGeom prst="rect">
            <a:avLst/>
          </a:prstGeom>
          <a:solidFill>
            <a:srgbClr val="14B8A6">
              <a:alpha val="14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56048" y="39867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aria-describedby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56048" y="43159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F7D0"/>
                </a:solidFill>
              </a:rPr>
              <a:t>Links extra description to a form field. Reads out after the label and input type.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004304" y="3986784"/>
            <a:ext cx="2011680" cy="914400"/>
          </a:xfrm>
          <a:prstGeom prst="rect">
            <a:avLst/>
          </a:prstGeom>
          <a:solidFill>
            <a:srgbClr val="060E0A"/>
          </a:solidFill>
          <a:ln w="12700">
            <a:solidFill>
              <a:srgbClr val="1F3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077456" y="40233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aria-describedby="hint"&gt;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id="hint"&gt;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Must be 8+ chars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912" y="137160"/>
            <a:ext cx="128016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B1512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Semantic Blog Page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38912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a div-soup blog using semantic HTML + full accessibility — live.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315968" cy="4041648"/>
          </a:xfrm>
          <a:prstGeom prst="rect">
            <a:avLst/>
          </a:prstGeom>
          <a:solidFill>
            <a:srgbClr val="060E0A"/>
          </a:solidFill>
          <a:ln w="12700">
            <a:solidFill>
              <a:srgbClr val="1A2E24"/>
            </a:solidFill>
            <a:prstDash val="solid"/>
          </a:ln>
          <a:effectLst>
            <a:outerShdw blurRad="1778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315968" cy="27432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8368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04672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78408" y="1014984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98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544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8105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8105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0665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665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3225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3225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&lt;title&gt;My Blog&lt;/title&gt;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5786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786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8346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0906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906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467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346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&lt;img src="logo.svg"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6027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6027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alt="My Blog logo"&gt;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8587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8587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 aria-label='Main'&gt;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1148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&lt;ul&gt;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3708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3708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&lt;li&gt;&lt;a href="/"&gt;Home&lt;/a&gt;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6268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6268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&lt;li&gt;&lt;a href="/about"&gt;  About&lt;/a&gt;&lt;/li&gt; </a:t>
            </a: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&lt;/ul&gt;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" y="4882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" y="5138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28032" y="969264"/>
            <a:ext cx="3931920" cy="4041648"/>
          </a:xfrm>
          <a:prstGeom prst="rect">
            <a:avLst/>
          </a:prstGeom>
          <a:solidFill>
            <a:srgbClr val="060E0A"/>
          </a:solidFill>
          <a:ln w="12700">
            <a:solidFill>
              <a:srgbClr val="1A2E24"/>
            </a:solidFill>
            <a:prstDash val="solid"/>
          </a:ln>
          <a:effectLst>
            <a:outerShdw blurRad="1778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828032" y="969264"/>
            <a:ext cx="3931920" cy="27432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956048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102352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248656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422392" y="1014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01184" y="12984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20640" y="12984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&lt;/nav&gt;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01184" y="1554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155448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&lt;/header&gt;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01184" y="18105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181051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01184" y="20665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206654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&lt;article&gt;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01184" y="23225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23225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&lt;header&gt;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01184" y="25786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257860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&lt;h1&gt;HTML Tips&lt;/h1&gt;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01184" y="28346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20640" y="283464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&lt;time datetime='2025-01-30'&gt;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901184" y="30906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309067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Jan 30, 2025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01184" y="33467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334670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&lt;/time&gt;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901184" y="36027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20640" y="36027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&lt;/header&gt;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901184" y="38587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20640" y="385876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&lt;p&gt;Content here...&lt;/p&gt;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901184" y="41148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20640" y="411480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901184" y="43708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43708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901184" y="46268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 </a:t>
            </a:r>
            <a:r>
              <a:rPr lang="en-US" sz="10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&lt;p&gt;&amp;copy; 2025 My Blog&lt;/p&gt; </a:t>
            </a: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&lt;/footer&gt;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120640" y="48828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120640" y="51389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912" y="137160"/>
            <a:ext cx="128016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B1512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Blog Page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38912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more div soup — build a structured, accessible, SEO-ready blog page.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2029968" cy="841248"/>
          </a:xfrm>
          <a:prstGeom prst="rect">
            <a:avLst/>
          </a:prstGeom>
          <a:solidFill>
            <a:srgbClr val="162520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20299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969264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84048" y="142646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Semantic tags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896112"/>
            <a:ext cx="2029968" cy="841248"/>
          </a:xfrm>
          <a:prstGeom prst="rect">
            <a:avLst/>
          </a:prstGeom>
          <a:solidFill>
            <a:srgbClr val="162520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96896" y="896112"/>
            <a:ext cx="20299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969264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96896" y="142646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ARIA attrs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896112"/>
            <a:ext cx="2029968" cy="841248"/>
          </a:xfrm>
          <a:prstGeom prst="rect">
            <a:avLst/>
          </a:prstGeom>
          <a:solidFill>
            <a:srgbClr val="162520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9744" y="896112"/>
            <a:ext cx="20299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9744" y="969264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09744" y="142646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Keyboard nav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2592" y="896112"/>
            <a:ext cx="2029968" cy="841248"/>
          </a:xfrm>
          <a:prstGeom prst="rect">
            <a:avLst/>
          </a:prstGeom>
          <a:solidFill>
            <a:srgbClr val="162520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22592" y="896112"/>
            <a:ext cx="20299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22592" y="969264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022592" y="142646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Divs needed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865376"/>
            <a:ext cx="5047488" cy="3200400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1865376"/>
            <a:ext cx="5047488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19385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Build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404872"/>
            <a:ext cx="201168" cy="201168"/>
          </a:xfrm>
          <a:prstGeom prst="rect">
            <a:avLst/>
          </a:prstGeom>
          <a:solidFill>
            <a:srgbClr val="0B151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" y="23774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01  Use &lt;header&gt;, &lt;nav&gt;, &lt;main&gt;, &lt;footer&gt; — no layout divs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2688336"/>
            <a:ext cx="201168" cy="201168"/>
          </a:xfrm>
          <a:prstGeom prst="rect">
            <a:avLst/>
          </a:prstGeom>
          <a:solidFill>
            <a:srgbClr val="0B151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2660904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02  Add proper &lt;h1&gt; as page title (only one!)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2971800"/>
            <a:ext cx="201168" cy="201168"/>
          </a:xfrm>
          <a:prstGeom prst="rect">
            <a:avLst/>
          </a:prstGeom>
          <a:solidFill>
            <a:srgbClr val="0B151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7824" y="2944368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03  &lt;article&gt; for each blog post with its own &lt;header&gt;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3255264"/>
            <a:ext cx="201168" cy="201168"/>
          </a:xfrm>
          <a:prstGeom prst="rect">
            <a:avLst/>
          </a:prstGeom>
          <a:solidFill>
            <a:srgbClr val="0B151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" y="322783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04  &lt;time datetime='YYYY-MM-DD'&gt; on every post date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3538728"/>
            <a:ext cx="201168" cy="201168"/>
          </a:xfrm>
          <a:prstGeom prst="rect">
            <a:avLst/>
          </a:prstGeom>
          <a:solidFill>
            <a:srgbClr val="0B151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7824" y="3511296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05  Nav with aria-label='Main navigation'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3822192"/>
            <a:ext cx="201168" cy="201168"/>
          </a:xfrm>
          <a:prstGeom prst="rect">
            <a:avLst/>
          </a:prstGeom>
          <a:solidFill>
            <a:srgbClr val="0B151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7824" y="37947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06  Every image gets a descriptive alt attribute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4105656"/>
            <a:ext cx="201168" cy="201168"/>
          </a:xfrm>
          <a:prstGeom prst="rect">
            <a:avLst/>
          </a:prstGeom>
          <a:solidFill>
            <a:srgbClr val="0B151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7824" y="4078224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07  All links have meaningful text (no 'click here')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4389120"/>
            <a:ext cx="201168" cy="201168"/>
          </a:xfrm>
          <a:prstGeom prst="rect">
            <a:avLst/>
          </a:prstGeom>
          <a:solidFill>
            <a:srgbClr val="0B151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7824" y="4361688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08  Add &lt;footer&gt; with copyright and contact link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4672584"/>
            <a:ext cx="201168" cy="201168"/>
          </a:xfrm>
          <a:prstGeom prst="rect">
            <a:avLst/>
          </a:prstGeom>
          <a:solidFill>
            <a:srgbClr val="0B151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77824" y="464515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09  Test keyboard navigation: Tab through all links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14416" y="1865376"/>
            <a:ext cx="3236976" cy="3200400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797296" y="1938528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Preview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05856" y="2267712"/>
            <a:ext cx="3054096" cy="402336"/>
          </a:xfrm>
          <a:prstGeom prst="rect">
            <a:avLst/>
          </a:prstGeom>
          <a:solidFill>
            <a:srgbClr val="0B151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60720" y="22951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05856" y="2706624"/>
            <a:ext cx="3054096" cy="292608"/>
          </a:xfrm>
          <a:prstGeom prst="rect">
            <a:avLst/>
          </a:prstGeom>
          <a:solidFill>
            <a:srgbClr val="0B1512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760720" y="273405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05856" y="3035808"/>
            <a:ext cx="3054096" cy="91440"/>
          </a:xfrm>
          <a:prstGeom prst="rect">
            <a:avLst/>
          </a:prstGeom>
          <a:solidFill>
            <a:srgbClr val="0B151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760720" y="30632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705856" y="3127248"/>
            <a:ext cx="3054096" cy="1024128"/>
          </a:xfrm>
          <a:prstGeom prst="rect">
            <a:avLst/>
          </a:prstGeom>
          <a:solidFill>
            <a:srgbClr val="0B151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760720" y="31546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05856" y="4187952"/>
            <a:ext cx="3054096" cy="329184"/>
          </a:xfrm>
          <a:prstGeom prst="rect">
            <a:avLst/>
          </a:prstGeom>
          <a:solidFill>
            <a:srgbClr val="0B1512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760720" y="42153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760720" y="323697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&lt;h1&gt;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08192" y="3248733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Blog post title here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760720" y="345643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&lt;time&gt; Jan 30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760720" y="363931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Post content paragraph...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760720" y="424281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© 2025 My Blog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912" y="137160"/>
            <a:ext cx="137160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137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0FDF4"/>
                </a:solidFill>
              </a:rPr>
              <a:t>A11Y 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01952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Audit Checklist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38912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this checklist on every page you ship. It takes 5 minutes and protects millions of users.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315968" cy="1956816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315968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" y="1078992"/>
            <a:ext cx="4041648" cy="292608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2064" y="1078992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HTML 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508760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9536" y="148132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lang= set on &lt;html&gt;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1792224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59536" y="17647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Only one &lt;h1&gt;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2075688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59536" y="20482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Heading levels in order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359152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59536" y="23317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semantic layout tags used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2642616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59536" y="26151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No empty heading tags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28032" y="987552"/>
            <a:ext cx="4315968" cy="1956816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28032" y="987552"/>
            <a:ext cx="4315968" cy="502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956048" y="1078992"/>
            <a:ext cx="4041648" cy="292608"/>
          </a:xfrm>
          <a:prstGeom prst="rect">
            <a:avLst/>
          </a:prstGeom>
          <a:solidFill>
            <a:srgbClr val="6EE7B7">
              <a:alpha val="12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56048" y="1078992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</a:rPr>
              <a:t>Images &amp; Media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10912" y="1508760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03520" y="148132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Every img has alt text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10912" y="1792224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0" y="17647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Decorative imgs: alt=""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10912" y="2075688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303520" y="20482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Video has captions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10912" y="2359152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03520" y="23317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Audio has transcript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10912" y="2642616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303520" y="26151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SVG has title or aria-label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" y="3090672"/>
            <a:ext cx="4315968" cy="1956816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84048" y="3090672"/>
            <a:ext cx="431596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12064" y="3182112"/>
            <a:ext cx="4041648" cy="29260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12064" y="3182112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Forms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3611880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59536" y="35844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Every input has &lt;label&gt;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3895344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59536" y="38679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Required fields marked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4178808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59536" y="41513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Error messages clear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6928" y="4462272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59536" y="44348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Fieldsets for grouped inputs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" y="4745736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59536" y="47183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Submit button not disabled by default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28032" y="3090672"/>
            <a:ext cx="4315968" cy="1956816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828032" y="3090672"/>
            <a:ext cx="4315968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56048" y="3182112"/>
            <a:ext cx="4041648" cy="292608"/>
          </a:xfrm>
          <a:prstGeom prst="rect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56048" y="3182112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Keyboard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10912" y="3611880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303520" y="35844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All links keyboard reachable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10912" y="3895344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303520" y="38679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Focus outline visible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10912" y="4178808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303520" y="41513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No keyboard traps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10912" y="4462272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303520" y="44348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Tab order logical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10912" y="4745736"/>
            <a:ext cx="201168" cy="201168"/>
          </a:xfrm>
          <a:prstGeom prst="rect">
            <a:avLst/>
          </a:prstGeom>
          <a:solidFill>
            <a:srgbClr val="16252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303520" y="47183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7D0"/>
                </a:solidFill>
              </a:rPr>
              <a:t>Skip-to-content link present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in these 5 before Day 4.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5760720" cy="6217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50292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438912" cy="310896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18872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4992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F7D0"/>
                </a:solidFill>
              </a:rPr>
              <a:t>Semantic HTML uses tags that describe content — &lt;header&gt;, &lt;nav&gt;, &lt;main&gt;, &lt;article&gt;, &lt;footer&gt;. Zero divs needed for layout.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73936"/>
            <a:ext cx="5760720" cy="6217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773936"/>
            <a:ext cx="50292" cy="6217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" y="1920240"/>
            <a:ext cx="438912" cy="310896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92024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" y="1865376"/>
            <a:ext cx="4992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F7D0"/>
                </a:solidFill>
              </a:rPr>
              <a:t>ONE &lt;h1&gt; per page. Heading levels must be sequential (h1→h2→h3). Never skip a level or screen reader nav breaks.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05456"/>
            <a:ext cx="5760720" cy="6217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505456"/>
            <a:ext cx="50292" cy="6217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" y="2651760"/>
            <a:ext cx="438912" cy="310896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265176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2596896"/>
            <a:ext cx="4992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F7D0"/>
                </a:solidFill>
              </a:rPr>
              <a:t>Every image needs alt text. Every form input needs a &lt;label for='id'&gt;. Placeholders are NOT labels.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236976"/>
            <a:ext cx="5760720" cy="6217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" y="3236976"/>
            <a:ext cx="5029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3383280"/>
            <a:ext cx="438912" cy="310896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3832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" y="3328416"/>
            <a:ext cx="4992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F7D0"/>
                </a:solidFill>
              </a:rPr>
              <a:t>ARIA adds meaning when HTML can't — aria-label, aria-hidden, aria-expanded, aria-live. But: use native HTML first.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3968496"/>
            <a:ext cx="5760720" cy="62179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968496"/>
            <a:ext cx="5029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" y="4114800"/>
            <a:ext cx="438912" cy="310896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11480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" y="4059936"/>
            <a:ext cx="4992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F7D0"/>
                </a:solidFill>
              </a:rPr>
              <a:t>Test keyboard nav with just Tab. Install axe DevTools extension. Check contrast with WebAIM Contrast Checker.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042416"/>
            <a:ext cx="2542032" cy="3913632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27648" y="1042416"/>
            <a:ext cx="2542032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10528" y="1115568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44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</a:rPr>
              <a:t>Do before Day 4: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1956816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105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512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1228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F7D0"/>
                </a:solidFill>
              </a:rPr>
              <a:t>Go to any website — count how many semantic tags you can find in DevTools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450592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0528" y="24505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512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241401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F7D0"/>
                </a:solidFill>
              </a:rPr>
              <a:t>Check your Day 1 page: replace all divs with semantic tags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10528" y="2944368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10528" y="2944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512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9077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F7D0"/>
                </a:solidFill>
              </a:rPr>
              <a:t>Add alt text to every image on your page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438144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0528" y="34381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512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12280" y="340156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F7D0"/>
                </a:solidFill>
              </a:rPr>
              <a:t>Install axe DevTools and run it on your page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3931920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10528" y="3931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512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8953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F7D0"/>
                </a:solidFill>
              </a:rPr>
              <a:t>Check color contrast with WebAIM Contrast Checker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425696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0528" y="44256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512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43891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F7D0"/>
                </a:solidFill>
              </a:rPr>
              <a:t>Share your semantic page in the comments!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2C55E">
              <a:alpha val="6000"/>
            </a:srgbClr>
          </a:solidFill>
          <a:ln w="12700">
            <a:solidFill>
              <a:srgbClr val="22C55E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6EE7B7">
              <a:alpha val="5000"/>
            </a:srgbClr>
          </a:solidFill>
          <a:ln w="12700">
            <a:solidFill>
              <a:srgbClr val="6EE7B7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0" y="292608"/>
            <a:ext cx="3657600" cy="438912"/>
          </a:xfrm>
          <a:prstGeom prst="rect">
            <a:avLst/>
          </a:prstGeom>
          <a:solidFill>
            <a:srgbClr val="22C55E">
              <a:alpha val="14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0" y="2926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86EFAC"/>
                </a:solidFill>
              </a:rPr>
              <a:t>DAY 3 COMPLETE!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8961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BF7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HTML Now Has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1408176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Meaning!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BF7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 + accessibility = code that works for every human on Earth.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670048"/>
            <a:ext cx="6400800" cy="128016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2670048"/>
            <a:ext cx="640080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920240" y="263347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Day 3 / 30  •  10%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255264"/>
            <a:ext cx="7315200" cy="1371600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255264"/>
            <a:ext cx="7315200" cy="502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E7B7"/>
                </a:solidFill>
              </a:rPr>
              <a:t>Up next — Day 4: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63931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</a:rPr>
              <a:t>HTML Media &amp; Multi-Media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97280" y="4700016"/>
            <a:ext cx="2212848" cy="384048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97280" y="4700016"/>
            <a:ext cx="2212848" cy="38405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97280" y="4736592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6EFAC"/>
                </a:solidFill>
              </a:rPr>
              <a:t>Subscribe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91947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&amp; hit the bell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93008" y="4700016"/>
            <a:ext cx="2212848" cy="384048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93008" y="4700016"/>
            <a:ext cx="2212848" cy="38405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93008" y="4736592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6EFAC"/>
                </a:solidFill>
              </a:rPr>
              <a:t>Comment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93008" y="491947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'Day 3 Done!'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88736" y="4700016"/>
            <a:ext cx="2212848" cy="384048"/>
          </a:xfrm>
          <a:prstGeom prst="rect">
            <a:avLst/>
          </a:prstGeom>
          <a:solidFill>
            <a:srgbClr val="101D18"/>
          </a:solidFill>
          <a:ln w="12700">
            <a:solidFill>
              <a:srgbClr val="1F332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888736" y="4700016"/>
            <a:ext cx="2212848" cy="38405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88736" y="4736592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6EFAC"/>
                </a:solidFill>
              </a:rPr>
              <a:t>Share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88736" y="491947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with a friend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2060</Words>
  <Application>Microsoft Office PowerPoint</Application>
  <PresentationFormat>On-screen Show (16:9)</PresentationFormat>
  <Paragraphs>397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– Semantic HTML &amp; Accessibility</dc:title>
  <dc:subject>PptxGenJS Presentation</dc:subject>
  <dc:creator>PptxGenJS</dc:creator>
  <cp:lastModifiedBy>Ajay Solanki</cp:lastModifiedBy>
  <cp:revision>6</cp:revision>
  <dcterms:created xsi:type="dcterms:W3CDTF">2026-04-29T07:37:59Z</dcterms:created>
  <dcterms:modified xsi:type="dcterms:W3CDTF">2026-05-03T04:41:29Z</dcterms:modified>
</cp:coreProperties>
</file>